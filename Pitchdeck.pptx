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07" d="100"/>
          <a:sy n="107" d="100"/>
        </p:scale>
        <p:origin x="168" y="3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7D1E28-6E7B-0D48-A4DF-C92B8C996962}" type="datetimeFigureOut">
              <a:rPr lang="en-US" smtClean="0"/>
              <a:t>5/26/26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6A1842-5BD9-A74A-B8F4-2B51E5FBD40E}" type="slidenum">
              <a:rPr lang="en-US" smtClean="0"/>
              <a:t>‹#›</a:t>
            </a:fld>
            <a:endParaRPr lang="en-US"/>
          </a:p>
        </p:txBody>
      </p:sp>
    </p:spTree>
    <p:extLst>
      <p:ext uri="{BB962C8B-B14F-4D97-AF65-F5344CB8AC3E}">
        <p14:creationId xmlns:p14="http://schemas.microsoft.com/office/powerpoint/2010/main" val="2647122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6A1842-5BD9-A74A-B8F4-2B51E5FBD40E}" type="slidenum">
              <a:rPr lang="en-US" smtClean="0"/>
              <a:t>3</a:t>
            </a:fld>
            <a:endParaRPr lang="en-US"/>
          </a:p>
        </p:txBody>
      </p:sp>
    </p:spTree>
    <p:extLst>
      <p:ext uri="{BB962C8B-B14F-4D97-AF65-F5344CB8AC3E}">
        <p14:creationId xmlns:p14="http://schemas.microsoft.com/office/powerpoint/2010/main" val="83899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6A1842-5BD9-A74A-B8F4-2B51E5FBD40E}" type="slidenum">
              <a:rPr lang="en-US" smtClean="0"/>
              <a:t>18</a:t>
            </a:fld>
            <a:endParaRPr lang="en-US"/>
          </a:p>
        </p:txBody>
      </p:sp>
    </p:spTree>
    <p:extLst>
      <p:ext uri="{BB962C8B-B14F-4D97-AF65-F5344CB8AC3E}">
        <p14:creationId xmlns:p14="http://schemas.microsoft.com/office/powerpoint/2010/main" val="758255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E55F6560-04A4-2709-D3AC-AC28A7376DE6}"/>
              </a:ext>
            </a:extLst>
          </p:cNvPr>
          <p:cNvSpPr txBox="1"/>
          <p:nvPr userDrawn="1"/>
        </p:nvSpPr>
        <p:spPr>
          <a:xfrm>
            <a:off x="457200" y="6492240"/>
            <a:ext cx="6400800" cy="123111"/>
          </a:xfrm>
          <a:prstGeom prst="rect">
            <a:avLst/>
          </a:prstGeom>
          <a:noFill/>
        </p:spPr>
        <p:txBody>
          <a:bodyPr wrap="square" lIns="0" tIns="0" rIns="0" bIns="0" anchor="t">
            <a:spAutoFit/>
          </a:bodyPr>
          <a:lstStyle/>
          <a:p>
            <a:pPr algn="l"/>
            <a:r>
              <a:rPr sz="800" b="1" i="0" spc="150" dirty="0">
                <a:solidFill>
                  <a:srgbClr val="6A6A6A"/>
                </a:solidFill>
                <a:latin typeface="Archivo"/>
              </a:rPr>
              <a:t>TURNPAGE  DIGITAL  MARKETS</a:t>
            </a:r>
            <a:r>
              <a:rPr lang="en-US" sz="800" b="1" i="0" spc="150" dirty="0">
                <a:solidFill>
                  <a:srgbClr val="6A6A6A"/>
                </a:solidFill>
                <a:latin typeface="Archivo"/>
              </a:rPr>
              <a:t>  LLC</a:t>
            </a:r>
            <a:endParaRPr sz="800" b="1" i="0" spc="150" dirty="0">
              <a:solidFill>
                <a:srgbClr val="6A6A6A"/>
              </a:solidFill>
              <a:latin typeface="Archivo"/>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1828800"/>
            <a:ext cx="7315200" cy="169277"/>
          </a:xfrm>
          <a:prstGeom prst="rect">
            <a:avLst/>
          </a:prstGeom>
          <a:noFill/>
        </p:spPr>
        <p:txBody>
          <a:bodyPr wrap="square" lIns="0" tIns="0" rIns="0" bIns="0" anchor="t">
            <a:spAutoFit/>
          </a:bodyPr>
          <a:lstStyle/>
          <a:p>
            <a:pPr algn="l"/>
            <a:r>
              <a:rPr lang="en-US" sz="1100" b="1" i="0" spc="240" dirty="0">
                <a:solidFill>
                  <a:srgbClr val="C0C0C0"/>
                </a:solidFill>
                <a:latin typeface="Archivo"/>
              </a:rPr>
              <a:t>COPYRIGHT CLAIMS SPV — </a:t>
            </a:r>
            <a:r>
              <a:rPr sz="1100" b="1" i="0" spc="240" dirty="0">
                <a:solidFill>
                  <a:srgbClr val="C0C0C0"/>
                </a:solidFill>
                <a:latin typeface="Archivo"/>
              </a:rPr>
              <a:t>CONFIDENTIAL INVESTOR MEMORANDUM</a:t>
            </a:r>
          </a:p>
        </p:txBody>
      </p:sp>
      <p:sp>
        <p:nvSpPr>
          <p:cNvPr id="5" name="TextBox 4"/>
          <p:cNvSpPr txBox="1"/>
          <p:nvPr/>
        </p:nvSpPr>
        <p:spPr>
          <a:xfrm>
            <a:off x="548640" y="2286000"/>
            <a:ext cx="11155680" cy="1661993"/>
          </a:xfrm>
          <a:prstGeom prst="rect">
            <a:avLst/>
          </a:prstGeom>
          <a:noFill/>
        </p:spPr>
        <p:txBody>
          <a:bodyPr wrap="square" lIns="0" tIns="0" rIns="0" bIns="0" anchor="t">
            <a:spAutoFit/>
          </a:bodyPr>
          <a:lstStyle/>
          <a:p>
            <a:pPr algn="l"/>
            <a:r>
              <a:rPr lang="en-US" sz="5400" b="1" i="0" spc="-40" dirty="0">
                <a:solidFill>
                  <a:srgbClr val="FFFFFF"/>
                </a:solidFill>
                <a:latin typeface="Archivo"/>
              </a:rPr>
              <a:t>Cash out copyright claimholders</a:t>
            </a:r>
          </a:p>
          <a:p>
            <a:pPr algn="l"/>
            <a:r>
              <a:rPr lang="en-US" sz="5400" b="1" i="1" spc="-40" dirty="0">
                <a:solidFill>
                  <a:srgbClr val="D4FF00"/>
                </a:solidFill>
                <a:latin typeface="Archivo"/>
              </a:rPr>
              <a:t>Capture the creator community</a:t>
            </a:r>
            <a:endParaRPr sz="5400" b="1" i="1" spc="-40" dirty="0">
              <a:solidFill>
                <a:srgbClr val="D4FF00"/>
              </a:solidFill>
              <a:latin typeface="Archivo"/>
            </a:endParaRPr>
          </a:p>
        </p:txBody>
      </p:sp>
      <p:sp>
        <p:nvSpPr>
          <p:cNvPr id="6" name="TextBox 5"/>
          <p:cNvSpPr txBox="1"/>
          <p:nvPr/>
        </p:nvSpPr>
        <p:spPr>
          <a:xfrm>
            <a:off x="548640" y="4754880"/>
            <a:ext cx="10058400" cy="553998"/>
          </a:xfrm>
          <a:prstGeom prst="rect">
            <a:avLst/>
          </a:prstGeom>
          <a:noFill/>
        </p:spPr>
        <p:txBody>
          <a:bodyPr wrap="square" lIns="0" tIns="0" rIns="0" bIns="0" anchor="t">
            <a:spAutoFit/>
          </a:bodyPr>
          <a:lstStyle/>
          <a:p>
            <a:pPr algn="l"/>
            <a:r>
              <a:rPr lang="en-US" sz="1800" b="0" i="0" spc="0" dirty="0">
                <a:solidFill>
                  <a:srgbClr val="C0C0C0"/>
                </a:solidFill>
                <a:latin typeface="Archivo"/>
              </a:rPr>
              <a:t>Raising </a:t>
            </a:r>
            <a:r>
              <a:rPr lang="en-US" dirty="0">
                <a:solidFill>
                  <a:srgbClr val="C0C0C0"/>
                </a:solidFill>
                <a:latin typeface="Archivo"/>
              </a:rPr>
              <a:t>$5</a:t>
            </a:r>
            <a:r>
              <a:rPr sz="1800" b="0" i="0" spc="0" dirty="0">
                <a:solidFill>
                  <a:srgbClr val="C0C0C0"/>
                </a:solidFill>
                <a:latin typeface="Archivo"/>
              </a:rPr>
              <a:t>0M</a:t>
            </a:r>
            <a:r>
              <a:rPr lang="en-US" sz="1800" b="0" i="0" spc="0" dirty="0">
                <a:solidFill>
                  <a:srgbClr val="C0C0C0"/>
                </a:solidFill>
                <a:latin typeface="Archivo"/>
              </a:rPr>
              <a:t>+</a:t>
            </a:r>
            <a:r>
              <a:rPr sz="1800" b="0" i="0" spc="0" dirty="0">
                <a:solidFill>
                  <a:srgbClr val="C0C0C0"/>
                </a:solidFill>
                <a:latin typeface="Archivo"/>
              </a:rPr>
              <a:t> to acquire AI-copyright settlement claims</a:t>
            </a:r>
            <a:r>
              <a:rPr lang="en-US" sz="1800" b="0" i="0" spc="0" dirty="0">
                <a:solidFill>
                  <a:srgbClr val="C0C0C0"/>
                </a:solidFill>
                <a:latin typeface="Archivo"/>
              </a:rPr>
              <a:t>, </a:t>
            </a:r>
            <a:r>
              <a:rPr sz="1800" b="0" i="0" spc="0" dirty="0">
                <a:solidFill>
                  <a:srgbClr val="C0C0C0"/>
                </a:solidFill>
                <a:latin typeface="Archivo"/>
              </a:rPr>
              <a:t>underwrite </a:t>
            </a:r>
            <a:r>
              <a:rPr lang="en-US" sz="1800" b="0" i="0" spc="0" dirty="0">
                <a:solidFill>
                  <a:srgbClr val="C0C0C0"/>
                </a:solidFill>
                <a:latin typeface="Archivo"/>
              </a:rPr>
              <a:t>copyright </a:t>
            </a:r>
            <a:r>
              <a:rPr sz="1800" b="0" i="0" spc="0" dirty="0">
                <a:solidFill>
                  <a:srgbClr val="C0C0C0"/>
                </a:solidFill>
                <a:latin typeface="Archivo"/>
              </a:rPr>
              <a:t>litigation </a:t>
            </a:r>
            <a:r>
              <a:rPr lang="en-US" sz="1800" b="0" i="0" spc="0" dirty="0">
                <a:solidFill>
                  <a:srgbClr val="C0C0C0"/>
                </a:solidFill>
                <a:latin typeface="Archivo"/>
              </a:rPr>
              <a:t>against LLM providers and build a captive audience that can be monetized for years to come</a:t>
            </a:r>
            <a:endParaRPr sz="1800" b="0" i="0" spc="0" dirty="0">
              <a:solidFill>
                <a:srgbClr val="C0C0C0"/>
              </a:solidFill>
              <a:latin typeface="Archivo"/>
            </a:endParaRPr>
          </a:p>
        </p:txBody>
      </p:sp>
      <p:sp>
        <p:nvSpPr>
          <p:cNvPr id="7" name="TextBox 6"/>
          <p:cNvSpPr txBox="1"/>
          <p:nvPr/>
        </p:nvSpPr>
        <p:spPr>
          <a:xfrm>
            <a:off x="548640" y="5486400"/>
            <a:ext cx="10058400" cy="184666"/>
          </a:xfrm>
          <a:prstGeom prst="rect">
            <a:avLst/>
          </a:prstGeom>
          <a:noFill/>
        </p:spPr>
        <p:txBody>
          <a:bodyPr wrap="square" lIns="0" tIns="0" rIns="0" bIns="0" anchor="t">
            <a:spAutoFit/>
          </a:bodyPr>
          <a:lstStyle/>
          <a:p>
            <a:pPr algn="l"/>
            <a:r>
              <a:rPr sz="1200" b="1" i="0" spc="120" dirty="0">
                <a:solidFill>
                  <a:srgbClr val="A0A0A0"/>
                </a:solidFill>
                <a:latin typeface="Archivo"/>
              </a:rPr>
              <a:t>May 2026</a:t>
            </a:r>
          </a:p>
        </p:txBody>
      </p:sp>
      <p:sp>
        <p:nvSpPr>
          <p:cNvPr id="8" name="TextBox 7"/>
          <p:cNvSpPr txBox="1"/>
          <p:nvPr/>
        </p:nvSpPr>
        <p:spPr>
          <a:xfrm>
            <a:off x="457200" y="6492240"/>
            <a:ext cx="6400800" cy="123111"/>
          </a:xfrm>
          <a:prstGeom prst="rect">
            <a:avLst/>
          </a:prstGeom>
          <a:noFill/>
        </p:spPr>
        <p:txBody>
          <a:bodyPr wrap="square" lIns="0" tIns="0" rIns="0" bIns="0" anchor="t">
            <a:spAutoFit/>
          </a:bodyPr>
          <a:lstStyle/>
          <a:p>
            <a:pPr algn="l"/>
            <a:r>
              <a:rPr sz="800" b="1" i="0" spc="150" dirty="0">
                <a:solidFill>
                  <a:srgbClr val="FFFFFF"/>
                </a:solidFill>
                <a:latin typeface="Archivo"/>
              </a:rPr>
              <a:t>TURNPAGE  DIGITAL  MARKETS</a:t>
            </a:r>
            <a:r>
              <a:rPr lang="en-US" sz="800" b="1" i="0" spc="150" dirty="0">
                <a:solidFill>
                  <a:srgbClr val="FFFFFF"/>
                </a:solidFill>
                <a:latin typeface="Archivo"/>
              </a:rPr>
              <a:t> LLC</a:t>
            </a:r>
            <a:endParaRPr sz="800" b="1" i="0" spc="150" dirty="0">
              <a:solidFill>
                <a:srgbClr val="FFFFFF"/>
              </a:solidFill>
              <a:latin typeface="Archivo"/>
            </a:endParaRPr>
          </a:p>
        </p:txBody>
      </p:sp>
      <p:sp>
        <p:nvSpPr>
          <p:cNvPr id="10" name="TextBox 9"/>
          <p:cNvSpPr txBox="1"/>
          <p:nvPr/>
        </p:nvSpPr>
        <p:spPr>
          <a:xfrm>
            <a:off x="457200" y="6217920"/>
            <a:ext cx="11247120" cy="182880"/>
          </a:xfrm>
          <a:prstGeom prst="rect">
            <a:avLst/>
          </a:prstGeom>
          <a:noFill/>
        </p:spPr>
        <p:txBody>
          <a:bodyPr wrap="square" lIns="0" tIns="0" rIns="0" bIns="0" anchor="t">
            <a:spAutoFit/>
          </a:bodyPr>
          <a:lstStyle/>
          <a:p>
            <a:pPr algn="l"/>
            <a:r>
              <a:rPr sz="650" b="0" i="0" dirty="0">
                <a:solidFill>
                  <a:srgbClr val="FFFFFF"/>
                </a:solidFill>
                <a:latin typeface="Archivo"/>
              </a:rPr>
              <a:t>THIS PRESENTATION IS CONFIDENTIAL AND PROPRIETARY. IT IS NOT AN OFFER AND IS PROVIDED FOR INFORMATIONAL PURPOSES ONLY. IT DOES NOT CONSTITUTE LEGAL OR FINANCIAL ADVICE AND SHOULD NOT BE RELIED UPON AS SUCH.</a:t>
            </a:r>
          </a:p>
        </p:txBody>
      </p:sp>
      <p:pic>
        <p:nvPicPr>
          <p:cNvPr id="11" name="Picture 10">
            <a:extLst>
              <a:ext uri="{FF2B5EF4-FFF2-40B4-BE49-F238E27FC236}">
                <a16:creationId xmlns:a16="http://schemas.microsoft.com/office/drawing/2014/main" id="{5EAA5E8D-CF35-F810-6CF6-E6E8FE0C946E}"/>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548641" y="457200"/>
            <a:ext cx="2269716" cy="3904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48640" y="1234440"/>
            <a:ext cx="10972800" cy="677108"/>
          </a:xfrm>
          <a:prstGeom prst="rect">
            <a:avLst/>
          </a:prstGeom>
          <a:noFill/>
        </p:spPr>
        <p:txBody>
          <a:bodyPr wrap="square" lIns="0" tIns="0" rIns="0" bIns="0" anchor="t">
            <a:spAutoFit/>
          </a:bodyPr>
          <a:lstStyle/>
          <a:p>
            <a:pPr algn="l"/>
            <a:r>
              <a:rPr lang="en-US" sz="2200" b="0" i="0" spc="-10" dirty="0">
                <a:solidFill>
                  <a:srgbClr val="6A6A6A"/>
                </a:solidFill>
                <a:latin typeface="Archivo"/>
              </a:rPr>
              <a:t>The next decade will see $10B+ of settlement payments from LLM providers to copyright holders</a:t>
            </a:r>
            <a:endParaRPr sz="2200" b="0" i="0" spc="-10" dirty="0">
              <a:solidFill>
                <a:srgbClr val="6A6A6A"/>
              </a:solidFill>
              <a:latin typeface="Archivo"/>
            </a:endParaRPr>
          </a:p>
        </p:txBody>
      </p:sp>
      <p:sp>
        <p:nvSpPr>
          <p:cNvPr id="6" name="TextBox 5"/>
          <p:cNvSpPr txBox="1"/>
          <p:nvPr/>
        </p:nvSpPr>
        <p:spPr>
          <a:xfrm>
            <a:off x="548640" y="1965960"/>
            <a:ext cx="10972800" cy="914400"/>
          </a:xfrm>
          <a:prstGeom prst="rect">
            <a:avLst/>
          </a:prstGeom>
          <a:noFill/>
        </p:spPr>
        <p:txBody>
          <a:bodyPr wrap="square" lIns="0" tIns="0" rIns="0" bIns="0" anchor="t">
            <a:spAutoFit/>
          </a:bodyPr>
          <a:lstStyle/>
          <a:p>
            <a:pPr algn="l"/>
            <a:r>
              <a:rPr sz="3800" b="1" i="0" spc="-30" dirty="0">
                <a:solidFill>
                  <a:srgbClr val="0A0A0A"/>
                </a:solidFill>
                <a:latin typeface="Archivo"/>
              </a:rPr>
              <a:t>AI copyright settlements will pay out</a:t>
            </a:r>
          </a:p>
        </p:txBody>
      </p:sp>
      <p:sp>
        <p:nvSpPr>
          <p:cNvPr id="7" name="Rectangle 6"/>
          <p:cNvSpPr/>
          <p:nvPr/>
        </p:nvSpPr>
        <p:spPr>
          <a:xfrm>
            <a:off x="502920" y="3108960"/>
            <a:ext cx="9601200" cy="502920"/>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788920"/>
            <a:ext cx="10972800" cy="914400"/>
          </a:xfrm>
          <a:prstGeom prst="rect">
            <a:avLst/>
          </a:prstGeom>
          <a:noFill/>
        </p:spPr>
        <p:txBody>
          <a:bodyPr wrap="square" lIns="0" tIns="0" rIns="0" bIns="0" anchor="t">
            <a:spAutoFit/>
          </a:bodyPr>
          <a:lstStyle/>
          <a:p>
            <a:pPr algn="l"/>
            <a:r>
              <a:rPr sz="3800" b="1" i="1" spc="-30" dirty="0">
                <a:solidFill>
                  <a:srgbClr val="0A0A0A"/>
                </a:solidFill>
                <a:latin typeface="Archivo"/>
              </a:rPr>
              <a:t>$10B+ over the next decade.</a:t>
            </a:r>
          </a:p>
        </p:txBody>
      </p:sp>
      <p:sp>
        <p:nvSpPr>
          <p:cNvPr id="9" name="TextBox 8"/>
          <p:cNvSpPr txBox="1"/>
          <p:nvPr/>
        </p:nvSpPr>
        <p:spPr>
          <a:xfrm>
            <a:off x="548640" y="4114800"/>
            <a:ext cx="10972800" cy="1188720"/>
          </a:xfrm>
          <a:prstGeom prst="rect">
            <a:avLst/>
          </a:prstGeom>
          <a:noFill/>
        </p:spPr>
        <p:txBody>
          <a:bodyPr wrap="square" lIns="0" tIns="0" rIns="0" bIns="0" anchor="t">
            <a:spAutoFit/>
          </a:bodyPr>
          <a:lstStyle/>
          <a:p>
            <a:pPr algn="l"/>
            <a:r>
              <a:rPr sz="1800" b="0" i="0" dirty="0">
                <a:solidFill>
                  <a:srgbClr val="6A6A6A"/>
                </a:solidFill>
                <a:latin typeface="Archivo"/>
              </a:rPr>
              <a:t>Turnpage was built to underwrite both ends of that cycle — financing the lawsuits that establish liability, and buying the claims they generate.</a:t>
            </a:r>
          </a:p>
        </p:txBody>
      </p:sp>
      <p:sp>
        <p:nvSpPr>
          <p:cNvPr id="10" name="TextBox 9"/>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11" name="TextBox 10"/>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02 / 18</a:t>
            </a:r>
          </a:p>
        </p:txBody>
      </p:sp>
      <p:sp>
        <p:nvSpPr>
          <p:cNvPr id="12" name="Rectangle 11">
            <a:extLst>
              <a:ext uri="{FF2B5EF4-FFF2-40B4-BE49-F238E27FC236}">
                <a16:creationId xmlns:a16="http://schemas.microsoft.com/office/drawing/2014/main" id="{2D42F46A-4BAC-F236-F0B6-DA7FEC004D78}"/>
              </a:ext>
            </a:extLst>
          </p:cNvPr>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1701C876-54BB-EF35-A20A-60E1B811549C}"/>
              </a:ext>
            </a:extLst>
          </p:cNvPr>
          <p:cNvSpPr txBox="1"/>
          <p:nvPr/>
        </p:nvSpPr>
        <p:spPr>
          <a:xfrm>
            <a:off x="841248" y="457200"/>
            <a:ext cx="5486400" cy="169277"/>
          </a:xfrm>
          <a:prstGeom prst="rect">
            <a:avLst/>
          </a:prstGeom>
          <a:noFill/>
        </p:spPr>
        <p:txBody>
          <a:bodyPr wrap="square" lIns="0" tIns="0" rIns="0" bIns="0" anchor="t">
            <a:spAutoFit/>
          </a:bodyPr>
          <a:lstStyle/>
          <a:p>
            <a:r>
              <a:rPr lang="en-US" sz="1100" b="1" spc="240" dirty="0">
                <a:solidFill>
                  <a:srgbClr val="0A0A0A"/>
                </a:solidFill>
                <a:latin typeface="Archivo"/>
              </a:rPr>
              <a:t>OPPORTUNITY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169277"/>
          </a:xfrm>
          <a:prstGeom prst="rect">
            <a:avLst/>
          </a:prstGeom>
          <a:noFill/>
        </p:spPr>
        <p:txBody>
          <a:bodyPr wrap="square" lIns="0" tIns="0" rIns="0" bIns="0" anchor="t">
            <a:spAutoFit/>
          </a:bodyPr>
          <a:lstStyle/>
          <a:p>
            <a:r>
              <a:rPr lang="en-US" sz="1100" b="1" spc="240" dirty="0">
                <a:solidFill>
                  <a:srgbClr val="0A0A0A"/>
                </a:solidFill>
                <a:latin typeface="Archivo"/>
              </a:rPr>
              <a:t>OPPORTUNITY</a:t>
            </a:r>
          </a:p>
        </p:txBody>
      </p:sp>
      <p:sp>
        <p:nvSpPr>
          <p:cNvPr id="5" name="TextBox 4"/>
          <p:cNvSpPr txBox="1"/>
          <p:nvPr/>
        </p:nvSpPr>
        <p:spPr>
          <a:xfrm>
            <a:off x="457200" y="868680"/>
            <a:ext cx="10058400" cy="1107996"/>
          </a:xfrm>
          <a:prstGeom prst="rect">
            <a:avLst/>
          </a:prstGeom>
          <a:noFill/>
        </p:spPr>
        <p:txBody>
          <a:bodyPr wrap="square" lIns="0" tIns="0" rIns="0" bIns="0" anchor="t">
            <a:spAutoFit/>
          </a:bodyPr>
          <a:lstStyle/>
          <a:p>
            <a:r>
              <a:rPr lang="en-US" sz="3600" b="1" i="0" spc="-30" dirty="0">
                <a:solidFill>
                  <a:srgbClr val="0A0A0A"/>
                </a:solidFill>
                <a:latin typeface="Archivo"/>
              </a:rPr>
              <a:t>Bartz v.</a:t>
            </a:r>
            <a:r>
              <a:rPr sz="3600" b="1" i="0" spc="-30" dirty="0">
                <a:solidFill>
                  <a:srgbClr val="0A0A0A"/>
                </a:solidFill>
                <a:latin typeface="Archivo"/>
              </a:rPr>
              <a:t> Anthropic</a:t>
            </a:r>
            <a:r>
              <a:rPr lang="en-US" sz="3600" b="1" i="0" spc="-30" dirty="0">
                <a:solidFill>
                  <a:srgbClr val="0A0A0A"/>
                </a:solidFill>
                <a:latin typeface="Archivo"/>
              </a:rPr>
              <a:t> establishes a benchmark for </a:t>
            </a:r>
            <a:r>
              <a:rPr lang="en-US" sz="3600" b="1" spc="-30" dirty="0">
                <a:solidFill>
                  <a:srgbClr val="0A0A0A"/>
                </a:solidFill>
                <a:latin typeface="Archivo"/>
              </a:rPr>
              <a:t>future LLM training infringement </a:t>
            </a:r>
            <a:r>
              <a:rPr lang="en-US" sz="3600" b="1" i="0" spc="-30" dirty="0">
                <a:solidFill>
                  <a:srgbClr val="0A0A0A"/>
                </a:solidFill>
                <a:latin typeface="Archivo"/>
              </a:rPr>
              <a:t>cases</a:t>
            </a:r>
            <a:endParaRPr sz="3600" b="1" i="0" spc="-30" dirty="0">
              <a:solidFill>
                <a:srgbClr val="0A0A0A"/>
              </a:solidFill>
              <a:latin typeface="Archivo"/>
            </a:endParaRPr>
          </a:p>
        </p:txBody>
      </p:sp>
      <p:sp>
        <p:nvSpPr>
          <p:cNvPr id="6" name="Rectangle 5"/>
          <p:cNvSpPr/>
          <p:nvPr/>
        </p:nvSpPr>
        <p:spPr>
          <a:xfrm>
            <a:off x="457200" y="2194560"/>
            <a:ext cx="3657600" cy="2377440"/>
          </a:xfrm>
          <a:prstGeom prst="rect">
            <a:avLst/>
          </a:prstGeom>
          <a:solidFill>
            <a:srgbClr val="FFFFFF"/>
          </a:solidFill>
          <a:ln w="9525">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94560"/>
            <a:ext cx="3657600" cy="73152"/>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423160"/>
            <a:ext cx="3200400" cy="731520"/>
          </a:xfrm>
          <a:prstGeom prst="rect">
            <a:avLst/>
          </a:prstGeom>
          <a:noFill/>
        </p:spPr>
        <p:txBody>
          <a:bodyPr wrap="square" lIns="0" tIns="0" rIns="0" bIns="0" anchor="t">
            <a:spAutoFit/>
          </a:bodyPr>
          <a:lstStyle/>
          <a:p>
            <a:pPr algn="l"/>
            <a:r>
              <a:rPr sz="4400" b="1" i="0" spc="-40">
                <a:solidFill>
                  <a:srgbClr val="0A0A0A"/>
                </a:solidFill>
                <a:latin typeface="Archivo"/>
              </a:rPr>
              <a:t>$1.5B</a:t>
            </a:r>
          </a:p>
        </p:txBody>
      </p:sp>
      <p:sp>
        <p:nvSpPr>
          <p:cNvPr id="9" name="TextBox 8"/>
          <p:cNvSpPr txBox="1"/>
          <p:nvPr/>
        </p:nvSpPr>
        <p:spPr>
          <a:xfrm>
            <a:off x="685800" y="3154680"/>
            <a:ext cx="3200400" cy="457200"/>
          </a:xfrm>
          <a:prstGeom prst="rect">
            <a:avLst/>
          </a:prstGeom>
          <a:noFill/>
        </p:spPr>
        <p:txBody>
          <a:bodyPr wrap="square" lIns="0" tIns="0" rIns="0" bIns="0" anchor="t">
            <a:spAutoFit/>
          </a:bodyPr>
          <a:lstStyle/>
          <a:p>
            <a:pPr algn="l"/>
            <a:r>
              <a:rPr sz="1500" b="1" i="0">
                <a:solidFill>
                  <a:srgbClr val="0A0A0A"/>
                </a:solidFill>
                <a:latin typeface="Archivo"/>
              </a:rPr>
              <a:t>Bartz v. Anthropic</a:t>
            </a:r>
          </a:p>
        </p:txBody>
      </p:sp>
      <p:sp>
        <p:nvSpPr>
          <p:cNvPr id="10" name="TextBox 9"/>
          <p:cNvSpPr txBox="1"/>
          <p:nvPr/>
        </p:nvSpPr>
        <p:spPr>
          <a:xfrm>
            <a:off x="685800" y="3611880"/>
            <a:ext cx="3200400" cy="822960"/>
          </a:xfrm>
          <a:prstGeom prst="rect">
            <a:avLst/>
          </a:prstGeom>
          <a:noFill/>
        </p:spPr>
        <p:txBody>
          <a:bodyPr wrap="square" lIns="0" tIns="0" rIns="0" bIns="0" anchor="t">
            <a:spAutoFit/>
          </a:bodyPr>
          <a:lstStyle/>
          <a:p>
            <a:pPr algn="l"/>
            <a:r>
              <a:rPr sz="1200" b="0" i="0">
                <a:solidFill>
                  <a:srgbClr val="6A6A6A"/>
                </a:solidFill>
                <a:latin typeface="Archivo"/>
              </a:rPr>
              <a:t>First settlement of an LLM training infringement case · Sep 2024</a:t>
            </a:r>
          </a:p>
        </p:txBody>
      </p:sp>
      <p:sp>
        <p:nvSpPr>
          <p:cNvPr id="11" name="Rectangle 10"/>
          <p:cNvSpPr/>
          <p:nvPr/>
        </p:nvSpPr>
        <p:spPr>
          <a:xfrm>
            <a:off x="4251960" y="2194560"/>
            <a:ext cx="3657600" cy="2377440"/>
          </a:xfrm>
          <a:prstGeom prst="rect">
            <a:avLst/>
          </a:prstGeom>
          <a:solidFill>
            <a:srgbClr val="FFFFFF"/>
          </a:solidFill>
          <a:ln w="9525">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60" y="2423160"/>
            <a:ext cx="3200400" cy="731520"/>
          </a:xfrm>
          <a:prstGeom prst="rect">
            <a:avLst/>
          </a:prstGeom>
          <a:noFill/>
        </p:spPr>
        <p:txBody>
          <a:bodyPr wrap="square" lIns="0" tIns="0" rIns="0" bIns="0" anchor="t">
            <a:spAutoFit/>
          </a:bodyPr>
          <a:lstStyle/>
          <a:p>
            <a:pPr algn="l"/>
            <a:r>
              <a:rPr sz="4400" b="1" i="0" spc="-40">
                <a:solidFill>
                  <a:srgbClr val="0A0A0A"/>
                </a:solidFill>
                <a:latin typeface="Archivo"/>
              </a:rPr>
              <a:t>~482K</a:t>
            </a:r>
          </a:p>
        </p:txBody>
      </p:sp>
      <p:sp>
        <p:nvSpPr>
          <p:cNvPr id="13" name="TextBox 12"/>
          <p:cNvSpPr txBox="1"/>
          <p:nvPr/>
        </p:nvSpPr>
        <p:spPr>
          <a:xfrm>
            <a:off x="4480560" y="3154680"/>
            <a:ext cx="3200400" cy="457200"/>
          </a:xfrm>
          <a:prstGeom prst="rect">
            <a:avLst/>
          </a:prstGeom>
          <a:noFill/>
        </p:spPr>
        <p:txBody>
          <a:bodyPr wrap="square" lIns="0" tIns="0" rIns="0" bIns="0" anchor="t">
            <a:spAutoFit/>
          </a:bodyPr>
          <a:lstStyle/>
          <a:p>
            <a:pPr algn="l"/>
            <a:r>
              <a:rPr sz="1500" b="1" i="0">
                <a:solidFill>
                  <a:srgbClr val="0A0A0A"/>
                </a:solidFill>
                <a:latin typeface="Archivo"/>
              </a:rPr>
              <a:t>Registered works in the Anthropic class list</a:t>
            </a:r>
          </a:p>
        </p:txBody>
      </p:sp>
      <p:sp>
        <p:nvSpPr>
          <p:cNvPr id="14" name="TextBox 13"/>
          <p:cNvSpPr txBox="1"/>
          <p:nvPr/>
        </p:nvSpPr>
        <p:spPr>
          <a:xfrm>
            <a:off x="4480560" y="3611880"/>
            <a:ext cx="3200400" cy="822960"/>
          </a:xfrm>
          <a:prstGeom prst="rect">
            <a:avLst/>
          </a:prstGeom>
          <a:noFill/>
        </p:spPr>
        <p:txBody>
          <a:bodyPr wrap="square" lIns="0" tIns="0" rIns="0" bIns="0" anchor="t">
            <a:spAutoFit/>
          </a:bodyPr>
          <a:lstStyle/>
          <a:p>
            <a:pPr algn="l"/>
            <a:r>
              <a:rPr sz="1200" b="0" i="0">
                <a:solidFill>
                  <a:srgbClr val="6A6A6A"/>
                </a:solidFill>
                <a:latin typeface="Archivo"/>
              </a:rPr>
              <a:t>99.4% with at least one publisher rights holder</a:t>
            </a:r>
          </a:p>
        </p:txBody>
      </p:sp>
      <p:sp>
        <p:nvSpPr>
          <p:cNvPr id="15" name="Rectangle 14"/>
          <p:cNvSpPr/>
          <p:nvPr/>
        </p:nvSpPr>
        <p:spPr>
          <a:xfrm>
            <a:off x="8046720" y="2194560"/>
            <a:ext cx="3657600" cy="2377440"/>
          </a:xfrm>
          <a:prstGeom prst="rect">
            <a:avLst/>
          </a:prstGeom>
          <a:solidFill>
            <a:srgbClr val="FFFFFF"/>
          </a:solidFill>
          <a:ln w="9525">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423160"/>
            <a:ext cx="3200400" cy="731520"/>
          </a:xfrm>
          <a:prstGeom prst="rect">
            <a:avLst/>
          </a:prstGeom>
          <a:noFill/>
        </p:spPr>
        <p:txBody>
          <a:bodyPr wrap="square" lIns="0" tIns="0" rIns="0" bIns="0" anchor="t">
            <a:spAutoFit/>
          </a:bodyPr>
          <a:lstStyle/>
          <a:p>
            <a:pPr algn="l"/>
            <a:r>
              <a:rPr sz="4400" b="1" i="0" spc="-40">
                <a:solidFill>
                  <a:srgbClr val="0A0A0A"/>
                </a:solidFill>
                <a:latin typeface="Archivo"/>
              </a:rPr>
              <a:t>$10B+</a:t>
            </a:r>
          </a:p>
        </p:txBody>
      </p:sp>
      <p:sp>
        <p:nvSpPr>
          <p:cNvPr id="17" name="TextBox 16"/>
          <p:cNvSpPr txBox="1"/>
          <p:nvPr/>
        </p:nvSpPr>
        <p:spPr>
          <a:xfrm>
            <a:off x="8275320" y="3154680"/>
            <a:ext cx="3200400" cy="457200"/>
          </a:xfrm>
          <a:prstGeom prst="rect">
            <a:avLst/>
          </a:prstGeom>
          <a:noFill/>
        </p:spPr>
        <p:txBody>
          <a:bodyPr wrap="square" lIns="0" tIns="0" rIns="0" bIns="0" anchor="t">
            <a:spAutoFit/>
          </a:bodyPr>
          <a:lstStyle/>
          <a:p>
            <a:pPr algn="l"/>
            <a:r>
              <a:rPr sz="1500" b="1" i="0">
                <a:solidFill>
                  <a:srgbClr val="0A0A0A"/>
                </a:solidFill>
                <a:latin typeface="Archivo"/>
              </a:rPr>
              <a:t>Anticipated additional settlements</a:t>
            </a:r>
          </a:p>
        </p:txBody>
      </p:sp>
      <p:sp>
        <p:nvSpPr>
          <p:cNvPr id="18" name="TextBox 17"/>
          <p:cNvSpPr txBox="1"/>
          <p:nvPr/>
        </p:nvSpPr>
        <p:spPr>
          <a:xfrm>
            <a:off x="8275320" y="3611880"/>
            <a:ext cx="3200400" cy="822960"/>
          </a:xfrm>
          <a:prstGeom prst="rect">
            <a:avLst/>
          </a:prstGeom>
          <a:noFill/>
        </p:spPr>
        <p:txBody>
          <a:bodyPr wrap="square" lIns="0" tIns="0" rIns="0" bIns="0" anchor="t">
            <a:spAutoFit/>
          </a:bodyPr>
          <a:lstStyle/>
          <a:p>
            <a:pPr algn="l"/>
            <a:r>
              <a:rPr sz="1200" b="0" i="0" dirty="0">
                <a:solidFill>
                  <a:srgbClr val="6A6A6A"/>
                </a:solidFill>
                <a:latin typeface="Archivo"/>
              </a:rPr>
              <a:t>OpenAI, Meta, Microsoft, Google · 2026–2030 (modeled)</a:t>
            </a:r>
          </a:p>
        </p:txBody>
      </p:sp>
      <p:sp>
        <p:nvSpPr>
          <p:cNvPr id="19" name="TextBox 18"/>
          <p:cNvSpPr txBox="1"/>
          <p:nvPr/>
        </p:nvSpPr>
        <p:spPr>
          <a:xfrm>
            <a:off x="457200" y="4937760"/>
            <a:ext cx="11247120" cy="1463040"/>
          </a:xfrm>
          <a:prstGeom prst="rect">
            <a:avLst/>
          </a:prstGeom>
          <a:noFill/>
        </p:spPr>
        <p:txBody>
          <a:bodyPr wrap="square" lIns="0" tIns="0" rIns="0" bIns="0" anchor="t">
            <a:spAutoFit/>
          </a:bodyPr>
          <a:lstStyle/>
          <a:p>
            <a:pPr algn="l">
              <a:spcAft>
                <a:spcPts val="400"/>
              </a:spcAft>
            </a:pPr>
            <a:r>
              <a:rPr sz="1400" b="0" i="0" dirty="0">
                <a:solidFill>
                  <a:srgbClr val="0A0A0A"/>
                </a:solidFill>
                <a:latin typeface="Archivo"/>
              </a:rPr>
              <a:t>Anthropic settled days before trial for the largest reported copyright class settlement in U.S. history — a non-reversionary $1.5B fund.</a:t>
            </a:r>
          </a:p>
          <a:p>
            <a:pPr algn="l">
              <a:spcAft>
                <a:spcPts val="400"/>
              </a:spcAft>
            </a:pPr>
            <a:r>
              <a:rPr sz="1400" b="0" i="0" dirty="0">
                <a:solidFill>
                  <a:srgbClr val="0A0A0A"/>
                </a:solidFill>
                <a:latin typeface="Archivo"/>
              </a:rPr>
              <a:t>Every other foundation-model defendant (OpenAI, Meta, Microsoft, Google) is now exposed to the same template.</a:t>
            </a:r>
          </a:p>
          <a:p>
            <a:pPr algn="l">
              <a:spcAft>
                <a:spcPts val="400"/>
              </a:spcAft>
            </a:pPr>
            <a:r>
              <a:rPr sz="1400" b="0" i="0" dirty="0">
                <a:solidFill>
                  <a:srgbClr val="0A0A0A"/>
                </a:solidFill>
                <a:latin typeface="Archivo"/>
              </a:rPr>
              <a:t>Each follow-on settlement creates the same asset Turnpage is built to trade: a court-administered, time-discounted, claim-by-claim receivable.</a:t>
            </a:r>
          </a:p>
        </p:txBody>
      </p:sp>
      <p:sp>
        <p:nvSpPr>
          <p:cNvPr id="21" name="TextBox 20"/>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03 / 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8601BC18-8B5D-A2B0-3B8C-BA912B1BD6F4}"/>
              </a:ext>
            </a:extLst>
          </p:cNvPr>
          <p:cNvSpPr/>
          <p:nvPr/>
        </p:nvSpPr>
        <p:spPr>
          <a:xfrm>
            <a:off x="348539" y="1111886"/>
            <a:ext cx="3024052" cy="23774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169277"/>
          </a:xfrm>
          <a:prstGeom prst="rect">
            <a:avLst/>
          </a:prstGeom>
          <a:noFill/>
        </p:spPr>
        <p:txBody>
          <a:bodyPr wrap="square" lIns="0" tIns="0" rIns="0" bIns="0" anchor="t">
            <a:spAutoFit/>
          </a:bodyPr>
          <a:lstStyle/>
          <a:p>
            <a:pPr algn="l"/>
            <a:r>
              <a:rPr lang="en-US" sz="1100" b="1" i="0" spc="240" dirty="0">
                <a:solidFill>
                  <a:srgbClr val="0A0A0A"/>
                </a:solidFill>
                <a:latin typeface="Archivo"/>
              </a:rPr>
              <a:t>OPPORTUNITY</a:t>
            </a:r>
            <a:endParaRPr sz="1100" b="1" i="0" spc="240" dirty="0">
              <a:solidFill>
                <a:srgbClr val="0A0A0A"/>
              </a:solidFill>
              <a:latin typeface="Archivo"/>
            </a:endParaRPr>
          </a:p>
        </p:txBody>
      </p:sp>
      <p:sp>
        <p:nvSpPr>
          <p:cNvPr id="5" name="TextBox 4"/>
          <p:cNvSpPr txBox="1"/>
          <p:nvPr/>
        </p:nvSpPr>
        <p:spPr>
          <a:xfrm>
            <a:off x="457200" y="868680"/>
            <a:ext cx="10058400" cy="984885"/>
          </a:xfrm>
          <a:prstGeom prst="rect">
            <a:avLst/>
          </a:prstGeom>
          <a:noFill/>
        </p:spPr>
        <p:txBody>
          <a:bodyPr wrap="square" lIns="0" tIns="0" rIns="0" bIns="0" anchor="t">
            <a:spAutoFit/>
          </a:bodyPr>
          <a:lstStyle/>
          <a:p>
            <a:r>
              <a:rPr lang="en-US" sz="3200" b="1" dirty="0">
                <a:latin typeface="Archivo"/>
              </a:rPr>
              <a:t>$4.8B – $13.3B in additional estimated exposure across pipeline cases</a:t>
            </a:r>
          </a:p>
        </p:txBody>
      </p:sp>
      <p:sp>
        <p:nvSpPr>
          <p:cNvPr id="6" name="Rectangle 5"/>
          <p:cNvSpPr/>
          <p:nvPr/>
        </p:nvSpPr>
        <p:spPr>
          <a:xfrm>
            <a:off x="457200" y="2011680"/>
            <a:ext cx="3291840" cy="45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2130552"/>
            <a:ext cx="3072384" cy="457200"/>
          </a:xfrm>
          <a:prstGeom prst="rect">
            <a:avLst/>
          </a:prstGeom>
          <a:noFill/>
        </p:spPr>
        <p:txBody>
          <a:bodyPr wrap="square" lIns="0" tIns="0" rIns="0" bIns="0" anchor="t">
            <a:spAutoFit/>
          </a:bodyPr>
          <a:lstStyle/>
          <a:p>
            <a:pPr algn="l"/>
            <a:r>
              <a:rPr sz="1100" b="1" i="0" spc="120">
                <a:solidFill>
                  <a:srgbClr val="FFFFFF"/>
                </a:solidFill>
                <a:latin typeface="Archivo"/>
              </a:rPr>
              <a:t>Case</a:t>
            </a:r>
          </a:p>
        </p:txBody>
      </p:sp>
      <p:sp>
        <p:nvSpPr>
          <p:cNvPr id="8" name="Rectangle 7"/>
          <p:cNvSpPr/>
          <p:nvPr/>
        </p:nvSpPr>
        <p:spPr>
          <a:xfrm>
            <a:off x="3749040" y="2011680"/>
            <a:ext cx="2194560" cy="45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58768" y="2130552"/>
            <a:ext cx="1975104" cy="457200"/>
          </a:xfrm>
          <a:prstGeom prst="rect">
            <a:avLst/>
          </a:prstGeom>
          <a:noFill/>
        </p:spPr>
        <p:txBody>
          <a:bodyPr wrap="square" lIns="0" tIns="0" rIns="0" bIns="0" anchor="t">
            <a:spAutoFit/>
          </a:bodyPr>
          <a:lstStyle/>
          <a:p>
            <a:pPr algn="l"/>
            <a:r>
              <a:rPr sz="1100" b="1" i="0" spc="120">
                <a:solidFill>
                  <a:srgbClr val="FFFFFF"/>
                </a:solidFill>
                <a:latin typeface="Archivo"/>
              </a:rPr>
              <a:t>Defendant</a:t>
            </a:r>
          </a:p>
        </p:txBody>
      </p:sp>
      <p:sp>
        <p:nvSpPr>
          <p:cNvPr id="10" name="Rectangle 9"/>
          <p:cNvSpPr/>
          <p:nvPr/>
        </p:nvSpPr>
        <p:spPr>
          <a:xfrm>
            <a:off x="5943600" y="2011680"/>
            <a:ext cx="2560320" cy="45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53328" y="2130552"/>
            <a:ext cx="2340864" cy="457200"/>
          </a:xfrm>
          <a:prstGeom prst="rect">
            <a:avLst/>
          </a:prstGeom>
          <a:noFill/>
        </p:spPr>
        <p:txBody>
          <a:bodyPr wrap="square" lIns="0" tIns="0" rIns="0" bIns="0" anchor="t">
            <a:spAutoFit/>
          </a:bodyPr>
          <a:lstStyle/>
          <a:p>
            <a:pPr algn="l"/>
            <a:r>
              <a:rPr sz="1100" b="1" i="0" spc="120">
                <a:solidFill>
                  <a:srgbClr val="FFFFFF"/>
                </a:solidFill>
                <a:latin typeface="Archivo"/>
              </a:rPr>
              <a:t>Status</a:t>
            </a:r>
          </a:p>
        </p:txBody>
      </p:sp>
      <p:sp>
        <p:nvSpPr>
          <p:cNvPr id="12" name="Rectangle 11"/>
          <p:cNvSpPr/>
          <p:nvPr/>
        </p:nvSpPr>
        <p:spPr>
          <a:xfrm>
            <a:off x="8503920" y="2011680"/>
            <a:ext cx="3200400" cy="45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13648" y="2130552"/>
            <a:ext cx="2980944" cy="457200"/>
          </a:xfrm>
          <a:prstGeom prst="rect">
            <a:avLst/>
          </a:prstGeom>
          <a:noFill/>
        </p:spPr>
        <p:txBody>
          <a:bodyPr wrap="square" lIns="0" tIns="0" rIns="0" bIns="0" anchor="t">
            <a:spAutoFit/>
          </a:bodyPr>
          <a:lstStyle/>
          <a:p>
            <a:pPr algn="l"/>
            <a:r>
              <a:rPr sz="1100" b="1" i="0" spc="120">
                <a:solidFill>
                  <a:srgbClr val="FFFFFF"/>
                </a:solidFill>
                <a:latin typeface="Archivo"/>
              </a:rPr>
              <a:t>Modeled Exposure</a:t>
            </a:r>
          </a:p>
        </p:txBody>
      </p:sp>
      <p:sp>
        <p:nvSpPr>
          <p:cNvPr id="14" name="Rectangle 13"/>
          <p:cNvSpPr/>
          <p:nvPr/>
        </p:nvSpPr>
        <p:spPr>
          <a:xfrm>
            <a:off x="457200" y="2468880"/>
            <a:ext cx="329184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587752"/>
            <a:ext cx="3072384" cy="457200"/>
          </a:xfrm>
          <a:prstGeom prst="rect">
            <a:avLst/>
          </a:prstGeom>
          <a:noFill/>
        </p:spPr>
        <p:txBody>
          <a:bodyPr wrap="square" lIns="0" tIns="0" rIns="0" bIns="0" anchor="t">
            <a:spAutoFit/>
          </a:bodyPr>
          <a:lstStyle/>
          <a:p>
            <a:pPr algn="l"/>
            <a:r>
              <a:rPr sz="1200" b="1" i="0">
                <a:solidFill>
                  <a:srgbClr val="0A0A0A"/>
                </a:solidFill>
                <a:latin typeface="Archivo"/>
              </a:rPr>
              <a:t>Bartz v. Anthropic</a:t>
            </a:r>
          </a:p>
        </p:txBody>
      </p:sp>
      <p:sp>
        <p:nvSpPr>
          <p:cNvPr id="16" name="Rectangle 15"/>
          <p:cNvSpPr/>
          <p:nvPr/>
        </p:nvSpPr>
        <p:spPr>
          <a:xfrm>
            <a:off x="3749040" y="2468880"/>
            <a:ext cx="219456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58768" y="2587752"/>
            <a:ext cx="1975104" cy="457200"/>
          </a:xfrm>
          <a:prstGeom prst="rect">
            <a:avLst/>
          </a:prstGeom>
          <a:noFill/>
        </p:spPr>
        <p:txBody>
          <a:bodyPr wrap="square" lIns="0" tIns="0" rIns="0" bIns="0" anchor="t">
            <a:spAutoFit/>
          </a:bodyPr>
          <a:lstStyle/>
          <a:p>
            <a:pPr algn="l"/>
            <a:r>
              <a:rPr sz="1200" b="0" i="0">
                <a:solidFill>
                  <a:srgbClr val="0A0A0A"/>
                </a:solidFill>
                <a:latin typeface="Archivo"/>
              </a:rPr>
              <a:t>Anthropic</a:t>
            </a:r>
          </a:p>
        </p:txBody>
      </p:sp>
      <p:sp>
        <p:nvSpPr>
          <p:cNvPr id="18" name="Rectangle 17"/>
          <p:cNvSpPr/>
          <p:nvPr/>
        </p:nvSpPr>
        <p:spPr>
          <a:xfrm>
            <a:off x="5943600" y="2468880"/>
            <a:ext cx="256032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53328" y="2587752"/>
            <a:ext cx="2340864" cy="457200"/>
          </a:xfrm>
          <a:prstGeom prst="rect">
            <a:avLst/>
          </a:prstGeom>
          <a:noFill/>
        </p:spPr>
        <p:txBody>
          <a:bodyPr wrap="square" lIns="0" tIns="0" rIns="0" bIns="0" anchor="t">
            <a:spAutoFit/>
          </a:bodyPr>
          <a:lstStyle/>
          <a:p>
            <a:pPr algn="l"/>
            <a:r>
              <a:rPr sz="1200" b="0" i="0">
                <a:solidFill>
                  <a:srgbClr val="0A0A0A"/>
                </a:solidFill>
                <a:latin typeface="Archivo"/>
              </a:rPr>
              <a:t>Final Approval Apr-26</a:t>
            </a:r>
          </a:p>
        </p:txBody>
      </p:sp>
      <p:sp>
        <p:nvSpPr>
          <p:cNvPr id="20" name="Rectangle 19"/>
          <p:cNvSpPr/>
          <p:nvPr/>
        </p:nvSpPr>
        <p:spPr>
          <a:xfrm>
            <a:off x="8503920" y="2468880"/>
            <a:ext cx="320040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13648" y="2587752"/>
            <a:ext cx="2980944" cy="457200"/>
          </a:xfrm>
          <a:prstGeom prst="rect">
            <a:avLst/>
          </a:prstGeom>
          <a:noFill/>
        </p:spPr>
        <p:txBody>
          <a:bodyPr wrap="square" lIns="0" tIns="0" rIns="0" bIns="0" anchor="t">
            <a:spAutoFit/>
          </a:bodyPr>
          <a:lstStyle/>
          <a:p>
            <a:pPr algn="l"/>
            <a:r>
              <a:rPr sz="1200" b="0" i="0">
                <a:solidFill>
                  <a:srgbClr val="0A0A0A"/>
                </a:solidFill>
                <a:latin typeface="Archivo"/>
              </a:rPr>
              <a:t>$1.5B (settled)</a:t>
            </a:r>
          </a:p>
        </p:txBody>
      </p:sp>
      <p:sp>
        <p:nvSpPr>
          <p:cNvPr id="22" name="Rectangle 21"/>
          <p:cNvSpPr/>
          <p:nvPr/>
        </p:nvSpPr>
        <p:spPr>
          <a:xfrm>
            <a:off x="457200" y="2926080"/>
            <a:ext cx="329184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3044952"/>
            <a:ext cx="3072384" cy="457200"/>
          </a:xfrm>
          <a:prstGeom prst="rect">
            <a:avLst/>
          </a:prstGeom>
          <a:noFill/>
        </p:spPr>
        <p:txBody>
          <a:bodyPr wrap="square" lIns="0" tIns="0" rIns="0" bIns="0" anchor="t">
            <a:spAutoFit/>
          </a:bodyPr>
          <a:lstStyle/>
          <a:p>
            <a:pPr algn="l"/>
            <a:r>
              <a:rPr sz="1200" b="1" i="0">
                <a:solidFill>
                  <a:srgbClr val="0A0A0A"/>
                </a:solidFill>
                <a:latin typeface="Archivo"/>
              </a:rPr>
              <a:t>Kadrey v. Meta</a:t>
            </a:r>
          </a:p>
        </p:txBody>
      </p:sp>
      <p:sp>
        <p:nvSpPr>
          <p:cNvPr id="24" name="Rectangle 23"/>
          <p:cNvSpPr/>
          <p:nvPr/>
        </p:nvSpPr>
        <p:spPr>
          <a:xfrm>
            <a:off x="3749040" y="2926080"/>
            <a:ext cx="219456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58768" y="3044952"/>
            <a:ext cx="1975104" cy="457200"/>
          </a:xfrm>
          <a:prstGeom prst="rect">
            <a:avLst/>
          </a:prstGeom>
          <a:noFill/>
        </p:spPr>
        <p:txBody>
          <a:bodyPr wrap="square" lIns="0" tIns="0" rIns="0" bIns="0" anchor="t">
            <a:spAutoFit/>
          </a:bodyPr>
          <a:lstStyle/>
          <a:p>
            <a:pPr algn="l"/>
            <a:r>
              <a:rPr sz="1200" b="0" i="0">
                <a:solidFill>
                  <a:srgbClr val="0A0A0A"/>
                </a:solidFill>
                <a:latin typeface="Archivo"/>
              </a:rPr>
              <a:t>Meta</a:t>
            </a:r>
          </a:p>
        </p:txBody>
      </p:sp>
      <p:sp>
        <p:nvSpPr>
          <p:cNvPr id="26" name="Rectangle 25"/>
          <p:cNvSpPr/>
          <p:nvPr/>
        </p:nvSpPr>
        <p:spPr>
          <a:xfrm>
            <a:off x="5943600" y="2926080"/>
            <a:ext cx="256032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53328" y="3044952"/>
            <a:ext cx="2340864" cy="457200"/>
          </a:xfrm>
          <a:prstGeom prst="rect">
            <a:avLst/>
          </a:prstGeom>
          <a:noFill/>
        </p:spPr>
        <p:txBody>
          <a:bodyPr wrap="square" lIns="0" tIns="0" rIns="0" bIns="0" anchor="t">
            <a:spAutoFit/>
          </a:bodyPr>
          <a:lstStyle/>
          <a:p>
            <a:pPr algn="l"/>
            <a:r>
              <a:rPr sz="1200" b="0" i="0">
                <a:solidFill>
                  <a:srgbClr val="0A0A0A"/>
                </a:solidFill>
                <a:latin typeface="Archivo"/>
              </a:rPr>
              <a:t>Class cert pending</a:t>
            </a:r>
          </a:p>
        </p:txBody>
      </p:sp>
      <p:sp>
        <p:nvSpPr>
          <p:cNvPr id="28" name="Rectangle 27"/>
          <p:cNvSpPr/>
          <p:nvPr/>
        </p:nvSpPr>
        <p:spPr>
          <a:xfrm>
            <a:off x="8503920" y="2926080"/>
            <a:ext cx="320040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13648" y="3044952"/>
            <a:ext cx="2980944" cy="457200"/>
          </a:xfrm>
          <a:prstGeom prst="rect">
            <a:avLst/>
          </a:prstGeom>
          <a:noFill/>
        </p:spPr>
        <p:txBody>
          <a:bodyPr wrap="square" lIns="0" tIns="0" rIns="0" bIns="0" anchor="t">
            <a:spAutoFit/>
          </a:bodyPr>
          <a:lstStyle/>
          <a:p>
            <a:pPr algn="l"/>
            <a:r>
              <a:rPr sz="1200" b="0" i="0">
                <a:solidFill>
                  <a:srgbClr val="0A0A0A"/>
                </a:solidFill>
                <a:latin typeface="Archivo"/>
              </a:rPr>
              <a:t>$0.8B – $2.5B</a:t>
            </a:r>
          </a:p>
        </p:txBody>
      </p:sp>
      <p:sp>
        <p:nvSpPr>
          <p:cNvPr id="30" name="Rectangle 29"/>
          <p:cNvSpPr/>
          <p:nvPr/>
        </p:nvSpPr>
        <p:spPr>
          <a:xfrm>
            <a:off x="457200" y="3383280"/>
            <a:ext cx="329184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3502152"/>
            <a:ext cx="3072384" cy="457200"/>
          </a:xfrm>
          <a:prstGeom prst="rect">
            <a:avLst/>
          </a:prstGeom>
          <a:noFill/>
        </p:spPr>
        <p:txBody>
          <a:bodyPr wrap="square" lIns="0" tIns="0" rIns="0" bIns="0" anchor="t">
            <a:spAutoFit/>
          </a:bodyPr>
          <a:lstStyle/>
          <a:p>
            <a:pPr algn="l"/>
            <a:r>
              <a:rPr sz="1200" b="1" i="0">
                <a:solidFill>
                  <a:srgbClr val="0A0A0A"/>
                </a:solidFill>
                <a:latin typeface="Archivo"/>
              </a:rPr>
              <a:t>Authors Guild v. OpenAI</a:t>
            </a:r>
          </a:p>
        </p:txBody>
      </p:sp>
      <p:sp>
        <p:nvSpPr>
          <p:cNvPr id="32" name="Rectangle 31"/>
          <p:cNvSpPr/>
          <p:nvPr/>
        </p:nvSpPr>
        <p:spPr>
          <a:xfrm>
            <a:off x="3749040" y="3383280"/>
            <a:ext cx="219456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58768" y="3502152"/>
            <a:ext cx="1975104" cy="457200"/>
          </a:xfrm>
          <a:prstGeom prst="rect">
            <a:avLst/>
          </a:prstGeom>
          <a:noFill/>
        </p:spPr>
        <p:txBody>
          <a:bodyPr wrap="square" lIns="0" tIns="0" rIns="0" bIns="0" anchor="t">
            <a:spAutoFit/>
          </a:bodyPr>
          <a:lstStyle/>
          <a:p>
            <a:pPr algn="l"/>
            <a:r>
              <a:rPr sz="1200" b="0" i="0">
                <a:solidFill>
                  <a:srgbClr val="0A0A0A"/>
                </a:solidFill>
                <a:latin typeface="Archivo"/>
              </a:rPr>
              <a:t>OpenAI / MSFT</a:t>
            </a:r>
          </a:p>
        </p:txBody>
      </p:sp>
      <p:sp>
        <p:nvSpPr>
          <p:cNvPr id="34" name="Rectangle 33"/>
          <p:cNvSpPr/>
          <p:nvPr/>
        </p:nvSpPr>
        <p:spPr>
          <a:xfrm>
            <a:off x="5943600" y="3383280"/>
            <a:ext cx="256032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53328" y="3502152"/>
            <a:ext cx="2340864" cy="457200"/>
          </a:xfrm>
          <a:prstGeom prst="rect">
            <a:avLst/>
          </a:prstGeom>
          <a:noFill/>
        </p:spPr>
        <p:txBody>
          <a:bodyPr wrap="square" lIns="0" tIns="0" rIns="0" bIns="0" anchor="t">
            <a:spAutoFit/>
          </a:bodyPr>
          <a:lstStyle/>
          <a:p>
            <a:pPr algn="l"/>
            <a:r>
              <a:rPr sz="1200" b="0" i="0">
                <a:solidFill>
                  <a:srgbClr val="0A0A0A"/>
                </a:solidFill>
                <a:latin typeface="Archivo"/>
              </a:rPr>
              <a:t>Discovery</a:t>
            </a:r>
          </a:p>
        </p:txBody>
      </p:sp>
      <p:sp>
        <p:nvSpPr>
          <p:cNvPr id="36" name="Rectangle 35"/>
          <p:cNvSpPr/>
          <p:nvPr/>
        </p:nvSpPr>
        <p:spPr>
          <a:xfrm>
            <a:off x="8503920" y="3383280"/>
            <a:ext cx="320040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13648" y="3502152"/>
            <a:ext cx="2980944" cy="457200"/>
          </a:xfrm>
          <a:prstGeom prst="rect">
            <a:avLst/>
          </a:prstGeom>
          <a:noFill/>
        </p:spPr>
        <p:txBody>
          <a:bodyPr wrap="square" lIns="0" tIns="0" rIns="0" bIns="0" anchor="t">
            <a:spAutoFit/>
          </a:bodyPr>
          <a:lstStyle/>
          <a:p>
            <a:pPr algn="l"/>
            <a:r>
              <a:rPr sz="1200" b="0" i="0">
                <a:solidFill>
                  <a:srgbClr val="0A0A0A"/>
                </a:solidFill>
                <a:latin typeface="Archivo"/>
              </a:rPr>
              <a:t>$1.5B – $4.0B</a:t>
            </a:r>
          </a:p>
        </p:txBody>
      </p:sp>
      <p:sp>
        <p:nvSpPr>
          <p:cNvPr id="38" name="Rectangle 37"/>
          <p:cNvSpPr/>
          <p:nvPr/>
        </p:nvSpPr>
        <p:spPr>
          <a:xfrm>
            <a:off x="457200" y="3840480"/>
            <a:ext cx="329184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6928" y="3959352"/>
            <a:ext cx="3072384" cy="457200"/>
          </a:xfrm>
          <a:prstGeom prst="rect">
            <a:avLst/>
          </a:prstGeom>
          <a:noFill/>
        </p:spPr>
        <p:txBody>
          <a:bodyPr wrap="square" lIns="0" tIns="0" rIns="0" bIns="0" anchor="t">
            <a:spAutoFit/>
          </a:bodyPr>
          <a:lstStyle/>
          <a:p>
            <a:pPr algn="l"/>
            <a:r>
              <a:rPr sz="1200" b="1" i="0">
                <a:solidFill>
                  <a:srgbClr val="0A0A0A"/>
                </a:solidFill>
                <a:latin typeface="Archivo"/>
              </a:rPr>
              <a:t>NYT v. OpenAI</a:t>
            </a:r>
          </a:p>
        </p:txBody>
      </p:sp>
      <p:sp>
        <p:nvSpPr>
          <p:cNvPr id="40" name="Rectangle 39"/>
          <p:cNvSpPr/>
          <p:nvPr/>
        </p:nvSpPr>
        <p:spPr>
          <a:xfrm>
            <a:off x="3749040" y="3840480"/>
            <a:ext cx="219456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58768" y="3959352"/>
            <a:ext cx="1975104" cy="457200"/>
          </a:xfrm>
          <a:prstGeom prst="rect">
            <a:avLst/>
          </a:prstGeom>
          <a:noFill/>
        </p:spPr>
        <p:txBody>
          <a:bodyPr wrap="square" lIns="0" tIns="0" rIns="0" bIns="0" anchor="t">
            <a:spAutoFit/>
          </a:bodyPr>
          <a:lstStyle/>
          <a:p>
            <a:pPr algn="l"/>
            <a:r>
              <a:rPr sz="1200" b="0" i="0">
                <a:solidFill>
                  <a:srgbClr val="0A0A0A"/>
                </a:solidFill>
                <a:latin typeface="Archivo"/>
              </a:rPr>
              <a:t>OpenAI / MSFT</a:t>
            </a:r>
          </a:p>
        </p:txBody>
      </p:sp>
      <p:sp>
        <p:nvSpPr>
          <p:cNvPr id="42" name="Rectangle 41"/>
          <p:cNvSpPr/>
          <p:nvPr/>
        </p:nvSpPr>
        <p:spPr>
          <a:xfrm>
            <a:off x="5943600" y="3840480"/>
            <a:ext cx="256032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053328" y="3959352"/>
            <a:ext cx="2340864" cy="457200"/>
          </a:xfrm>
          <a:prstGeom prst="rect">
            <a:avLst/>
          </a:prstGeom>
          <a:noFill/>
        </p:spPr>
        <p:txBody>
          <a:bodyPr wrap="square" lIns="0" tIns="0" rIns="0" bIns="0" anchor="t">
            <a:spAutoFit/>
          </a:bodyPr>
          <a:lstStyle/>
          <a:p>
            <a:pPr algn="l"/>
            <a:r>
              <a:rPr sz="1200" b="0" i="0">
                <a:solidFill>
                  <a:srgbClr val="0A0A0A"/>
                </a:solidFill>
                <a:latin typeface="Archivo"/>
              </a:rPr>
              <a:t>MTD ruled · live</a:t>
            </a:r>
          </a:p>
        </p:txBody>
      </p:sp>
      <p:sp>
        <p:nvSpPr>
          <p:cNvPr id="44" name="Rectangle 43"/>
          <p:cNvSpPr/>
          <p:nvPr/>
        </p:nvSpPr>
        <p:spPr>
          <a:xfrm>
            <a:off x="8503920" y="3840480"/>
            <a:ext cx="320040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613648" y="3959352"/>
            <a:ext cx="2980944" cy="457200"/>
          </a:xfrm>
          <a:prstGeom prst="rect">
            <a:avLst/>
          </a:prstGeom>
          <a:noFill/>
        </p:spPr>
        <p:txBody>
          <a:bodyPr wrap="square" lIns="0" tIns="0" rIns="0" bIns="0" anchor="t">
            <a:spAutoFit/>
          </a:bodyPr>
          <a:lstStyle/>
          <a:p>
            <a:pPr algn="l"/>
            <a:r>
              <a:rPr sz="1200" b="0" i="0">
                <a:solidFill>
                  <a:srgbClr val="0A0A0A"/>
                </a:solidFill>
                <a:latin typeface="Archivo"/>
              </a:rPr>
              <a:t>$0.5B – $1.5B</a:t>
            </a:r>
          </a:p>
        </p:txBody>
      </p:sp>
      <p:sp>
        <p:nvSpPr>
          <p:cNvPr id="46" name="Rectangle 45"/>
          <p:cNvSpPr/>
          <p:nvPr/>
        </p:nvSpPr>
        <p:spPr>
          <a:xfrm>
            <a:off x="457200" y="4297680"/>
            <a:ext cx="329184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6928" y="4416552"/>
            <a:ext cx="3072384" cy="457200"/>
          </a:xfrm>
          <a:prstGeom prst="rect">
            <a:avLst/>
          </a:prstGeom>
          <a:noFill/>
        </p:spPr>
        <p:txBody>
          <a:bodyPr wrap="square" lIns="0" tIns="0" rIns="0" bIns="0" anchor="t">
            <a:spAutoFit/>
          </a:bodyPr>
          <a:lstStyle/>
          <a:p>
            <a:pPr algn="l"/>
            <a:r>
              <a:rPr sz="1200" b="1" i="0">
                <a:solidFill>
                  <a:srgbClr val="0A0A0A"/>
                </a:solidFill>
                <a:latin typeface="Archivo"/>
              </a:rPr>
              <a:t>Getty Images v. Stability</a:t>
            </a:r>
          </a:p>
        </p:txBody>
      </p:sp>
      <p:sp>
        <p:nvSpPr>
          <p:cNvPr id="48" name="Rectangle 47"/>
          <p:cNvSpPr/>
          <p:nvPr/>
        </p:nvSpPr>
        <p:spPr>
          <a:xfrm>
            <a:off x="3749040" y="4297680"/>
            <a:ext cx="219456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58768" y="4416552"/>
            <a:ext cx="1975104" cy="457200"/>
          </a:xfrm>
          <a:prstGeom prst="rect">
            <a:avLst/>
          </a:prstGeom>
          <a:noFill/>
        </p:spPr>
        <p:txBody>
          <a:bodyPr wrap="square" lIns="0" tIns="0" rIns="0" bIns="0" anchor="t">
            <a:spAutoFit/>
          </a:bodyPr>
          <a:lstStyle/>
          <a:p>
            <a:pPr algn="l"/>
            <a:r>
              <a:rPr sz="1200" b="0" i="0">
                <a:solidFill>
                  <a:srgbClr val="0A0A0A"/>
                </a:solidFill>
                <a:latin typeface="Archivo"/>
              </a:rPr>
              <a:t>Stability AI</a:t>
            </a:r>
          </a:p>
        </p:txBody>
      </p:sp>
      <p:sp>
        <p:nvSpPr>
          <p:cNvPr id="50" name="Rectangle 49"/>
          <p:cNvSpPr/>
          <p:nvPr/>
        </p:nvSpPr>
        <p:spPr>
          <a:xfrm>
            <a:off x="5943600" y="4297680"/>
            <a:ext cx="256032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53328" y="4416552"/>
            <a:ext cx="2340864" cy="457200"/>
          </a:xfrm>
          <a:prstGeom prst="rect">
            <a:avLst/>
          </a:prstGeom>
          <a:noFill/>
        </p:spPr>
        <p:txBody>
          <a:bodyPr wrap="square" lIns="0" tIns="0" rIns="0" bIns="0" anchor="t">
            <a:spAutoFit/>
          </a:bodyPr>
          <a:lstStyle/>
          <a:p>
            <a:pPr algn="l"/>
            <a:r>
              <a:rPr sz="1200" b="0" i="0">
                <a:solidFill>
                  <a:srgbClr val="0A0A0A"/>
                </a:solidFill>
                <a:latin typeface="Archivo"/>
              </a:rPr>
              <a:t>Trial set 2026 (UK)</a:t>
            </a:r>
          </a:p>
        </p:txBody>
      </p:sp>
      <p:sp>
        <p:nvSpPr>
          <p:cNvPr id="52" name="Rectangle 51"/>
          <p:cNvSpPr/>
          <p:nvPr/>
        </p:nvSpPr>
        <p:spPr>
          <a:xfrm>
            <a:off x="8503920" y="4297680"/>
            <a:ext cx="320040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613648" y="4416552"/>
            <a:ext cx="2980944" cy="457200"/>
          </a:xfrm>
          <a:prstGeom prst="rect">
            <a:avLst/>
          </a:prstGeom>
          <a:noFill/>
        </p:spPr>
        <p:txBody>
          <a:bodyPr wrap="square" lIns="0" tIns="0" rIns="0" bIns="0" anchor="t">
            <a:spAutoFit/>
          </a:bodyPr>
          <a:lstStyle/>
          <a:p>
            <a:pPr algn="l"/>
            <a:r>
              <a:rPr sz="1200" b="0" i="0">
                <a:solidFill>
                  <a:srgbClr val="0A0A0A"/>
                </a:solidFill>
                <a:latin typeface="Archivo"/>
              </a:rPr>
              <a:t>$0.3B – $0.8B</a:t>
            </a:r>
          </a:p>
        </p:txBody>
      </p:sp>
      <p:sp>
        <p:nvSpPr>
          <p:cNvPr id="54" name="Rectangle 53"/>
          <p:cNvSpPr/>
          <p:nvPr/>
        </p:nvSpPr>
        <p:spPr>
          <a:xfrm>
            <a:off x="457200" y="4754880"/>
            <a:ext cx="329184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66928" y="4873752"/>
            <a:ext cx="3072384" cy="457200"/>
          </a:xfrm>
          <a:prstGeom prst="rect">
            <a:avLst/>
          </a:prstGeom>
          <a:noFill/>
        </p:spPr>
        <p:txBody>
          <a:bodyPr wrap="square" lIns="0" tIns="0" rIns="0" bIns="0" anchor="t">
            <a:spAutoFit/>
          </a:bodyPr>
          <a:lstStyle/>
          <a:p>
            <a:pPr algn="l"/>
            <a:r>
              <a:rPr sz="1200" b="1" i="0">
                <a:solidFill>
                  <a:srgbClr val="0A0A0A"/>
                </a:solidFill>
                <a:latin typeface="Archivo"/>
              </a:rPr>
              <a:t>Concord Music v. Anthropic</a:t>
            </a:r>
          </a:p>
        </p:txBody>
      </p:sp>
      <p:sp>
        <p:nvSpPr>
          <p:cNvPr id="56" name="Rectangle 55"/>
          <p:cNvSpPr/>
          <p:nvPr/>
        </p:nvSpPr>
        <p:spPr>
          <a:xfrm>
            <a:off x="3749040" y="4754880"/>
            <a:ext cx="219456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858768" y="4873752"/>
            <a:ext cx="1975104" cy="457200"/>
          </a:xfrm>
          <a:prstGeom prst="rect">
            <a:avLst/>
          </a:prstGeom>
          <a:noFill/>
        </p:spPr>
        <p:txBody>
          <a:bodyPr wrap="square" lIns="0" tIns="0" rIns="0" bIns="0" anchor="t">
            <a:spAutoFit/>
          </a:bodyPr>
          <a:lstStyle/>
          <a:p>
            <a:pPr algn="l"/>
            <a:r>
              <a:rPr sz="1200" b="0" i="0">
                <a:solidFill>
                  <a:srgbClr val="0A0A0A"/>
                </a:solidFill>
                <a:latin typeface="Archivo"/>
              </a:rPr>
              <a:t>Anthropic</a:t>
            </a:r>
          </a:p>
        </p:txBody>
      </p:sp>
      <p:sp>
        <p:nvSpPr>
          <p:cNvPr id="58" name="Rectangle 57"/>
          <p:cNvSpPr/>
          <p:nvPr/>
        </p:nvSpPr>
        <p:spPr>
          <a:xfrm>
            <a:off x="5943600" y="4754880"/>
            <a:ext cx="256032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053328" y="4873752"/>
            <a:ext cx="2340864" cy="457200"/>
          </a:xfrm>
          <a:prstGeom prst="rect">
            <a:avLst/>
          </a:prstGeom>
          <a:noFill/>
        </p:spPr>
        <p:txBody>
          <a:bodyPr wrap="square" lIns="0" tIns="0" rIns="0" bIns="0" anchor="t">
            <a:spAutoFit/>
          </a:bodyPr>
          <a:lstStyle/>
          <a:p>
            <a:pPr algn="l"/>
            <a:r>
              <a:rPr sz="1200" b="0" i="0">
                <a:solidFill>
                  <a:srgbClr val="0A0A0A"/>
                </a:solidFill>
                <a:latin typeface="Archivo"/>
              </a:rPr>
              <a:t>Active (lyrics)</a:t>
            </a:r>
          </a:p>
        </p:txBody>
      </p:sp>
      <p:sp>
        <p:nvSpPr>
          <p:cNvPr id="60" name="Rectangle 59"/>
          <p:cNvSpPr/>
          <p:nvPr/>
        </p:nvSpPr>
        <p:spPr>
          <a:xfrm>
            <a:off x="8503920" y="4754880"/>
            <a:ext cx="3200400" cy="4572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613648" y="4873752"/>
            <a:ext cx="2980944" cy="457200"/>
          </a:xfrm>
          <a:prstGeom prst="rect">
            <a:avLst/>
          </a:prstGeom>
          <a:noFill/>
        </p:spPr>
        <p:txBody>
          <a:bodyPr wrap="square" lIns="0" tIns="0" rIns="0" bIns="0" anchor="t">
            <a:spAutoFit/>
          </a:bodyPr>
          <a:lstStyle/>
          <a:p>
            <a:pPr algn="l"/>
            <a:r>
              <a:rPr sz="1200" b="0" i="0">
                <a:solidFill>
                  <a:srgbClr val="0A0A0A"/>
                </a:solidFill>
                <a:latin typeface="Archivo"/>
              </a:rPr>
              <a:t>$0.2B – $0.5B</a:t>
            </a:r>
          </a:p>
        </p:txBody>
      </p:sp>
      <p:sp>
        <p:nvSpPr>
          <p:cNvPr id="62" name="Rectangle 61"/>
          <p:cNvSpPr/>
          <p:nvPr/>
        </p:nvSpPr>
        <p:spPr>
          <a:xfrm>
            <a:off x="457200" y="5212080"/>
            <a:ext cx="329184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66928" y="5330952"/>
            <a:ext cx="3072384" cy="457200"/>
          </a:xfrm>
          <a:prstGeom prst="rect">
            <a:avLst/>
          </a:prstGeom>
          <a:noFill/>
        </p:spPr>
        <p:txBody>
          <a:bodyPr wrap="square" lIns="0" tIns="0" rIns="0" bIns="0" anchor="t">
            <a:spAutoFit/>
          </a:bodyPr>
          <a:lstStyle/>
          <a:p>
            <a:pPr algn="l"/>
            <a:r>
              <a:rPr sz="1200" b="1" i="0" dirty="0">
                <a:solidFill>
                  <a:srgbClr val="0A0A0A"/>
                </a:solidFill>
                <a:latin typeface="Archivo"/>
              </a:rPr>
              <a:t>Tremblay / Silverman / Chabon</a:t>
            </a:r>
          </a:p>
        </p:txBody>
      </p:sp>
      <p:sp>
        <p:nvSpPr>
          <p:cNvPr id="64" name="Rectangle 63"/>
          <p:cNvSpPr/>
          <p:nvPr/>
        </p:nvSpPr>
        <p:spPr>
          <a:xfrm>
            <a:off x="3749040" y="5212080"/>
            <a:ext cx="219456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58768" y="5330952"/>
            <a:ext cx="1975104" cy="457200"/>
          </a:xfrm>
          <a:prstGeom prst="rect">
            <a:avLst/>
          </a:prstGeom>
          <a:noFill/>
        </p:spPr>
        <p:txBody>
          <a:bodyPr wrap="square" lIns="0" tIns="0" rIns="0" bIns="0" anchor="t">
            <a:spAutoFit/>
          </a:bodyPr>
          <a:lstStyle/>
          <a:p>
            <a:pPr algn="l"/>
            <a:r>
              <a:rPr sz="1200" b="0" i="0">
                <a:solidFill>
                  <a:srgbClr val="0A0A0A"/>
                </a:solidFill>
                <a:latin typeface="Archivo"/>
              </a:rPr>
              <a:t>OpenAI</a:t>
            </a:r>
          </a:p>
        </p:txBody>
      </p:sp>
      <p:sp>
        <p:nvSpPr>
          <p:cNvPr id="66" name="Rectangle 65"/>
          <p:cNvSpPr/>
          <p:nvPr/>
        </p:nvSpPr>
        <p:spPr>
          <a:xfrm>
            <a:off x="5943600" y="5212080"/>
            <a:ext cx="256032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053328" y="5330952"/>
            <a:ext cx="2340864" cy="457200"/>
          </a:xfrm>
          <a:prstGeom prst="rect">
            <a:avLst/>
          </a:prstGeom>
          <a:noFill/>
        </p:spPr>
        <p:txBody>
          <a:bodyPr wrap="square" lIns="0" tIns="0" rIns="0" bIns="0" anchor="t">
            <a:spAutoFit/>
          </a:bodyPr>
          <a:lstStyle/>
          <a:p>
            <a:pPr algn="l"/>
            <a:r>
              <a:rPr sz="1200" b="0" i="0">
                <a:solidFill>
                  <a:srgbClr val="0A0A0A"/>
                </a:solidFill>
                <a:latin typeface="Archivo"/>
              </a:rPr>
              <a:t>Consolidated</a:t>
            </a:r>
          </a:p>
        </p:txBody>
      </p:sp>
      <p:sp>
        <p:nvSpPr>
          <p:cNvPr id="68" name="Rectangle 67"/>
          <p:cNvSpPr/>
          <p:nvPr/>
        </p:nvSpPr>
        <p:spPr>
          <a:xfrm>
            <a:off x="8503920" y="5212080"/>
            <a:ext cx="3200400" cy="45720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613648" y="5330952"/>
            <a:ext cx="2980944" cy="457200"/>
          </a:xfrm>
          <a:prstGeom prst="rect">
            <a:avLst/>
          </a:prstGeom>
          <a:noFill/>
        </p:spPr>
        <p:txBody>
          <a:bodyPr wrap="square" lIns="0" tIns="0" rIns="0" bIns="0" anchor="t">
            <a:spAutoFit/>
          </a:bodyPr>
          <a:lstStyle/>
          <a:p>
            <a:pPr algn="l"/>
            <a:r>
              <a:rPr sz="1200" b="0" i="0" dirty="0">
                <a:solidFill>
                  <a:srgbClr val="0A0A0A"/>
                </a:solidFill>
                <a:latin typeface="Archivo"/>
              </a:rPr>
              <a:t>Folded into Authors Guild</a:t>
            </a:r>
          </a:p>
        </p:txBody>
      </p:sp>
      <p:sp>
        <p:nvSpPr>
          <p:cNvPr id="71" name="TextBox 70"/>
          <p:cNvSpPr txBox="1"/>
          <p:nvPr/>
        </p:nvSpPr>
        <p:spPr>
          <a:xfrm>
            <a:off x="457200" y="6355080"/>
            <a:ext cx="7772400" cy="274320"/>
          </a:xfrm>
          <a:prstGeom prst="rect">
            <a:avLst/>
          </a:prstGeom>
          <a:noFill/>
        </p:spPr>
        <p:txBody>
          <a:bodyPr wrap="square" lIns="0" tIns="0" rIns="0" bIns="0" anchor="t">
            <a:spAutoFit/>
          </a:bodyPr>
          <a:lstStyle/>
          <a:p>
            <a:pPr algn="l"/>
            <a:r>
              <a:rPr sz="900" b="0" i="1" dirty="0">
                <a:solidFill>
                  <a:srgbClr val="999999"/>
                </a:solidFill>
                <a:latin typeface="Archivo"/>
              </a:rPr>
              <a:t>Source: AI IP Litigation Tracker, March 2026. Exposure ranges reflect Turnpage internal modeling, not settlement amounts.</a:t>
            </a:r>
          </a:p>
        </p:txBody>
      </p:sp>
      <p:sp>
        <p:nvSpPr>
          <p:cNvPr id="73" name="TextBox 72"/>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04 /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STRATEGY</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400" b="1" i="0" spc="-30">
                <a:solidFill>
                  <a:srgbClr val="0A0A0A"/>
                </a:solidFill>
                <a:latin typeface="Archivo"/>
              </a:rPr>
              <a:t>Two ways to make the same trade work.</a:t>
            </a:r>
          </a:p>
        </p:txBody>
      </p:sp>
      <p:sp>
        <p:nvSpPr>
          <p:cNvPr id="6" name="Rectangle 5"/>
          <p:cNvSpPr/>
          <p:nvPr/>
        </p:nvSpPr>
        <p:spPr>
          <a:xfrm>
            <a:off x="457200" y="2103120"/>
            <a:ext cx="5486400" cy="402336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03120"/>
            <a:ext cx="5486400" cy="7315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423160"/>
            <a:ext cx="4572000" cy="274320"/>
          </a:xfrm>
          <a:prstGeom prst="rect">
            <a:avLst/>
          </a:prstGeom>
          <a:noFill/>
        </p:spPr>
        <p:txBody>
          <a:bodyPr wrap="square" lIns="0" tIns="0" rIns="0" bIns="0" anchor="t">
            <a:spAutoFit/>
          </a:bodyPr>
          <a:lstStyle/>
          <a:p>
            <a:pPr algn="l"/>
            <a:r>
              <a:rPr sz="1100" b="1" i="0" spc="240">
                <a:solidFill>
                  <a:srgbClr val="6A6A6A"/>
                </a:solidFill>
                <a:latin typeface="Archivo"/>
              </a:rPr>
              <a:t>PRONG 1 · 75% OF FUND</a:t>
            </a:r>
          </a:p>
        </p:txBody>
      </p:sp>
      <p:sp>
        <p:nvSpPr>
          <p:cNvPr id="9" name="TextBox 8"/>
          <p:cNvSpPr txBox="1"/>
          <p:nvPr/>
        </p:nvSpPr>
        <p:spPr>
          <a:xfrm>
            <a:off x="777240" y="2788920"/>
            <a:ext cx="4846320" cy="640080"/>
          </a:xfrm>
          <a:prstGeom prst="rect">
            <a:avLst/>
          </a:prstGeom>
          <a:noFill/>
        </p:spPr>
        <p:txBody>
          <a:bodyPr wrap="square" lIns="0" tIns="0" rIns="0" bIns="0" anchor="t">
            <a:spAutoFit/>
          </a:bodyPr>
          <a:lstStyle/>
          <a:p>
            <a:pPr algn="l"/>
            <a:r>
              <a:rPr sz="2600" b="1" i="0" spc="-15">
                <a:solidFill>
                  <a:srgbClr val="0A0A0A"/>
                </a:solidFill>
                <a:latin typeface="Archivo"/>
              </a:rPr>
              <a:t>Claims acquisition</a:t>
            </a:r>
          </a:p>
        </p:txBody>
      </p:sp>
      <p:sp>
        <p:nvSpPr>
          <p:cNvPr id="10" name="TextBox 9"/>
          <p:cNvSpPr txBox="1"/>
          <p:nvPr/>
        </p:nvSpPr>
        <p:spPr>
          <a:xfrm>
            <a:off x="777240" y="3474720"/>
            <a:ext cx="4846320" cy="822960"/>
          </a:xfrm>
          <a:prstGeom prst="rect">
            <a:avLst/>
          </a:prstGeom>
          <a:noFill/>
        </p:spPr>
        <p:txBody>
          <a:bodyPr wrap="square" lIns="0" tIns="0" rIns="0" bIns="0" anchor="t">
            <a:spAutoFit/>
          </a:bodyPr>
          <a:lstStyle/>
          <a:p>
            <a:pPr algn="l"/>
            <a:r>
              <a:rPr sz="1400" b="0" i="0">
                <a:solidFill>
                  <a:srgbClr val="0A0A0A"/>
                </a:solidFill>
                <a:latin typeface="Archivo"/>
              </a:rPr>
              <a:t>Buy filed claims from publishers and authors at 65–70% of estimated allocation. Hold to distribution.</a:t>
            </a:r>
          </a:p>
        </p:txBody>
      </p:sp>
      <p:sp>
        <p:nvSpPr>
          <p:cNvPr id="11" name="TextBox 10"/>
          <p:cNvSpPr txBox="1"/>
          <p:nvPr/>
        </p:nvSpPr>
        <p:spPr>
          <a:xfrm>
            <a:off x="777240" y="4434840"/>
            <a:ext cx="4846320" cy="2286000"/>
          </a:xfrm>
          <a:prstGeom prst="rect">
            <a:avLst/>
          </a:prstGeom>
          <a:noFill/>
        </p:spPr>
        <p:txBody>
          <a:bodyPr wrap="square" lIns="0" tIns="0" rIns="0" bIns="0" anchor="t">
            <a:spAutoFit/>
          </a:bodyPr>
          <a:lstStyle/>
          <a:p>
            <a:pPr algn="l">
              <a:spcAft>
                <a:spcPts val="600"/>
              </a:spcAft>
            </a:pPr>
            <a:r>
              <a:rPr sz="1200" b="0" i="0">
                <a:solidFill>
                  <a:srgbClr val="6A6A6A"/>
                </a:solidFill>
                <a:latin typeface="Archivo"/>
              </a:rPr>
              <a:t>$22.5M target allocation · ~13,500 publisher claims, ~27,000 author claims</a:t>
            </a:r>
          </a:p>
          <a:p>
            <a:pPr algn="l">
              <a:spcAft>
                <a:spcPts val="600"/>
              </a:spcAft>
            </a:pPr>
            <a:r>
              <a:rPr sz="1200" b="0" i="0">
                <a:solidFill>
                  <a:srgbClr val="6A6A6A"/>
                </a:solidFill>
                <a:latin typeface="Archivo"/>
              </a:rPr>
              <a:t>Per-claim: $1,656 in → $3,331 out → 2.01x</a:t>
            </a:r>
          </a:p>
          <a:p>
            <a:pPr algn="l">
              <a:spcAft>
                <a:spcPts val="600"/>
              </a:spcAft>
            </a:pPr>
            <a:r>
              <a:rPr sz="1200" b="0" i="0">
                <a:solidFill>
                  <a:srgbClr val="6A6A6A"/>
                </a:solidFill>
                <a:latin typeface="Archivo"/>
              </a:rPr>
              <a:t>Hold: ~22 months · IRR ~38.7%</a:t>
            </a:r>
          </a:p>
          <a:p>
            <a:pPr algn="l">
              <a:spcAft>
                <a:spcPts val="600"/>
              </a:spcAft>
            </a:pPr>
            <a:r>
              <a:rPr sz="1200" b="0" i="0">
                <a:solidFill>
                  <a:srgbClr val="6A6A6A"/>
                </a:solidFill>
                <a:latin typeface="Archivo"/>
              </a:rPr>
              <a:t>Starts with Bartz v. Anthropic; rolls into Kadrey, Authors Guild, NYT settlements as they close</a:t>
            </a:r>
          </a:p>
        </p:txBody>
      </p:sp>
      <p:sp>
        <p:nvSpPr>
          <p:cNvPr id="12" name="Rectangle 11"/>
          <p:cNvSpPr/>
          <p:nvPr/>
        </p:nvSpPr>
        <p:spPr>
          <a:xfrm>
            <a:off x="6217920" y="2103120"/>
            <a:ext cx="5486400" cy="4023360"/>
          </a:xfrm>
          <a:prstGeom prst="rect">
            <a:avLst/>
          </a:prstGeom>
          <a:solidFill>
            <a:srgbClr val="0A0A0A"/>
          </a:solidFill>
          <a:ln w="952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2103120"/>
            <a:ext cx="5486400" cy="73152"/>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2423160"/>
            <a:ext cx="4572000" cy="274320"/>
          </a:xfrm>
          <a:prstGeom prst="rect">
            <a:avLst/>
          </a:prstGeom>
          <a:noFill/>
        </p:spPr>
        <p:txBody>
          <a:bodyPr wrap="square" lIns="0" tIns="0" rIns="0" bIns="0" anchor="t">
            <a:spAutoFit/>
          </a:bodyPr>
          <a:lstStyle/>
          <a:p>
            <a:pPr algn="l"/>
            <a:r>
              <a:rPr sz="1100" b="1" i="0" spc="240">
                <a:solidFill>
                  <a:srgbClr val="C0C0C0"/>
                </a:solidFill>
                <a:latin typeface="Archivo"/>
              </a:rPr>
              <a:t>PRONG 2 · 25% OF FUND</a:t>
            </a:r>
          </a:p>
        </p:txBody>
      </p:sp>
      <p:sp>
        <p:nvSpPr>
          <p:cNvPr id="15" name="TextBox 14"/>
          <p:cNvSpPr txBox="1"/>
          <p:nvPr/>
        </p:nvSpPr>
        <p:spPr>
          <a:xfrm>
            <a:off x="6537960" y="2788920"/>
            <a:ext cx="4846320" cy="640080"/>
          </a:xfrm>
          <a:prstGeom prst="rect">
            <a:avLst/>
          </a:prstGeom>
          <a:noFill/>
        </p:spPr>
        <p:txBody>
          <a:bodyPr wrap="square" lIns="0" tIns="0" rIns="0" bIns="0" anchor="t">
            <a:spAutoFit/>
          </a:bodyPr>
          <a:lstStyle/>
          <a:p>
            <a:pPr algn="l"/>
            <a:r>
              <a:rPr sz="2600" b="1" i="0" spc="-15">
                <a:solidFill>
                  <a:srgbClr val="FFFFFF"/>
                </a:solidFill>
                <a:latin typeface="Archivo"/>
              </a:rPr>
              <a:t>Legal challenges</a:t>
            </a:r>
          </a:p>
        </p:txBody>
      </p:sp>
      <p:sp>
        <p:nvSpPr>
          <p:cNvPr id="16" name="TextBox 15"/>
          <p:cNvSpPr txBox="1"/>
          <p:nvPr/>
        </p:nvSpPr>
        <p:spPr>
          <a:xfrm>
            <a:off x="6537960" y="3474720"/>
            <a:ext cx="4846320" cy="822960"/>
          </a:xfrm>
          <a:prstGeom prst="rect">
            <a:avLst/>
          </a:prstGeom>
          <a:noFill/>
        </p:spPr>
        <p:txBody>
          <a:bodyPr wrap="square" lIns="0" tIns="0" rIns="0" bIns="0" anchor="t">
            <a:spAutoFit/>
          </a:bodyPr>
          <a:lstStyle/>
          <a:p>
            <a:pPr algn="l"/>
            <a:r>
              <a:rPr sz="1400" b="0" i="0">
                <a:solidFill>
                  <a:srgbClr val="E0E0E0"/>
                </a:solidFill>
                <a:latin typeface="Archivo"/>
              </a:rPr>
              <a:t>Underwrite plaintiff-side litigation costs in the next generation of LLM copyright cases, in exchange for a share of any recovery.</a:t>
            </a:r>
          </a:p>
        </p:txBody>
      </p:sp>
      <p:sp>
        <p:nvSpPr>
          <p:cNvPr id="17" name="TextBox 16"/>
          <p:cNvSpPr txBox="1"/>
          <p:nvPr/>
        </p:nvSpPr>
        <p:spPr>
          <a:xfrm>
            <a:off x="6537960" y="4434840"/>
            <a:ext cx="4846320" cy="2286000"/>
          </a:xfrm>
          <a:prstGeom prst="rect">
            <a:avLst/>
          </a:prstGeom>
          <a:noFill/>
        </p:spPr>
        <p:txBody>
          <a:bodyPr wrap="square" lIns="0" tIns="0" rIns="0" bIns="0" anchor="t">
            <a:spAutoFit/>
          </a:bodyPr>
          <a:lstStyle/>
          <a:p>
            <a:pPr algn="l">
              <a:spcAft>
                <a:spcPts val="600"/>
              </a:spcAft>
            </a:pPr>
            <a:r>
              <a:rPr sz="1200" b="0" i="0">
                <a:solidFill>
                  <a:srgbClr val="C0C0C0"/>
                </a:solidFill>
                <a:latin typeface="Archivo"/>
              </a:rPr>
              <a:t>$7.5M target allocation · 3–5 funded matters</a:t>
            </a:r>
          </a:p>
          <a:p>
            <a:pPr algn="l">
              <a:spcAft>
                <a:spcPts val="600"/>
              </a:spcAft>
            </a:pPr>
            <a:r>
              <a:rPr sz="1200" b="0" i="0">
                <a:solidFill>
                  <a:srgbClr val="C0C0C0"/>
                </a:solidFill>
                <a:latin typeface="Archivo"/>
              </a:rPr>
              <a:t>Funding: discovery, expert witnesses, class certification briefing</a:t>
            </a:r>
          </a:p>
          <a:p>
            <a:pPr algn="l">
              <a:spcAft>
                <a:spcPts val="600"/>
              </a:spcAft>
            </a:pPr>
            <a:r>
              <a:rPr sz="1200" b="0" i="0">
                <a:solidFill>
                  <a:srgbClr val="C0C0C0"/>
                </a:solidFill>
                <a:latin typeface="Archivo"/>
              </a:rPr>
              <a:t>Economics: 3.0–5.0x MOIC on funded principal, payable from recovery only</a:t>
            </a:r>
          </a:p>
          <a:p>
            <a:pPr algn="l">
              <a:spcAft>
                <a:spcPts val="600"/>
              </a:spcAft>
            </a:pPr>
            <a:r>
              <a:rPr sz="1200" b="0" i="0">
                <a:solidFill>
                  <a:srgbClr val="C0C0C0"/>
                </a:solidFill>
                <a:latin typeface="Archivo"/>
              </a:rPr>
              <a:t>Sourced from outside firms already on adjacent dockets (Hagens Berman, Susman Godfrey, Cooley)</a:t>
            </a:r>
          </a:p>
        </p:txBody>
      </p:sp>
      <p:sp>
        <p:nvSpPr>
          <p:cNvPr id="18" name="TextBox 17"/>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19" name="TextBox 18"/>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05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169277"/>
          </a:xfrm>
          <a:prstGeom prst="rect">
            <a:avLst/>
          </a:prstGeom>
          <a:noFill/>
        </p:spPr>
        <p:txBody>
          <a:bodyPr wrap="square" lIns="0" tIns="0" rIns="0" bIns="0" anchor="t">
            <a:spAutoFit/>
          </a:bodyPr>
          <a:lstStyle/>
          <a:p>
            <a:pPr algn="l"/>
            <a:r>
              <a:rPr lang="en-US" sz="1100" b="1" i="0" spc="240" dirty="0">
                <a:solidFill>
                  <a:srgbClr val="0A0A0A"/>
                </a:solidFill>
                <a:latin typeface="Archivo"/>
              </a:rPr>
              <a:t>STRATEGY</a:t>
            </a:r>
            <a:endParaRPr sz="1100" b="1" i="0" spc="240" dirty="0">
              <a:solidFill>
                <a:srgbClr val="0A0A0A"/>
              </a:solidFill>
              <a:latin typeface="Archivo"/>
            </a:endParaRP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200" b="1" i="0" spc="-30">
                <a:solidFill>
                  <a:srgbClr val="0A0A0A"/>
                </a:solidFill>
                <a:latin typeface="Archivo"/>
              </a:rPr>
              <a:t>Claims acquisition, mechanically.</a:t>
            </a:r>
          </a:p>
        </p:txBody>
      </p:sp>
      <p:sp>
        <p:nvSpPr>
          <p:cNvPr id="6" name="Rectangle 5"/>
          <p:cNvSpPr/>
          <p:nvPr/>
        </p:nvSpPr>
        <p:spPr>
          <a:xfrm>
            <a:off x="457200" y="4709160"/>
            <a:ext cx="11247120" cy="36576"/>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2011680"/>
            <a:ext cx="2537460" cy="411480"/>
          </a:xfrm>
          <a:prstGeom prst="rect">
            <a:avLst/>
          </a:prstGeom>
          <a:noFill/>
        </p:spPr>
        <p:txBody>
          <a:bodyPr wrap="square" lIns="0" tIns="0" rIns="0" bIns="0" anchor="t">
            <a:spAutoFit/>
          </a:bodyPr>
          <a:lstStyle/>
          <a:p>
            <a:pPr algn="l"/>
            <a:r>
              <a:rPr sz="1400" b="1" i="0" spc="300">
                <a:solidFill>
                  <a:srgbClr val="0A0A0A"/>
                </a:solidFill>
                <a:latin typeface="Archivo"/>
              </a:rPr>
              <a:t>PARTNER</a:t>
            </a:r>
          </a:p>
        </p:txBody>
      </p:sp>
      <p:sp>
        <p:nvSpPr>
          <p:cNvPr id="8" name="TextBox 7"/>
          <p:cNvSpPr txBox="1"/>
          <p:nvPr/>
        </p:nvSpPr>
        <p:spPr>
          <a:xfrm>
            <a:off x="457200" y="2651760"/>
            <a:ext cx="2537460" cy="457200"/>
          </a:xfrm>
          <a:prstGeom prst="rect">
            <a:avLst/>
          </a:prstGeom>
          <a:noFill/>
        </p:spPr>
        <p:txBody>
          <a:bodyPr wrap="square" lIns="0" tIns="0" rIns="0" bIns="0" anchor="t">
            <a:spAutoFit/>
          </a:bodyPr>
          <a:lstStyle/>
          <a:p>
            <a:pPr algn="l"/>
            <a:r>
              <a:rPr sz="1100" b="0" i="0">
                <a:solidFill>
                  <a:srgbClr val="6A6A6A"/>
                </a:solidFill>
                <a:latin typeface="Archivo"/>
              </a:rPr>
              <a:t>•  Identify top publishers + authors</a:t>
            </a:r>
          </a:p>
        </p:txBody>
      </p:sp>
      <p:sp>
        <p:nvSpPr>
          <p:cNvPr id="9" name="TextBox 8"/>
          <p:cNvSpPr txBox="1"/>
          <p:nvPr/>
        </p:nvSpPr>
        <p:spPr>
          <a:xfrm>
            <a:off x="457200" y="3108960"/>
            <a:ext cx="2537460" cy="457200"/>
          </a:xfrm>
          <a:prstGeom prst="rect">
            <a:avLst/>
          </a:prstGeom>
          <a:noFill/>
        </p:spPr>
        <p:txBody>
          <a:bodyPr wrap="square" lIns="0" tIns="0" rIns="0" bIns="0" anchor="t">
            <a:spAutoFit/>
          </a:bodyPr>
          <a:lstStyle/>
          <a:p>
            <a:pPr algn="l"/>
            <a:r>
              <a:rPr sz="1100" b="0" i="0">
                <a:solidFill>
                  <a:srgbClr val="6A6A6A"/>
                </a:solidFill>
                <a:latin typeface="Archivo"/>
              </a:rPr>
              <a:t>•  Build relationships at GC / CFO level</a:t>
            </a:r>
          </a:p>
        </p:txBody>
      </p:sp>
      <p:sp>
        <p:nvSpPr>
          <p:cNvPr id="10" name="TextBox 9"/>
          <p:cNvSpPr txBox="1"/>
          <p:nvPr/>
        </p:nvSpPr>
        <p:spPr>
          <a:xfrm>
            <a:off x="457200" y="3566160"/>
            <a:ext cx="2537460" cy="457200"/>
          </a:xfrm>
          <a:prstGeom prst="rect">
            <a:avLst/>
          </a:prstGeom>
          <a:noFill/>
        </p:spPr>
        <p:txBody>
          <a:bodyPr wrap="square" lIns="0" tIns="0" rIns="0" bIns="0" anchor="t">
            <a:spAutoFit/>
          </a:bodyPr>
          <a:lstStyle/>
          <a:p>
            <a:pPr algn="l"/>
            <a:r>
              <a:rPr sz="1100" b="0" i="0">
                <a:solidFill>
                  <a:srgbClr val="6A6A6A"/>
                </a:solidFill>
                <a:latin typeface="Archivo"/>
              </a:rPr>
              <a:t>•  Co-brand the offering</a:t>
            </a:r>
          </a:p>
        </p:txBody>
      </p:sp>
      <p:sp>
        <p:nvSpPr>
          <p:cNvPr id="11" name="TextBox 10"/>
          <p:cNvSpPr txBox="1"/>
          <p:nvPr/>
        </p:nvSpPr>
        <p:spPr>
          <a:xfrm>
            <a:off x="2994660" y="2029968"/>
            <a:ext cx="365760" cy="457200"/>
          </a:xfrm>
          <a:prstGeom prst="rect">
            <a:avLst/>
          </a:prstGeom>
          <a:noFill/>
        </p:spPr>
        <p:txBody>
          <a:bodyPr wrap="square" lIns="0" tIns="0" rIns="0" bIns="0" anchor="t">
            <a:spAutoFit/>
          </a:bodyPr>
          <a:lstStyle/>
          <a:p>
            <a:pPr algn="ctr"/>
            <a:r>
              <a:rPr sz="2200" b="0" i="0">
                <a:solidFill>
                  <a:srgbClr val="999999"/>
                </a:solidFill>
                <a:latin typeface="Archivo"/>
              </a:rPr>
              <a:t>→</a:t>
            </a:r>
          </a:p>
        </p:txBody>
      </p:sp>
      <p:sp>
        <p:nvSpPr>
          <p:cNvPr id="12" name="TextBox 11"/>
          <p:cNvSpPr txBox="1"/>
          <p:nvPr/>
        </p:nvSpPr>
        <p:spPr>
          <a:xfrm>
            <a:off x="3360420" y="2011680"/>
            <a:ext cx="2537460" cy="411480"/>
          </a:xfrm>
          <a:prstGeom prst="rect">
            <a:avLst/>
          </a:prstGeom>
          <a:noFill/>
        </p:spPr>
        <p:txBody>
          <a:bodyPr wrap="square" lIns="0" tIns="0" rIns="0" bIns="0" anchor="t">
            <a:spAutoFit/>
          </a:bodyPr>
          <a:lstStyle/>
          <a:p>
            <a:pPr algn="l"/>
            <a:r>
              <a:rPr sz="1400" b="1" i="0" spc="300">
                <a:solidFill>
                  <a:srgbClr val="0A0A0A"/>
                </a:solidFill>
                <a:latin typeface="Archivo"/>
              </a:rPr>
              <a:t>PREPARE</a:t>
            </a:r>
          </a:p>
        </p:txBody>
      </p:sp>
      <p:sp>
        <p:nvSpPr>
          <p:cNvPr id="13" name="TextBox 12"/>
          <p:cNvSpPr txBox="1"/>
          <p:nvPr/>
        </p:nvSpPr>
        <p:spPr>
          <a:xfrm>
            <a:off x="3360420" y="2651760"/>
            <a:ext cx="2537460" cy="457200"/>
          </a:xfrm>
          <a:prstGeom prst="rect">
            <a:avLst/>
          </a:prstGeom>
          <a:noFill/>
        </p:spPr>
        <p:txBody>
          <a:bodyPr wrap="square" lIns="0" tIns="0" rIns="0" bIns="0" anchor="t">
            <a:spAutoFit/>
          </a:bodyPr>
          <a:lstStyle/>
          <a:p>
            <a:pPr algn="l"/>
            <a:r>
              <a:rPr sz="1100" b="0" i="0">
                <a:solidFill>
                  <a:srgbClr val="6A6A6A"/>
                </a:solidFill>
                <a:latin typeface="Archivo"/>
              </a:rPr>
              <a:t>•  Match works to claim forms (LLM-driven)</a:t>
            </a:r>
          </a:p>
        </p:txBody>
      </p:sp>
      <p:sp>
        <p:nvSpPr>
          <p:cNvPr id="14" name="TextBox 13"/>
          <p:cNvSpPr txBox="1"/>
          <p:nvPr/>
        </p:nvSpPr>
        <p:spPr>
          <a:xfrm>
            <a:off x="3360420" y="3108960"/>
            <a:ext cx="2537460" cy="457200"/>
          </a:xfrm>
          <a:prstGeom prst="rect">
            <a:avLst/>
          </a:prstGeom>
          <a:noFill/>
        </p:spPr>
        <p:txBody>
          <a:bodyPr wrap="square" lIns="0" tIns="0" rIns="0" bIns="0" anchor="t">
            <a:spAutoFit/>
          </a:bodyPr>
          <a:lstStyle/>
          <a:p>
            <a:pPr algn="l"/>
            <a:r>
              <a:rPr sz="1100" b="0" i="0">
                <a:solidFill>
                  <a:srgbClr val="6A6A6A"/>
                </a:solidFill>
                <a:latin typeface="Archivo"/>
              </a:rPr>
              <a:t>•  Conflict + opt-out screening</a:t>
            </a:r>
          </a:p>
        </p:txBody>
      </p:sp>
      <p:sp>
        <p:nvSpPr>
          <p:cNvPr id="15" name="TextBox 14"/>
          <p:cNvSpPr txBox="1"/>
          <p:nvPr/>
        </p:nvSpPr>
        <p:spPr>
          <a:xfrm>
            <a:off x="3360420" y="3566160"/>
            <a:ext cx="2537460" cy="457200"/>
          </a:xfrm>
          <a:prstGeom prst="rect">
            <a:avLst/>
          </a:prstGeom>
          <a:noFill/>
        </p:spPr>
        <p:txBody>
          <a:bodyPr wrap="square" lIns="0" tIns="0" rIns="0" bIns="0" anchor="t">
            <a:spAutoFit/>
          </a:bodyPr>
          <a:lstStyle/>
          <a:p>
            <a:pPr algn="l"/>
            <a:r>
              <a:rPr sz="1100" b="0" i="0">
                <a:solidFill>
                  <a:srgbClr val="6A6A6A"/>
                </a:solidFill>
                <a:latin typeface="Archivo"/>
              </a:rPr>
              <a:t>•  Standardized Trade Confirm + assignment</a:t>
            </a:r>
          </a:p>
        </p:txBody>
      </p:sp>
      <p:sp>
        <p:nvSpPr>
          <p:cNvPr id="16" name="TextBox 15"/>
          <p:cNvSpPr txBox="1"/>
          <p:nvPr/>
        </p:nvSpPr>
        <p:spPr>
          <a:xfrm>
            <a:off x="5897880" y="2029968"/>
            <a:ext cx="365760" cy="457200"/>
          </a:xfrm>
          <a:prstGeom prst="rect">
            <a:avLst/>
          </a:prstGeom>
          <a:noFill/>
        </p:spPr>
        <p:txBody>
          <a:bodyPr wrap="square" lIns="0" tIns="0" rIns="0" bIns="0" anchor="t">
            <a:spAutoFit/>
          </a:bodyPr>
          <a:lstStyle/>
          <a:p>
            <a:pPr algn="ctr"/>
            <a:r>
              <a:rPr sz="2200" b="0" i="0">
                <a:solidFill>
                  <a:srgbClr val="999999"/>
                </a:solidFill>
                <a:latin typeface="Archivo"/>
              </a:rPr>
              <a:t>→</a:t>
            </a:r>
          </a:p>
        </p:txBody>
      </p:sp>
      <p:sp>
        <p:nvSpPr>
          <p:cNvPr id="17" name="TextBox 16"/>
          <p:cNvSpPr txBox="1"/>
          <p:nvPr/>
        </p:nvSpPr>
        <p:spPr>
          <a:xfrm>
            <a:off x="6263640" y="2011680"/>
            <a:ext cx="2537460" cy="411480"/>
          </a:xfrm>
          <a:prstGeom prst="rect">
            <a:avLst/>
          </a:prstGeom>
          <a:noFill/>
        </p:spPr>
        <p:txBody>
          <a:bodyPr wrap="square" lIns="0" tIns="0" rIns="0" bIns="0" anchor="t">
            <a:spAutoFit/>
          </a:bodyPr>
          <a:lstStyle/>
          <a:p>
            <a:pPr algn="l"/>
            <a:r>
              <a:rPr sz="1400" b="1" i="0" spc="300">
                <a:solidFill>
                  <a:srgbClr val="0A0A0A"/>
                </a:solidFill>
                <a:latin typeface="Archivo"/>
              </a:rPr>
              <a:t>SOLICIT</a:t>
            </a:r>
          </a:p>
        </p:txBody>
      </p:sp>
      <p:sp>
        <p:nvSpPr>
          <p:cNvPr id="18" name="TextBox 17"/>
          <p:cNvSpPr txBox="1"/>
          <p:nvPr/>
        </p:nvSpPr>
        <p:spPr>
          <a:xfrm>
            <a:off x="6263640" y="2651760"/>
            <a:ext cx="2537460" cy="457200"/>
          </a:xfrm>
          <a:prstGeom prst="rect">
            <a:avLst/>
          </a:prstGeom>
          <a:noFill/>
        </p:spPr>
        <p:txBody>
          <a:bodyPr wrap="square" lIns="0" tIns="0" rIns="0" bIns="0" anchor="t">
            <a:spAutoFit/>
          </a:bodyPr>
          <a:lstStyle/>
          <a:p>
            <a:pPr algn="l"/>
            <a:r>
              <a:rPr sz="1100" b="0" i="0">
                <a:solidFill>
                  <a:srgbClr val="6A6A6A"/>
                </a:solidFill>
                <a:latin typeface="Archivo"/>
              </a:rPr>
              <a:t>•  Direct outreach to rights holders</a:t>
            </a:r>
          </a:p>
        </p:txBody>
      </p:sp>
      <p:sp>
        <p:nvSpPr>
          <p:cNvPr id="19" name="TextBox 18"/>
          <p:cNvSpPr txBox="1"/>
          <p:nvPr/>
        </p:nvSpPr>
        <p:spPr>
          <a:xfrm>
            <a:off x="6263640" y="3108960"/>
            <a:ext cx="2537460" cy="457200"/>
          </a:xfrm>
          <a:prstGeom prst="rect">
            <a:avLst/>
          </a:prstGeom>
          <a:noFill/>
        </p:spPr>
        <p:txBody>
          <a:bodyPr wrap="square" lIns="0" tIns="0" rIns="0" bIns="0" anchor="t">
            <a:spAutoFit/>
          </a:bodyPr>
          <a:lstStyle/>
          <a:p>
            <a:pPr algn="l"/>
            <a:r>
              <a:rPr sz="1100" b="0" i="0">
                <a:solidFill>
                  <a:srgbClr val="6A6A6A"/>
                </a:solidFill>
                <a:latin typeface="Archivo"/>
              </a:rPr>
              <a:t>•  Joint publisher-author channels</a:t>
            </a:r>
          </a:p>
        </p:txBody>
      </p:sp>
      <p:sp>
        <p:nvSpPr>
          <p:cNvPr id="20" name="TextBox 19"/>
          <p:cNvSpPr txBox="1"/>
          <p:nvPr/>
        </p:nvSpPr>
        <p:spPr>
          <a:xfrm>
            <a:off x="6263640" y="3566160"/>
            <a:ext cx="2537460" cy="457200"/>
          </a:xfrm>
          <a:prstGeom prst="rect">
            <a:avLst/>
          </a:prstGeom>
          <a:noFill/>
        </p:spPr>
        <p:txBody>
          <a:bodyPr wrap="square" lIns="0" tIns="0" rIns="0" bIns="0" anchor="t">
            <a:spAutoFit/>
          </a:bodyPr>
          <a:lstStyle/>
          <a:p>
            <a:pPr algn="l"/>
            <a:r>
              <a:rPr sz="1100" b="0" i="0">
                <a:solidFill>
                  <a:srgbClr val="6A6A6A"/>
                </a:solidFill>
                <a:latin typeface="Archivo"/>
              </a:rPr>
              <a:t>•  Referral fee on author-side leads</a:t>
            </a:r>
          </a:p>
        </p:txBody>
      </p:sp>
      <p:sp>
        <p:nvSpPr>
          <p:cNvPr id="21" name="TextBox 20"/>
          <p:cNvSpPr txBox="1"/>
          <p:nvPr/>
        </p:nvSpPr>
        <p:spPr>
          <a:xfrm>
            <a:off x="8801100" y="2029968"/>
            <a:ext cx="365760" cy="457200"/>
          </a:xfrm>
          <a:prstGeom prst="rect">
            <a:avLst/>
          </a:prstGeom>
          <a:noFill/>
        </p:spPr>
        <p:txBody>
          <a:bodyPr wrap="square" lIns="0" tIns="0" rIns="0" bIns="0" anchor="t">
            <a:spAutoFit/>
          </a:bodyPr>
          <a:lstStyle/>
          <a:p>
            <a:pPr algn="ctr"/>
            <a:r>
              <a:rPr sz="2200" b="0" i="0">
                <a:solidFill>
                  <a:srgbClr val="999999"/>
                </a:solidFill>
                <a:latin typeface="Archivo"/>
              </a:rPr>
              <a:t>→</a:t>
            </a:r>
          </a:p>
        </p:txBody>
      </p:sp>
      <p:sp>
        <p:nvSpPr>
          <p:cNvPr id="22" name="TextBox 21"/>
          <p:cNvSpPr txBox="1"/>
          <p:nvPr/>
        </p:nvSpPr>
        <p:spPr>
          <a:xfrm>
            <a:off x="9166860" y="2011680"/>
            <a:ext cx="2537460" cy="411480"/>
          </a:xfrm>
          <a:prstGeom prst="rect">
            <a:avLst/>
          </a:prstGeom>
          <a:noFill/>
        </p:spPr>
        <p:txBody>
          <a:bodyPr wrap="square" lIns="0" tIns="0" rIns="0" bIns="0" anchor="t">
            <a:spAutoFit/>
          </a:bodyPr>
          <a:lstStyle/>
          <a:p>
            <a:pPr algn="l"/>
            <a:r>
              <a:rPr sz="1400" b="1" i="0" spc="300">
                <a:solidFill>
                  <a:srgbClr val="0A0A0A"/>
                </a:solidFill>
                <a:latin typeface="Archivo"/>
              </a:rPr>
              <a:t>TRANSACT</a:t>
            </a:r>
          </a:p>
        </p:txBody>
      </p:sp>
      <p:sp>
        <p:nvSpPr>
          <p:cNvPr id="23" name="TextBox 22"/>
          <p:cNvSpPr txBox="1"/>
          <p:nvPr/>
        </p:nvSpPr>
        <p:spPr>
          <a:xfrm>
            <a:off x="9166860" y="2651760"/>
            <a:ext cx="2537460" cy="457200"/>
          </a:xfrm>
          <a:prstGeom prst="rect">
            <a:avLst/>
          </a:prstGeom>
          <a:noFill/>
        </p:spPr>
        <p:txBody>
          <a:bodyPr wrap="square" lIns="0" tIns="0" rIns="0" bIns="0" anchor="t">
            <a:spAutoFit/>
          </a:bodyPr>
          <a:lstStyle/>
          <a:p>
            <a:pPr algn="l"/>
            <a:r>
              <a:rPr sz="1100" b="0" i="0">
                <a:solidFill>
                  <a:srgbClr val="6A6A6A"/>
                </a:solidFill>
                <a:latin typeface="Archivo"/>
              </a:rPr>
              <a:t>•  Trade Confirm + KYC + Settlement Admin acknowledge</a:t>
            </a:r>
          </a:p>
        </p:txBody>
      </p:sp>
      <p:sp>
        <p:nvSpPr>
          <p:cNvPr id="24" name="TextBox 23"/>
          <p:cNvSpPr txBox="1"/>
          <p:nvPr/>
        </p:nvSpPr>
        <p:spPr>
          <a:xfrm>
            <a:off x="9166860" y="3108960"/>
            <a:ext cx="2537460" cy="457200"/>
          </a:xfrm>
          <a:prstGeom prst="rect">
            <a:avLst/>
          </a:prstGeom>
          <a:noFill/>
        </p:spPr>
        <p:txBody>
          <a:bodyPr wrap="square" lIns="0" tIns="0" rIns="0" bIns="0" anchor="t">
            <a:spAutoFit/>
          </a:bodyPr>
          <a:lstStyle/>
          <a:p>
            <a:pPr algn="l"/>
            <a:r>
              <a:rPr sz="1100" b="0" i="0">
                <a:solidFill>
                  <a:srgbClr val="6A6A6A"/>
                </a:solidFill>
                <a:latin typeface="Archivo"/>
              </a:rPr>
              <a:t>•  Pay initial purchase price within 1 BD</a:t>
            </a:r>
          </a:p>
        </p:txBody>
      </p:sp>
      <p:sp>
        <p:nvSpPr>
          <p:cNvPr id="25" name="TextBox 24"/>
          <p:cNvSpPr txBox="1"/>
          <p:nvPr/>
        </p:nvSpPr>
        <p:spPr>
          <a:xfrm>
            <a:off x="9166860" y="3566160"/>
            <a:ext cx="2537460" cy="457200"/>
          </a:xfrm>
          <a:prstGeom prst="rect">
            <a:avLst/>
          </a:prstGeom>
          <a:noFill/>
        </p:spPr>
        <p:txBody>
          <a:bodyPr wrap="square" lIns="0" tIns="0" rIns="0" bIns="0" anchor="t">
            <a:spAutoFit/>
          </a:bodyPr>
          <a:lstStyle/>
          <a:p>
            <a:pPr algn="l"/>
            <a:r>
              <a:rPr sz="1100" b="0" i="0">
                <a:solidFill>
                  <a:srgbClr val="6A6A6A"/>
                </a:solidFill>
                <a:latin typeface="Archivo"/>
              </a:rPr>
              <a:t>•  True-up Excess Claim on final allocation</a:t>
            </a:r>
          </a:p>
        </p:txBody>
      </p:sp>
      <p:sp>
        <p:nvSpPr>
          <p:cNvPr id="26" name="TextBox 25"/>
          <p:cNvSpPr txBox="1"/>
          <p:nvPr/>
        </p:nvSpPr>
        <p:spPr>
          <a:xfrm>
            <a:off x="457200" y="5120640"/>
            <a:ext cx="11247120" cy="457200"/>
          </a:xfrm>
          <a:prstGeom prst="rect">
            <a:avLst/>
          </a:prstGeom>
          <a:noFill/>
        </p:spPr>
        <p:txBody>
          <a:bodyPr wrap="square" lIns="0" tIns="0" rIns="0" bIns="0" anchor="t">
            <a:spAutoFit/>
          </a:bodyPr>
          <a:lstStyle/>
          <a:p>
            <a:pPr algn="l"/>
            <a:r>
              <a:rPr sz="1400" b="1" i="0">
                <a:solidFill>
                  <a:srgbClr val="0A0A0A"/>
                </a:solidFill>
                <a:latin typeface="Archivo"/>
              </a:rPr>
              <a:t>Documentation already in production</a:t>
            </a:r>
          </a:p>
        </p:txBody>
      </p:sp>
      <p:sp>
        <p:nvSpPr>
          <p:cNvPr id="27" name="TextBox 26"/>
          <p:cNvSpPr txBox="1"/>
          <p:nvPr/>
        </p:nvSpPr>
        <p:spPr>
          <a:xfrm>
            <a:off x="457200" y="5486400"/>
            <a:ext cx="11247120" cy="1188720"/>
          </a:xfrm>
          <a:prstGeom prst="rect">
            <a:avLst/>
          </a:prstGeom>
          <a:noFill/>
        </p:spPr>
        <p:txBody>
          <a:bodyPr wrap="square" lIns="0" tIns="0" rIns="0" bIns="0" anchor="t">
            <a:spAutoFit/>
          </a:bodyPr>
          <a:lstStyle/>
          <a:p>
            <a:pPr algn="l">
              <a:spcAft>
                <a:spcPts val="300"/>
              </a:spcAft>
            </a:pPr>
            <a:r>
              <a:rPr sz="1200" b="0" i="0">
                <a:solidFill>
                  <a:srgbClr val="6A6A6A"/>
                </a:solidFill>
                <a:latin typeface="Archivo"/>
              </a:rPr>
              <a:t>Trade Confirmation (short-form economic terms + termination/refund if settlement fails)</a:t>
            </a:r>
          </a:p>
          <a:p>
            <a:pPr algn="l">
              <a:spcAft>
                <a:spcPts val="300"/>
              </a:spcAft>
            </a:pPr>
            <a:r>
              <a:rPr sz="1200" b="0" i="0">
                <a:solidFill>
                  <a:srgbClr val="6A6A6A"/>
                </a:solidFill>
                <a:latin typeface="Archivo"/>
              </a:rPr>
              <a:t>Class Action Claim Sale Agreement (full assignment + 100% participation fallback + Excess Claim true-up)</a:t>
            </a:r>
          </a:p>
          <a:p>
            <a:pPr algn="l">
              <a:spcAft>
                <a:spcPts val="300"/>
              </a:spcAft>
            </a:pPr>
            <a:r>
              <a:rPr sz="1200" b="0" i="0">
                <a:solidFill>
                  <a:srgbClr val="6A6A6A"/>
                </a:solidFill>
                <a:latin typeface="Archivo"/>
              </a:rPr>
              <a:t>Power of Attorney + Evidence of Transfer + Schedule of Qualifying Works</a:t>
            </a:r>
          </a:p>
          <a:p>
            <a:pPr algn="l">
              <a:spcAft>
                <a:spcPts val="300"/>
              </a:spcAft>
            </a:pPr>
            <a:r>
              <a:rPr sz="1200" b="0" i="0">
                <a:solidFill>
                  <a:srgbClr val="6A6A6A"/>
                </a:solidFill>
                <a:latin typeface="Archivo"/>
              </a:rPr>
              <a:t>Pilot trade closed March 12, 2026 (Levy → Waquoit Capital).</a:t>
            </a:r>
          </a:p>
        </p:txBody>
      </p:sp>
      <p:sp>
        <p:nvSpPr>
          <p:cNvPr id="28" name="TextBox 27"/>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29" name="TextBox 28"/>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06 / 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169277"/>
          </a:xfrm>
          <a:prstGeom prst="rect">
            <a:avLst/>
          </a:prstGeom>
          <a:noFill/>
        </p:spPr>
        <p:txBody>
          <a:bodyPr wrap="square" lIns="0" tIns="0" rIns="0" bIns="0" anchor="t">
            <a:spAutoFit/>
          </a:bodyPr>
          <a:lstStyle/>
          <a:p>
            <a:pPr algn="l"/>
            <a:r>
              <a:rPr lang="en-US" sz="1100" b="1" i="0" spc="240" dirty="0">
                <a:solidFill>
                  <a:srgbClr val="0A0A0A"/>
                </a:solidFill>
                <a:latin typeface="Archivo"/>
              </a:rPr>
              <a:t>STRATEGY</a:t>
            </a:r>
            <a:endParaRPr sz="1100" b="1" i="0" spc="240" dirty="0">
              <a:solidFill>
                <a:srgbClr val="0A0A0A"/>
              </a:solidFill>
              <a:latin typeface="Archivo"/>
            </a:endParaRP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200" b="1" i="0" spc="-30">
                <a:solidFill>
                  <a:srgbClr val="0A0A0A"/>
                </a:solidFill>
                <a:latin typeface="Archivo"/>
              </a:rPr>
              <a:t>Underwriting the next $1.5B settlement.</a:t>
            </a:r>
          </a:p>
        </p:txBody>
      </p:sp>
      <p:sp>
        <p:nvSpPr>
          <p:cNvPr id="6" name="TextBox 5"/>
          <p:cNvSpPr txBox="1"/>
          <p:nvPr/>
        </p:nvSpPr>
        <p:spPr>
          <a:xfrm>
            <a:off x="457200" y="1828800"/>
            <a:ext cx="6858000" cy="2194560"/>
          </a:xfrm>
          <a:prstGeom prst="rect">
            <a:avLst/>
          </a:prstGeom>
          <a:noFill/>
        </p:spPr>
        <p:txBody>
          <a:bodyPr wrap="square" lIns="0" tIns="0" rIns="0" bIns="0" anchor="t">
            <a:spAutoFit/>
          </a:bodyPr>
          <a:lstStyle/>
          <a:p>
            <a:pPr algn="l">
              <a:spcAft>
                <a:spcPts val="800"/>
              </a:spcAft>
            </a:pPr>
            <a:r>
              <a:rPr sz="1400" b="0" i="0">
                <a:solidFill>
                  <a:srgbClr val="0A0A0A"/>
                </a:solidFill>
                <a:latin typeface="Archivo"/>
              </a:rPr>
              <a:t>Bartz v. Anthropic was financed by plaintiffs' counsel willing to carry millions in discovery and expert costs without certainty of recovery.</a:t>
            </a:r>
          </a:p>
          <a:p>
            <a:pPr algn="l">
              <a:spcAft>
                <a:spcPts val="800"/>
              </a:spcAft>
            </a:pPr>
            <a:r>
              <a:rPr sz="1400" b="0" i="0">
                <a:solidFill>
                  <a:srgbClr val="0A0A0A"/>
                </a:solidFill>
                <a:latin typeface="Archivo"/>
              </a:rPr>
              <a:t>Every subsequent LLM training case faces the same friction. Plaintiffs' firms are capital-constrained; defendants are not.</a:t>
            </a:r>
          </a:p>
          <a:p>
            <a:pPr algn="l">
              <a:spcAft>
                <a:spcPts val="800"/>
              </a:spcAft>
            </a:pPr>
            <a:r>
              <a:rPr sz="1400" b="0" i="0">
                <a:solidFill>
                  <a:srgbClr val="0A0A0A"/>
                </a:solidFill>
                <a:latin typeface="Archivo"/>
              </a:rPr>
              <a:t>Turnpage closes that gap. We extend non-recourse capital to plaintiffs' counsel on cases where we have already underwritten the merits — and where, if they win, we are the natural buyer of the resulting claims.</a:t>
            </a:r>
          </a:p>
          <a:p>
            <a:pPr algn="l">
              <a:spcAft>
                <a:spcPts val="800"/>
              </a:spcAft>
            </a:pPr>
            <a:r>
              <a:rPr sz="1400" b="0" i="0">
                <a:solidFill>
                  <a:srgbClr val="0A0A0A"/>
                </a:solidFill>
                <a:latin typeface="Archivo"/>
              </a:rPr>
              <a:t>The two prongs are not separate businesses. They are two ends of one trade.</a:t>
            </a:r>
          </a:p>
        </p:txBody>
      </p:sp>
      <p:sp>
        <p:nvSpPr>
          <p:cNvPr id="7" name="Rectangle 6"/>
          <p:cNvSpPr/>
          <p:nvPr/>
        </p:nvSpPr>
        <p:spPr>
          <a:xfrm>
            <a:off x="7680960" y="1828800"/>
            <a:ext cx="4023360" cy="457200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80960" y="1828800"/>
            <a:ext cx="4023360" cy="54864"/>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0" y="2103120"/>
            <a:ext cx="3474720" cy="274320"/>
          </a:xfrm>
          <a:prstGeom prst="rect">
            <a:avLst/>
          </a:prstGeom>
          <a:noFill/>
        </p:spPr>
        <p:txBody>
          <a:bodyPr wrap="square" lIns="0" tIns="0" rIns="0" bIns="0" anchor="t">
            <a:spAutoFit/>
          </a:bodyPr>
          <a:lstStyle/>
          <a:p>
            <a:pPr algn="l"/>
            <a:r>
              <a:rPr sz="1100" b="1" i="0" spc="240">
                <a:solidFill>
                  <a:srgbClr val="6A6A6A"/>
                </a:solidFill>
                <a:latin typeface="Archivo"/>
              </a:rPr>
              <a:t>FUNDED MATTER — ILLUSTRATIVE</a:t>
            </a:r>
          </a:p>
        </p:txBody>
      </p:sp>
      <p:sp>
        <p:nvSpPr>
          <p:cNvPr id="10" name="TextBox 9"/>
          <p:cNvSpPr txBox="1"/>
          <p:nvPr/>
        </p:nvSpPr>
        <p:spPr>
          <a:xfrm>
            <a:off x="7955280" y="2606040"/>
            <a:ext cx="3474720" cy="201168"/>
          </a:xfrm>
          <a:prstGeom prst="rect">
            <a:avLst/>
          </a:prstGeom>
          <a:noFill/>
        </p:spPr>
        <p:txBody>
          <a:bodyPr wrap="square" lIns="0" tIns="0" rIns="0" bIns="0" anchor="t">
            <a:spAutoFit/>
          </a:bodyPr>
          <a:lstStyle/>
          <a:p>
            <a:pPr algn="l"/>
            <a:r>
              <a:rPr sz="900" b="1" i="0" spc="180">
                <a:solidFill>
                  <a:srgbClr val="6A6A6A"/>
                </a:solidFill>
                <a:latin typeface="Archivo"/>
              </a:rPr>
              <a:t>MATTER TYPE</a:t>
            </a:r>
          </a:p>
        </p:txBody>
      </p:sp>
      <p:sp>
        <p:nvSpPr>
          <p:cNvPr id="11" name="TextBox 10"/>
          <p:cNvSpPr txBox="1"/>
          <p:nvPr/>
        </p:nvSpPr>
        <p:spPr>
          <a:xfrm>
            <a:off x="7955280" y="2807208"/>
            <a:ext cx="3474720" cy="274320"/>
          </a:xfrm>
          <a:prstGeom prst="rect">
            <a:avLst/>
          </a:prstGeom>
          <a:noFill/>
        </p:spPr>
        <p:txBody>
          <a:bodyPr wrap="square" lIns="0" tIns="0" rIns="0" bIns="0" anchor="t">
            <a:spAutoFit/>
          </a:bodyPr>
          <a:lstStyle/>
          <a:p>
            <a:pPr algn="l"/>
            <a:r>
              <a:rPr sz="1200" b="1" i="0">
                <a:solidFill>
                  <a:srgbClr val="0A0A0A"/>
                </a:solidFill>
                <a:latin typeface="Archivo"/>
              </a:rPr>
              <a:t>LLM training copyright class action</a:t>
            </a:r>
          </a:p>
        </p:txBody>
      </p:sp>
      <p:sp>
        <p:nvSpPr>
          <p:cNvPr id="12" name="Rectangle 11"/>
          <p:cNvSpPr/>
          <p:nvPr/>
        </p:nvSpPr>
        <p:spPr>
          <a:xfrm>
            <a:off x="7955280" y="3099816"/>
            <a:ext cx="34747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80" y="3118104"/>
            <a:ext cx="3474720" cy="201168"/>
          </a:xfrm>
          <a:prstGeom prst="rect">
            <a:avLst/>
          </a:prstGeom>
          <a:noFill/>
        </p:spPr>
        <p:txBody>
          <a:bodyPr wrap="square" lIns="0" tIns="0" rIns="0" bIns="0" anchor="t">
            <a:spAutoFit/>
          </a:bodyPr>
          <a:lstStyle/>
          <a:p>
            <a:pPr algn="l"/>
            <a:r>
              <a:rPr sz="900" b="1" i="0" spc="180">
                <a:solidFill>
                  <a:srgbClr val="6A6A6A"/>
                </a:solidFill>
                <a:latin typeface="Archivo"/>
              </a:rPr>
              <a:t>STAGE</a:t>
            </a:r>
          </a:p>
        </p:txBody>
      </p:sp>
      <p:sp>
        <p:nvSpPr>
          <p:cNvPr id="14" name="TextBox 13"/>
          <p:cNvSpPr txBox="1"/>
          <p:nvPr/>
        </p:nvSpPr>
        <p:spPr>
          <a:xfrm>
            <a:off x="7955280" y="3319272"/>
            <a:ext cx="3474720" cy="274320"/>
          </a:xfrm>
          <a:prstGeom prst="rect">
            <a:avLst/>
          </a:prstGeom>
          <a:noFill/>
        </p:spPr>
        <p:txBody>
          <a:bodyPr wrap="square" lIns="0" tIns="0" rIns="0" bIns="0" anchor="t">
            <a:spAutoFit/>
          </a:bodyPr>
          <a:lstStyle/>
          <a:p>
            <a:pPr algn="l"/>
            <a:r>
              <a:rPr sz="1200" b="1" i="0">
                <a:solidFill>
                  <a:srgbClr val="0A0A0A"/>
                </a:solidFill>
                <a:latin typeface="Archivo"/>
              </a:rPr>
              <a:t>Pre-discovery → class certification</a:t>
            </a:r>
          </a:p>
        </p:txBody>
      </p:sp>
      <p:sp>
        <p:nvSpPr>
          <p:cNvPr id="15" name="Rectangle 14"/>
          <p:cNvSpPr/>
          <p:nvPr/>
        </p:nvSpPr>
        <p:spPr>
          <a:xfrm>
            <a:off x="7955280" y="3611880"/>
            <a:ext cx="34747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0" y="3630168"/>
            <a:ext cx="3474720" cy="201168"/>
          </a:xfrm>
          <a:prstGeom prst="rect">
            <a:avLst/>
          </a:prstGeom>
          <a:noFill/>
        </p:spPr>
        <p:txBody>
          <a:bodyPr wrap="square" lIns="0" tIns="0" rIns="0" bIns="0" anchor="t">
            <a:spAutoFit/>
          </a:bodyPr>
          <a:lstStyle/>
          <a:p>
            <a:pPr algn="l"/>
            <a:r>
              <a:rPr sz="900" b="1" i="0" spc="180">
                <a:solidFill>
                  <a:srgbClr val="6A6A6A"/>
                </a:solidFill>
                <a:latin typeface="Archivo"/>
              </a:rPr>
              <a:t>BUDGET FUNDED</a:t>
            </a:r>
          </a:p>
        </p:txBody>
      </p:sp>
      <p:sp>
        <p:nvSpPr>
          <p:cNvPr id="17" name="TextBox 16"/>
          <p:cNvSpPr txBox="1"/>
          <p:nvPr/>
        </p:nvSpPr>
        <p:spPr>
          <a:xfrm>
            <a:off x="7955280" y="3831336"/>
            <a:ext cx="3474720" cy="274320"/>
          </a:xfrm>
          <a:prstGeom prst="rect">
            <a:avLst/>
          </a:prstGeom>
          <a:noFill/>
        </p:spPr>
        <p:txBody>
          <a:bodyPr wrap="square" lIns="0" tIns="0" rIns="0" bIns="0" anchor="t">
            <a:spAutoFit/>
          </a:bodyPr>
          <a:lstStyle/>
          <a:p>
            <a:pPr algn="l"/>
            <a:r>
              <a:rPr sz="1200" b="1" i="0">
                <a:solidFill>
                  <a:srgbClr val="0A0A0A"/>
                </a:solidFill>
                <a:latin typeface="Archivo"/>
              </a:rPr>
              <a:t>$1.5M – $3.0M / matter</a:t>
            </a:r>
          </a:p>
        </p:txBody>
      </p:sp>
      <p:sp>
        <p:nvSpPr>
          <p:cNvPr id="18" name="Rectangle 17"/>
          <p:cNvSpPr/>
          <p:nvPr/>
        </p:nvSpPr>
        <p:spPr>
          <a:xfrm>
            <a:off x="7955280" y="4123944"/>
            <a:ext cx="34747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55280" y="4142232"/>
            <a:ext cx="3474720" cy="201168"/>
          </a:xfrm>
          <a:prstGeom prst="rect">
            <a:avLst/>
          </a:prstGeom>
          <a:noFill/>
        </p:spPr>
        <p:txBody>
          <a:bodyPr wrap="square" lIns="0" tIns="0" rIns="0" bIns="0" anchor="t">
            <a:spAutoFit/>
          </a:bodyPr>
          <a:lstStyle/>
          <a:p>
            <a:pPr algn="l"/>
            <a:r>
              <a:rPr sz="900" b="1" i="0" spc="180">
                <a:solidFill>
                  <a:srgbClr val="6A6A6A"/>
                </a:solidFill>
                <a:latin typeface="Archivo"/>
              </a:rPr>
              <a:t>RECOVERY SHARE</a:t>
            </a:r>
          </a:p>
        </p:txBody>
      </p:sp>
      <p:sp>
        <p:nvSpPr>
          <p:cNvPr id="20" name="TextBox 19"/>
          <p:cNvSpPr txBox="1"/>
          <p:nvPr/>
        </p:nvSpPr>
        <p:spPr>
          <a:xfrm>
            <a:off x="7955280" y="4343400"/>
            <a:ext cx="3474720" cy="274320"/>
          </a:xfrm>
          <a:prstGeom prst="rect">
            <a:avLst/>
          </a:prstGeom>
          <a:noFill/>
        </p:spPr>
        <p:txBody>
          <a:bodyPr wrap="square" lIns="0" tIns="0" rIns="0" bIns="0" anchor="t">
            <a:spAutoFit/>
          </a:bodyPr>
          <a:lstStyle/>
          <a:p>
            <a:pPr algn="l"/>
            <a:r>
              <a:rPr sz="1200" b="1" i="0">
                <a:solidFill>
                  <a:srgbClr val="0A0A0A"/>
                </a:solidFill>
                <a:latin typeface="Archivo"/>
              </a:rPr>
              <a:t>5%–10% of settlement / judgment</a:t>
            </a:r>
          </a:p>
        </p:txBody>
      </p:sp>
      <p:sp>
        <p:nvSpPr>
          <p:cNvPr id="21" name="Rectangle 20"/>
          <p:cNvSpPr/>
          <p:nvPr/>
        </p:nvSpPr>
        <p:spPr>
          <a:xfrm>
            <a:off x="7955280" y="4636008"/>
            <a:ext cx="34747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80" y="4654296"/>
            <a:ext cx="3474720" cy="201168"/>
          </a:xfrm>
          <a:prstGeom prst="rect">
            <a:avLst/>
          </a:prstGeom>
          <a:noFill/>
        </p:spPr>
        <p:txBody>
          <a:bodyPr wrap="square" lIns="0" tIns="0" rIns="0" bIns="0" anchor="t">
            <a:spAutoFit/>
          </a:bodyPr>
          <a:lstStyle/>
          <a:p>
            <a:pPr algn="l"/>
            <a:r>
              <a:rPr sz="900" b="1" i="0" spc="180">
                <a:solidFill>
                  <a:srgbClr val="6A6A6A"/>
                </a:solidFill>
                <a:latin typeface="Archivo"/>
              </a:rPr>
              <a:t>PAYMENT TRIGGER</a:t>
            </a:r>
          </a:p>
        </p:txBody>
      </p:sp>
      <p:sp>
        <p:nvSpPr>
          <p:cNvPr id="23" name="TextBox 22"/>
          <p:cNvSpPr txBox="1"/>
          <p:nvPr/>
        </p:nvSpPr>
        <p:spPr>
          <a:xfrm>
            <a:off x="7955280" y="4855464"/>
            <a:ext cx="3474720" cy="274320"/>
          </a:xfrm>
          <a:prstGeom prst="rect">
            <a:avLst/>
          </a:prstGeom>
          <a:noFill/>
        </p:spPr>
        <p:txBody>
          <a:bodyPr wrap="square" lIns="0" tIns="0" rIns="0" bIns="0" anchor="t">
            <a:spAutoFit/>
          </a:bodyPr>
          <a:lstStyle/>
          <a:p>
            <a:pPr algn="l"/>
            <a:r>
              <a:rPr sz="1200" b="1" i="0">
                <a:solidFill>
                  <a:srgbClr val="0A0A0A"/>
                </a:solidFill>
                <a:latin typeface="Archivo"/>
              </a:rPr>
              <a:t>Non-recourse · settlement only</a:t>
            </a:r>
          </a:p>
        </p:txBody>
      </p:sp>
      <p:sp>
        <p:nvSpPr>
          <p:cNvPr id="24" name="Rectangle 23"/>
          <p:cNvSpPr/>
          <p:nvPr/>
        </p:nvSpPr>
        <p:spPr>
          <a:xfrm>
            <a:off x="7955280" y="5148072"/>
            <a:ext cx="34747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80" y="5166360"/>
            <a:ext cx="3474720" cy="201168"/>
          </a:xfrm>
          <a:prstGeom prst="rect">
            <a:avLst/>
          </a:prstGeom>
          <a:noFill/>
        </p:spPr>
        <p:txBody>
          <a:bodyPr wrap="square" lIns="0" tIns="0" rIns="0" bIns="0" anchor="t">
            <a:spAutoFit/>
          </a:bodyPr>
          <a:lstStyle/>
          <a:p>
            <a:pPr algn="l"/>
            <a:r>
              <a:rPr sz="900" b="1" i="0" spc="180">
                <a:solidFill>
                  <a:srgbClr val="6A6A6A"/>
                </a:solidFill>
                <a:latin typeface="Archivo"/>
              </a:rPr>
              <a:t>MODELED MOIC</a:t>
            </a:r>
          </a:p>
        </p:txBody>
      </p:sp>
      <p:sp>
        <p:nvSpPr>
          <p:cNvPr id="26" name="TextBox 25"/>
          <p:cNvSpPr txBox="1"/>
          <p:nvPr/>
        </p:nvSpPr>
        <p:spPr>
          <a:xfrm>
            <a:off x="7955280" y="5367528"/>
            <a:ext cx="3474720" cy="274320"/>
          </a:xfrm>
          <a:prstGeom prst="rect">
            <a:avLst/>
          </a:prstGeom>
          <a:noFill/>
        </p:spPr>
        <p:txBody>
          <a:bodyPr wrap="square" lIns="0" tIns="0" rIns="0" bIns="0" anchor="t">
            <a:spAutoFit/>
          </a:bodyPr>
          <a:lstStyle/>
          <a:p>
            <a:pPr algn="l"/>
            <a:r>
              <a:rPr sz="1200" b="1" i="0">
                <a:solidFill>
                  <a:srgbClr val="0A0A0A"/>
                </a:solidFill>
                <a:latin typeface="Archivo"/>
              </a:rPr>
              <a:t>3.0x – 5.0x on funded principal</a:t>
            </a:r>
          </a:p>
        </p:txBody>
      </p:sp>
      <p:sp>
        <p:nvSpPr>
          <p:cNvPr id="27" name="Rectangle 26"/>
          <p:cNvSpPr/>
          <p:nvPr/>
        </p:nvSpPr>
        <p:spPr>
          <a:xfrm>
            <a:off x="7955280" y="5660136"/>
            <a:ext cx="34747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55280" y="5678424"/>
            <a:ext cx="3474720" cy="201168"/>
          </a:xfrm>
          <a:prstGeom prst="rect">
            <a:avLst/>
          </a:prstGeom>
          <a:noFill/>
        </p:spPr>
        <p:txBody>
          <a:bodyPr wrap="square" lIns="0" tIns="0" rIns="0" bIns="0" anchor="t">
            <a:spAutoFit/>
          </a:bodyPr>
          <a:lstStyle/>
          <a:p>
            <a:pPr algn="l"/>
            <a:r>
              <a:rPr sz="900" b="1" i="0" spc="180">
                <a:solidFill>
                  <a:srgbClr val="6A6A6A"/>
                </a:solidFill>
                <a:latin typeface="Archivo"/>
              </a:rPr>
              <a:t>MODELED DURATION</a:t>
            </a:r>
          </a:p>
        </p:txBody>
      </p:sp>
      <p:sp>
        <p:nvSpPr>
          <p:cNvPr id="29" name="TextBox 28"/>
          <p:cNvSpPr txBox="1"/>
          <p:nvPr/>
        </p:nvSpPr>
        <p:spPr>
          <a:xfrm>
            <a:off x="7955280" y="5879592"/>
            <a:ext cx="3474720" cy="274320"/>
          </a:xfrm>
          <a:prstGeom prst="rect">
            <a:avLst/>
          </a:prstGeom>
          <a:noFill/>
        </p:spPr>
        <p:txBody>
          <a:bodyPr wrap="square" lIns="0" tIns="0" rIns="0" bIns="0" anchor="t">
            <a:spAutoFit/>
          </a:bodyPr>
          <a:lstStyle/>
          <a:p>
            <a:pPr algn="l"/>
            <a:r>
              <a:rPr sz="1200" b="1" i="0">
                <a:solidFill>
                  <a:srgbClr val="0A0A0A"/>
                </a:solidFill>
                <a:latin typeface="Archivo"/>
              </a:rPr>
              <a:t>18 – 36 months</a:t>
            </a:r>
          </a:p>
        </p:txBody>
      </p:sp>
      <p:sp>
        <p:nvSpPr>
          <p:cNvPr id="30" name="Rectangle 29"/>
          <p:cNvSpPr/>
          <p:nvPr/>
        </p:nvSpPr>
        <p:spPr>
          <a:xfrm>
            <a:off x="7955280" y="6172200"/>
            <a:ext cx="34747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32" name="TextBox 31"/>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07 / 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WHY NOW</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200" b="1" i="0" spc="-30">
                <a:solidFill>
                  <a:srgbClr val="0A0A0A"/>
                </a:solidFill>
                <a:latin typeface="Archivo"/>
              </a:rPr>
              <a:t>A 12-month window before this gets crowded.</a:t>
            </a:r>
          </a:p>
        </p:txBody>
      </p:sp>
      <p:sp>
        <p:nvSpPr>
          <p:cNvPr id="6" name="TextBox 5"/>
          <p:cNvSpPr txBox="1"/>
          <p:nvPr/>
        </p:nvSpPr>
        <p:spPr>
          <a:xfrm>
            <a:off x="457200" y="2103120"/>
            <a:ext cx="822960" cy="731520"/>
          </a:xfrm>
          <a:prstGeom prst="rect">
            <a:avLst/>
          </a:prstGeom>
          <a:noFill/>
        </p:spPr>
        <p:txBody>
          <a:bodyPr wrap="square" lIns="0" tIns="0" rIns="0" bIns="0" anchor="t">
            <a:spAutoFit/>
          </a:bodyPr>
          <a:lstStyle/>
          <a:p>
            <a:pPr algn="l"/>
            <a:r>
              <a:rPr sz="3400" b="1" i="0" spc="-30">
                <a:solidFill>
                  <a:srgbClr val="D4FF00"/>
                </a:solidFill>
                <a:latin typeface="Archivo"/>
              </a:rPr>
              <a:t>01</a:t>
            </a:r>
          </a:p>
        </p:txBody>
      </p:sp>
      <p:sp>
        <p:nvSpPr>
          <p:cNvPr id="7" name="TextBox 6"/>
          <p:cNvSpPr txBox="1"/>
          <p:nvPr/>
        </p:nvSpPr>
        <p:spPr>
          <a:xfrm>
            <a:off x="1280160" y="2103120"/>
            <a:ext cx="4114800" cy="457200"/>
          </a:xfrm>
          <a:prstGeom prst="rect">
            <a:avLst/>
          </a:prstGeom>
          <a:noFill/>
        </p:spPr>
        <p:txBody>
          <a:bodyPr wrap="square" lIns="0" tIns="0" rIns="0" bIns="0" anchor="t">
            <a:spAutoFit/>
          </a:bodyPr>
          <a:lstStyle/>
          <a:p>
            <a:pPr algn="l"/>
            <a:r>
              <a:rPr sz="1700" b="1" i="0" spc="-10">
                <a:solidFill>
                  <a:srgbClr val="0A0A0A"/>
                </a:solidFill>
                <a:latin typeface="Archivo"/>
              </a:rPr>
              <a:t>Anthropic printed the comp.</a:t>
            </a:r>
          </a:p>
        </p:txBody>
      </p:sp>
      <p:sp>
        <p:nvSpPr>
          <p:cNvPr id="8" name="TextBox 7"/>
          <p:cNvSpPr txBox="1"/>
          <p:nvPr/>
        </p:nvSpPr>
        <p:spPr>
          <a:xfrm>
            <a:off x="5486400" y="2148840"/>
            <a:ext cx="6217920" cy="914400"/>
          </a:xfrm>
          <a:prstGeom prst="rect">
            <a:avLst/>
          </a:prstGeom>
          <a:noFill/>
        </p:spPr>
        <p:txBody>
          <a:bodyPr wrap="square" lIns="0" tIns="0" rIns="0" bIns="0" anchor="t">
            <a:spAutoFit/>
          </a:bodyPr>
          <a:lstStyle/>
          <a:p>
            <a:pPr algn="l"/>
            <a:r>
              <a:rPr sz="1200" b="0" i="0">
                <a:solidFill>
                  <a:srgbClr val="6A6A6A"/>
                </a:solidFill>
                <a:latin typeface="Archivo"/>
              </a:rPr>
              <a:t>$1.5B / $3,000 per work is now the floor every plaintiff's firm and every defendant will negotiate against. Settlement pricing will normalize, not surprise.</a:t>
            </a:r>
          </a:p>
        </p:txBody>
      </p:sp>
      <p:sp>
        <p:nvSpPr>
          <p:cNvPr id="9" name="Rectangle 8"/>
          <p:cNvSpPr/>
          <p:nvPr/>
        </p:nvSpPr>
        <p:spPr>
          <a:xfrm>
            <a:off x="457200" y="2971800"/>
            <a:ext cx="112471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54680"/>
            <a:ext cx="822960" cy="731520"/>
          </a:xfrm>
          <a:prstGeom prst="rect">
            <a:avLst/>
          </a:prstGeom>
          <a:noFill/>
        </p:spPr>
        <p:txBody>
          <a:bodyPr wrap="square" lIns="0" tIns="0" rIns="0" bIns="0" anchor="t">
            <a:spAutoFit/>
          </a:bodyPr>
          <a:lstStyle/>
          <a:p>
            <a:pPr algn="l"/>
            <a:r>
              <a:rPr sz="3400" b="1" i="0" spc="-30">
                <a:solidFill>
                  <a:srgbClr val="999999"/>
                </a:solidFill>
                <a:latin typeface="Archivo"/>
              </a:rPr>
              <a:t>02</a:t>
            </a:r>
          </a:p>
        </p:txBody>
      </p:sp>
      <p:sp>
        <p:nvSpPr>
          <p:cNvPr id="11" name="TextBox 10"/>
          <p:cNvSpPr txBox="1"/>
          <p:nvPr/>
        </p:nvSpPr>
        <p:spPr>
          <a:xfrm>
            <a:off x="1280160" y="3154680"/>
            <a:ext cx="4114800" cy="457200"/>
          </a:xfrm>
          <a:prstGeom prst="rect">
            <a:avLst/>
          </a:prstGeom>
          <a:noFill/>
        </p:spPr>
        <p:txBody>
          <a:bodyPr wrap="square" lIns="0" tIns="0" rIns="0" bIns="0" anchor="t">
            <a:spAutoFit/>
          </a:bodyPr>
          <a:lstStyle/>
          <a:p>
            <a:pPr algn="l"/>
            <a:r>
              <a:rPr sz="1700" b="1" i="0" spc="-10">
                <a:solidFill>
                  <a:srgbClr val="0A0A0A"/>
                </a:solidFill>
                <a:latin typeface="Archivo"/>
              </a:rPr>
              <a:t>Defendant credit is high.</a:t>
            </a:r>
          </a:p>
        </p:txBody>
      </p:sp>
      <p:sp>
        <p:nvSpPr>
          <p:cNvPr id="12" name="TextBox 11"/>
          <p:cNvSpPr txBox="1"/>
          <p:nvPr/>
        </p:nvSpPr>
        <p:spPr>
          <a:xfrm>
            <a:off x="5486400" y="3200400"/>
            <a:ext cx="6217920" cy="914400"/>
          </a:xfrm>
          <a:prstGeom prst="rect">
            <a:avLst/>
          </a:prstGeom>
          <a:noFill/>
        </p:spPr>
        <p:txBody>
          <a:bodyPr wrap="square" lIns="0" tIns="0" rIns="0" bIns="0" anchor="t">
            <a:spAutoFit/>
          </a:bodyPr>
          <a:lstStyle/>
          <a:p>
            <a:pPr algn="l"/>
            <a:r>
              <a:rPr sz="1200" b="0" i="0">
                <a:solidFill>
                  <a:srgbClr val="6A6A6A"/>
                </a:solidFill>
                <a:latin typeface="Archivo"/>
              </a:rPr>
              <a:t>Anthropic ($30B+ raise), OpenAI ($150B+ valuation), Meta and Microsoft can fund settlements multiples larger than Bartz without distress. Counterparty risk on payouts is structurally low.</a:t>
            </a:r>
          </a:p>
        </p:txBody>
      </p:sp>
      <p:sp>
        <p:nvSpPr>
          <p:cNvPr id="13" name="Rectangle 12"/>
          <p:cNvSpPr/>
          <p:nvPr/>
        </p:nvSpPr>
        <p:spPr>
          <a:xfrm>
            <a:off x="457200" y="4023360"/>
            <a:ext cx="112471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4206240"/>
            <a:ext cx="822960" cy="731520"/>
          </a:xfrm>
          <a:prstGeom prst="rect">
            <a:avLst/>
          </a:prstGeom>
          <a:noFill/>
        </p:spPr>
        <p:txBody>
          <a:bodyPr wrap="square" lIns="0" tIns="0" rIns="0" bIns="0" anchor="t">
            <a:spAutoFit/>
          </a:bodyPr>
          <a:lstStyle/>
          <a:p>
            <a:pPr algn="l"/>
            <a:r>
              <a:rPr sz="3400" b="1" i="0" spc="-30">
                <a:solidFill>
                  <a:srgbClr val="999999"/>
                </a:solidFill>
                <a:latin typeface="Archivo"/>
              </a:rPr>
              <a:t>03</a:t>
            </a:r>
          </a:p>
        </p:txBody>
      </p:sp>
      <p:sp>
        <p:nvSpPr>
          <p:cNvPr id="15" name="TextBox 14"/>
          <p:cNvSpPr txBox="1"/>
          <p:nvPr/>
        </p:nvSpPr>
        <p:spPr>
          <a:xfrm>
            <a:off x="1280160" y="4206240"/>
            <a:ext cx="4114800" cy="457200"/>
          </a:xfrm>
          <a:prstGeom prst="rect">
            <a:avLst/>
          </a:prstGeom>
          <a:noFill/>
        </p:spPr>
        <p:txBody>
          <a:bodyPr wrap="square" lIns="0" tIns="0" rIns="0" bIns="0" anchor="t">
            <a:spAutoFit/>
          </a:bodyPr>
          <a:lstStyle/>
          <a:p>
            <a:pPr algn="l"/>
            <a:r>
              <a:rPr sz="1700" b="1" i="0" spc="-10">
                <a:solidFill>
                  <a:srgbClr val="0A0A0A"/>
                </a:solidFill>
                <a:latin typeface="Archivo"/>
              </a:rPr>
              <a:t>The shadow-library theory holds.</a:t>
            </a:r>
          </a:p>
        </p:txBody>
      </p:sp>
      <p:sp>
        <p:nvSpPr>
          <p:cNvPr id="16" name="TextBox 15"/>
          <p:cNvSpPr txBox="1"/>
          <p:nvPr/>
        </p:nvSpPr>
        <p:spPr>
          <a:xfrm>
            <a:off x="5486400" y="4251960"/>
            <a:ext cx="6217920" cy="914400"/>
          </a:xfrm>
          <a:prstGeom prst="rect">
            <a:avLst/>
          </a:prstGeom>
          <a:noFill/>
        </p:spPr>
        <p:txBody>
          <a:bodyPr wrap="square" lIns="0" tIns="0" rIns="0" bIns="0" anchor="t">
            <a:spAutoFit/>
          </a:bodyPr>
          <a:lstStyle/>
          <a:p>
            <a:pPr algn="l"/>
            <a:r>
              <a:rPr sz="1200" b="0" i="0">
                <a:solidFill>
                  <a:srgbClr val="6A6A6A"/>
                </a:solidFill>
                <a:latin typeface="Archivo"/>
              </a:rPr>
              <a:t>Judge Alsup's pre-settlement fair-use ruling and Judge Chhabria's signals in Kadrey have narrowed — but not eliminated — the defense template. The remaining battles are over damages and class scope, not liability.</a:t>
            </a:r>
          </a:p>
        </p:txBody>
      </p:sp>
      <p:sp>
        <p:nvSpPr>
          <p:cNvPr id="17" name="Rectangle 16"/>
          <p:cNvSpPr/>
          <p:nvPr/>
        </p:nvSpPr>
        <p:spPr>
          <a:xfrm>
            <a:off x="457200" y="5074920"/>
            <a:ext cx="112471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5257800"/>
            <a:ext cx="822960" cy="731520"/>
          </a:xfrm>
          <a:prstGeom prst="rect">
            <a:avLst/>
          </a:prstGeom>
          <a:noFill/>
        </p:spPr>
        <p:txBody>
          <a:bodyPr wrap="square" lIns="0" tIns="0" rIns="0" bIns="0" anchor="t">
            <a:spAutoFit/>
          </a:bodyPr>
          <a:lstStyle/>
          <a:p>
            <a:pPr algn="l"/>
            <a:r>
              <a:rPr sz="3400" b="1" i="0" spc="-30">
                <a:solidFill>
                  <a:srgbClr val="999999"/>
                </a:solidFill>
                <a:latin typeface="Archivo"/>
              </a:rPr>
              <a:t>04</a:t>
            </a:r>
          </a:p>
        </p:txBody>
      </p:sp>
      <p:sp>
        <p:nvSpPr>
          <p:cNvPr id="19" name="TextBox 18"/>
          <p:cNvSpPr txBox="1"/>
          <p:nvPr/>
        </p:nvSpPr>
        <p:spPr>
          <a:xfrm>
            <a:off x="1280160" y="5257800"/>
            <a:ext cx="4114800" cy="457200"/>
          </a:xfrm>
          <a:prstGeom prst="rect">
            <a:avLst/>
          </a:prstGeom>
          <a:noFill/>
        </p:spPr>
        <p:txBody>
          <a:bodyPr wrap="square" lIns="0" tIns="0" rIns="0" bIns="0" anchor="t">
            <a:spAutoFit/>
          </a:bodyPr>
          <a:lstStyle/>
          <a:p>
            <a:pPr algn="l"/>
            <a:r>
              <a:rPr sz="1700" b="1" i="0" spc="-10">
                <a:solidFill>
                  <a:srgbClr val="0A0A0A"/>
                </a:solidFill>
                <a:latin typeface="Archivo"/>
              </a:rPr>
              <a:t>Specialist capital hasn't arrived.</a:t>
            </a:r>
          </a:p>
        </p:txBody>
      </p:sp>
      <p:sp>
        <p:nvSpPr>
          <p:cNvPr id="20" name="TextBox 19"/>
          <p:cNvSpPr txBox="1"/>
          <p:nvPr/>
        </p:nvSpPr>
        <p:spPr>
          <a:xfrm>
            <a:off x="5486400" y="5303520"/>
            <a:ext cx="6217920" cy="914400"/>
          </a:xfrm>
          <a:prstGeom prst="rect">
            <a:avLst/>
          </a:prstGeom>
          <a:noFill/>
        </p:spPr>
        <p:txBody>
          <a:bodyPr wrap="square" lIns="0" tIns="0" rIns="0" bIns="0" anchor="t">
            <a:spAutoFit/>
          </a:bodyPr>
          <a:lstStyle/>
          <a:p>
            <a:pPr algn="l"/>
            <a:r>
              <a:rPr sz="1200" b="0" i="0">
                <a:solidFill>
                  <a:srgbClr val="6A6A6A"/>
                </a:solidFill>
                <a:latin typeface="Archivo"/>
              </a:rPr>
              <a:t>Litigation finance funds are still wrapping their heads around copyright; claims-trading desks are still focused on bankruptcy. Turnpage's lead-time on documentation, outreach, and intake is measured in quarters.</a:t>
            </a:r>
          </a:p>
        </p:txBody>
      </p:sp>
      <p:sp>
        <p:nvSpPr>
          <p:cNvPr id="21" name="TextBox 20"/>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22" name="TextBox 21"/>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08 / 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5486400" cy="274320"/>
          </a:xfrm>
          <a:prstGeom prst="rect">
            <a:avLst/>
          </a:prstGeom>
          <a:noFill/>
        </p:spPr>
        <p:txBody>
          <a:bodyPr wrap="square" lIns="0" tIns="0" rIns="0" bIns="0" anchor="t">
            <a:spAutoFit/>
          </a:bodyPr>
          <a:lstStyle/>
          <a:p>
            <a:pPr algn="l"/>
            <a:r>
              <a:rPr sz="1100" b="1" i="0" spc="240">
                <a:solidFill>
                  <a:srgbClr val="C0C0C0"/>
                </a:solidFill>
                <a:latin typeface="Archivo"/>
              </a:rPr>
              <a:t>TRACK RECORD</a:t>
            </a:r>
          </a:p>
        </p:txBody>
      </p:sp>
      <p:sp>
        <p:nvSpPr>
          <p:cNvPr id="4" name="TextBox 3"/>
          <p:cNvSpPr txBox="1"/>
          <p:nvPr/>
        </p:nvSpPr>
        <p:spPr>
          <a:xfrm>
            <a:off x="457200" y="868680"/>
            <a:ext cx="10058400" cy="914400"/>
          </a:xfrm>
          <a:prstGeom prst="rect">
            <a:avLst/>
          </a:prstGeom>
          <a:noFill/>
        </p:spPr>
        <p:txBody>
          <a:bodyPr wrap="square" lIns="0" tIns="0" rIns="0" bIns="0" anchor="t">
            <a:spAutoFit/>
          </a:bodyPr>
          <a:lstStyle/>
          <a:p>
            <a:pPr algn="l"/>
            <a:r>
              <a:rPr sz="2800" b="1" i="0" spc="-30">
                <a:solidFill>
                  <a:srgbClr val="FFFFFF"/>
                </a:solidFill>
                <a:latin typeface="Archivo"/>
              </a:rPr>
              <a:t>$1B+ traded across the biggest dockets in the modern claims market.*</a:t>
            </a:r>
          </a:p>
        </p:txBody>
      </p:sp>
      <p:sp>
        <p:nvSpPr>
          <p:cNvPr id="5" name="Rectangle 4"/>
          <p:cNvSpPr/>
          <p:nvPr/>
        </p:nvSpPr>
        <p:spPr>
          <a:xfrm>
            <a:off x="457200" y="201168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94560"/>
            <a:ext cx="2330119" cy="640080"/>
          </a:xfrm>
          <a:prstGeom prst="rect">
            <a:avLst/>
          </a:prstGeom>
          <a:noFill/>
        </p:spPr>
        <p:txBody>
          <a:bodyPr wrap="square" lIns="0" tIns="0" rIns="0" bIns="0" anchor="t">
            <a:spAutoFit/>
          </a:bodyPr>
          <a:lstStyle/>
          <a:p>
            <a:pPr algn="l"/>
            <a:r>
              <a:rPr sz="2800" b="1" i="0" spc="-20">
                <a:solidFill>
                  <a:srgbClr val="D4FF00"/>
                </a:solidFill>
                <a:latin typeface="Archivo"/>
              </a:rPr>
              <a:t>$270M</a:t>
            </a:r>
          </a:p>
        </p:txBody>
      </p:sp>
      <p:sp>
        <p:nvSpPr>
          <p:cNvPr id="7" name="TextBox 6"/>
          <p:cNvSpPr txBox="1"/>
          <p:nvPr/>
        </p:nvSpPr>
        <p:spPr>
          <a:xfrm>
            <a:off x="640080" y="2788920"/>
            <a:ext cx="2330119" cy="365760"/>
          </a:xfrm>
          <a:prstGeom prst="rect">
            <a:avLst/>
          </a:prstGeom>
          <a:noFill/>
        </p:spPr>
        <p:txBody>
          <a:bodyPr wrap="square" lIns="0" tIns="0" rIns="0" bIns="0" anchor="t">
            <a:spAutoFit/>
          </a:bodyPr>
          <a:lstStyle/>
          <a:p>
            <a:pPr algn="l"/>
            <a:r>
              <a:rPr sz="1200" b="1" i="0">
                <a:solidFill>
                  <a:srgbClr val="FFFFFF"/>
                </a:solidFill>
                <a:latin typeface="Archivo"/>
              </a:rPr>
              <a:t>FTX customer claim</a:t>
            </a:r>
          </a:p>
        </p:txBody>
      </p:sp>
      <p:sp>
        <p:nvSpPr>
          <p:cNvPr id="8" name="TextBox 7"/>
          <p:cNvSpPr txBox="1"/>
          <p:nvPr/>
        </p:nvSpPr>
        <p:spPr>
          <a:xfrm>
            <a:off x="640080" y="3154680"/>
            <a:ext cx="2330119" cy="365760"/>
          </a:xfrm>
          <a:prstGeom prst="rect">
            <a:avLst/>
          </a:prstGeom>
          <a:noFill/>
        </p:spPr>
        <p:txBody>
          <a:bodyPr wrap="square" lIns="0" tIns="0" rIns="0" bIns="0" anchor="t">
            <a:spAutoFit/>
          </a:bodyPr>
          <a:lstStyle/>
          <a:p>
            <a:pPr algn="l"/>
            <a:r>
              <a:rPr sz="1000" b="0" i="1">
                <a:solidFill>
                  <a:srgbClr val="B0B0B0"/>
                </a:solidFill>
                <a:latin typeface="Archivo"/>
              </a:rPr>
              <a:t>Assignment · 2023</a:t>
            </a:r>
          </a:p>
        </p:txBody>
      </p:sp>
      <p:sp>
        <p:nvSpPr>
          <p:cNvPr id="9" name="Rectangle 8"/>
          <p:cNvSpPr/>
          <p:nvPr/>
        </p:nvSpPr>
        <p:spPr>
          <a:xfrm>
            <a:off x="3317671" y="201168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00551" y="2194560"/>
            <a:ext cx="2330119" cy="640080"/>
          </a:xfrm>
          <a:prstGeom prst="rect">
            <a:avLst/>
          </a:prstGeom>
          <a:noFill/>
        </p:spPr>
        <p:txBody>
          <a:bodyPr wrap="square" lIns="0" tIns="0" rIns="0" bIns="0" anchor="t">
            <a:spAutoFit/>
          </a:bodyPr>
          <a:lstStyle/>
          <a:p>
            <a:pPr algn="l"/>
            <a:r>
              <a:rPr sz="2800" b="1" i="0" spc="-20">
                <a:solidFill>
                  <a:srgbClr val="FFFFFF"/>
                </a:solidFill>
                <a:latin typeface="Archivo"/>
              </a:rPr>
              <a:t>$106M</a:t>
            </a:r>
          </a:p>
        </p:txBody>
      </p:sp>
      <p:sp>
        <p:nvSpPr>
          <p:cNvPr id="11" name="TextBox 10"/>
          <p:cNvSpPr txBox="1"/>
          <p:nvPr/>
        </p:nvSpPr>
        <p:spPr>
          <a:xfrm>
            <a:off x="3500551" y="2788920"/>
            <a:ext cx="2330119" cy="365760"/>
          </a:xfrm>
          <a:prstGeom prst="rect">
            <a:avLst/>
          </a:prstGeom>
          <a:noFill/>
        </p:spPr>
        <p:txBody>
          <a:bodyPr wrap="square" lIns="0" tIns="0" rIns="0" bIns="0" anchor="t">
            <a:spAutoFit/>
          </a:bodyPr>
          <a:lstStyle/>
          <a:p>
            <a:pPr algn="l"/>
            <a:r>
              <a:rPr sz="1200" b="1" i="0">
                <a:solidFill>
                  <a:srgbClr val="FFFFFF"/>
                </a:solidFill>
                <a:latin typeface="Archivo"/>
              </a:rPr>
              <a:t>Mt. Gox CoinLab proof of claim</a:t>
            </a:r>
          </a:p>
        </p:txBody>
      </p:sp>
      <p:sp>
        <p:nvSpPr>
          <p:cNvPr id="12" name="TextBox 11"/>
          <p:cNvSpPr txBox="1"/>
          <p:nvPr/>
        </p:nvSpPr>
        <p:spPr>
          <a:xfrm>
            <a:off x="3500551" y="3154680"/>
            <a:ext cx="2330119" cy="365760"/>
          </a:xfrm>
          <a:prstGeom prst="rect">
            <a:avLst/>
          </a:prstGeom>
          <a:noFill/>
        </p:spPr>
        <p:txBody>
          <a:bodyPr wrap="square" lIns="0" tIns="0" rIns="0" bIns="0" anchor="t">
            <a:spAutoFit/>
          </a:bodyPr>
          <a:lstStyle/>
          <a:p>
            <a:pPr algn="l"/>
            <a:r>
              <a:rPr sz="1000" b="0" i="1">
                <a:solidFill>
                  <a:srgbClr val="B0B0B0"/>
                </a:solidFill>
                <a:latin typeface="Archivo"/>
              </a:rPr>
              <a:t>Assignment · 2023</a:t>
            </a:r>
          </a:p>
        </p:txBody>
      </p:sp>
      <p:sp>
        <p:nvSpPr>
          <p:cNvPr id="13" name="Rectangle 12"/>
          <p:cNvSpPr/>
          <p:nvPr/>
        </p:nvSpPr>
        <p:spPr>
          <a:xfrm>
            <a:off x="6178143" y="201168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1023" y="2194560"/>
            <a:ext cx="2330119" cy="640080"/>
          </a:xfrm>
          <a:prstGeom prst="rect">
            <a:avLst/>
          </a:prstGeom>
          <a:noFill/>
        </p:spPr>
        <p:txBody>
          <a:bodyPr wrap="square" lIns="0" tIns="0" rIns="0" bIns="0" anchor="t">
            <a:spAutoFit/>
          </a:bodyPr>
          <a:lstStyle/>
          <a:p>
            <a:pPr algn="l"/>
            <a:r>
              <a:rPr sz="2800" b="1" i="0" spc="-20">
                <a:solidFill>
                  <a:srgbClr val="FFFFFF"/>
                </a:solidFill>
                <a:latin typeface="Archivo"/>
              </a:rPr>
              <a:t>$83M</a:t>
            </a:r>
          </a:p>
        </p:txBody>
      </p:sp>
      <p:sp>
        <p:nvSpPr>
          <p:cNvPr id="15" name="TextBox 14"/>
          <p:cNvSpPr txBox="1"/>
          <p:nvPr/>
        </p:nvSpPr>
        <p:spPr>
          <a:xfrm>
            <a:off x="6361023" y="2788920"/>
            <a:ext cx="2330119" cy="365760"/>
          </a:xfrm>
          <a:prstGeom prst="rect">
            <a:avLst/>
          </a:prstGeom>
          <a:noFill/>
        </p:spPr>
        <p:txBody>
          <a:bodyPr wrap="square" lIns="0" tIns="0" rIns="0" bIns="0" anchor="t">
            <a:spAutoFit/>
          </a:bodyPr>
          <a:lstStyle/>
          <a:p>
            <a:pPr algn="l"/>
            <a:r>
              <a:rPr sz="1200" b="1" i="0">
                <a:solidFill>
                  <a:srgbClr val="FFFFFF"/>
                </a:solidFill>
                <a:latin typeface="Archivo"/>
              </a:rPr>
              <a:t>Genesis Global claim portfolio</a:t>
            </a:r>
          </a:p>
        </p:txBody>
      </p:sp>
      <p:sp>
        <p:nvSpPr>
          <p:cNvPr id="16" name="TextBox 15"/>
          <p:cNvSpPr txBox="1"/>
          <p:nvPr/>
        </p:nvSpPr>
        <p:spPr>
          <a:xfrm>
            <a:off x="6361023" y="3154680"/>
            <a:ext cx="2330119" cy="365760"/>
          </a:xfrm>
          <a:prstGeom prst="rect">
            <a:avLst/>
          </a:prstGeom>
          <a:noFill/>
        </p:spPr>
        <p:txBody>
          <a:bodyPr wrap="square" lIns="0" tIns="0" rIns="0" bIns="0" anchor="t">
            <a:spAutoFit/>
          </a:bodyPr>
          <a:lstStyle/>
          <a:p>
            <a:pPr algn="l"/>
            <a:r>
              <a:rPr sz="1000" b="0" i="1">
                <a:solidFill>
                  <a:srgbClr val="B0B0B0"/>
                </a:solidFill>
                <a:latin typeface="Archivo"/>
              </a:rPr>
              <a:t>Assignment · 2023</a:t>
            </a:r>
          </a:p>
        </p:txBody>
      </p:sp>
      <p:sp>
        <p:nvSpPr>
          <p:cNvPr id="17" name="Rectangle 16"/>
          <p:cNvSpPr/>
          <p:nvPr/>
        </p:nvSpPr>
        <p:spPr>
          <a:xfrm>
            <a:off x="9038615" y="201168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21495" y="2194560"/>
            <a:ext cx="2330119" cy="640080"/>
          </a:xfrm>
          <a:prstGeom prst="rect">
            <a:avLst/>
          </a:prstGeom>
          <a:noFill/>
        </p:spPr>
        <p:txBody>
          <a:bodyPr wrap="square" lIns="0" tIns="0" rIns="0" bIns="0" anchor="t">
            <a:spAutoFit/>
          </a:bodyPr>
          <a:lstStyle/>
          <a:p>
            <a:pPr algn="l"/>
            <a:r>
              <a:rPr sz="2800" b="1" i="0" spc="-20">
                <a:solidFill>
                  <a:srgbClr val="FFFFFF"/>
                </a:solidFill>
                <a:latin typeface="Archivo"/>
              </a:rPr>
              <a:t>$52M</a:t>
            </a:r>
          </a:p>
        </p:txBody>
      </p:sp>
      <p:sp>
        <p:nvSpPr>
          <p:cNvPr id="19" name="TextBox 18"/>
          <p:cNvSpPr txBox="1"/>
          <p:nvPr/>
        </p:nvSpPr>
        <p:spPr>
          <a:xfrm>
            <a:off x="9221495" y="2788920"/>
            <a:ext cx="2330119" cy="365760"/>
          </a:xfrm>
          <a:prstGeom prst="rect">
            <a:avLst/>
          </a:prstGeom>
          <a:noFill/>
        </p:spPr>
        <p:txBody>
          <a:bodyPr wrap="square" lIns="0" tIns="0" rIns="0" bIns="0" anchor="t">
            <a:spAutoFit/>
          </a:bodyPr>
          <a:lstStyle/>
          <a:p>
            <a:pPr algn="l"/>
            <a:r>
              <a:rPr sz="1200" b="1" i="0">
                <a:solidFill>
                  <a:srgbClr val="FFFFFF"/>
                </a:solidFill>
                <a:latin typeface="Archivo"/>
              </a:rPr>
              <a:t>Celsius retail account block</a:t>
            </a:r>
          </a:p>
        </p:txBody>
      </p:sp>
      <p:sp>
        <p:nvSpPr>
          <p:cNvPr id="20" name="TextBox 19"/>
          <p:cNvSpPr txBox="1"/>
          <p:nvPr/>
        </p:nvSpPr>
        <p:spPr>
          <a:xfrm>
            <a:off x="9221495" y="3154680"/>
            <a:ext cx="2330119" cy="365760"/>
          </a:xfrm>
          <a:prstGeom prst="rect">
            <a:avLst/>
          </a:prstGeom>
          <a:noFill/>
        </p:spPr>
        <p:txBody>
          <a:bodyPr wrap="square" lIns="0" tIns="0" rIns="0" bIns="0" anchor="t">
            <a:spAutoFit/>
          </a:bodyPr>
          <a:lstStyle/>
          <a:p>
            <a:pPr algn="l"/>
            <a:r>
              <a:rPr sz="1000" b="0" i="1">
                <a:solidFill>
                  <a:srgbClr val="B0B0B0"/>
                </a:solidFill>
                <a:latin typeface="Archivo"/>
              </a:rPr>
              <a:t>Assignment · 2023</a:t>
            </a:r>
          </a:p>
        </p:txBody>
      </p:sp>
      <p:sp>
        <p:nvSpPr>
          <p:cNvPr id="21" name="Rectangle 20"/>
          <p:cNvSpPr/>
          <p:nvPr/>
        </p:nvSpPr>
        <p:spPr>
          <a:xfrm>
            <a:off x="457200" y="388620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069080"/>
            <a:ext cx="2330119" cy="640080"/>
          </a:xfrm>
          <a:prstGeom prst="rect">
            <a:avLst/>
          </a:prstGeom>
          <a:noFill/>
        </p:spPr>
        <p:txBody>
          <a:bodyPr wrap="square" lIns="0" tIns="0" rIns="0" bIns="0" anchor="t">
            <a:spAutoFit/>
          </a:bodyPr>
          <a:lstStyle/>
          <a:p>
            <a:pPr algn="l"/>
            <a:r>
              <a:rPr sz="2800" b="1" i="0" spc="-20">
                <a:solidFill>
                  <a:srgbClr val="FFFFFF"/>
                </a:solidFill>
                <a:latin typeface="Archivo"/>
              </a:rPr>
              <a:t>$33M</a:t>
            </a:r>
          </a:p>
        </p:txBody>
      </p:sp>
      <p:sp>
        <p:nvSpPr>
          <p:cNvPr id="23" name="TextBox 22"/>
          <p:cNvSpPr txBox="1"/>
          <p:nvPr/>
        </p:nvSpPr>
        <p:spPr>
          <a:xfrm>
            <a:off x="640080" y="4663440"/>
            <a:ext cx="2330119" cy="365760"/>
          </a:xfrm>
          <a:prstGeom prst="rect">
            <a:avLst/>
          </a:prstGeom>
          <a:noFill/>
        </p:spPr>
        <p:txBody>
          <a:bodyPr wrap="square" lIns="0" tIns="0" rIns="0" bIns="0" anchor="t">
            <a:spAutoFit/>
          </a:bodyPr>
          <a:lstStyle/>
          <a:p>
            <a:pPr algn="l"/>
            <a:r>
              <a:rPr sz="1200" b="1" i="0">
                <a:solidFill>
                  <a:srgbClr val="FFFFFF"/>
                </a:solidFill>
                <a:latin typeface="Archivo"/>
              </a:rPr>
              <a:t>Institutional customer claim</a:t>
            </a:r>
          </a:p>
        </p:txBody>
      </p:sp>
      <p:sp>
        <p:nvSpPr>
          <p:cNvPr id="24" name="TextBox 23"/>
          <p:cNvSpPr txBox="1"/>
          <p:nvPr/>
        </p:nvSpPr>
        <p:spPr>
          <a:xfrm>
            <a:off x="640080" y="5029200"/>
            <a:ext cx="2330119" cy="365760"/>
          </a:xfrm>
          <a:prstGeom prst="rect">
            <a:avLst/>
          </a:prstGeom>
          <a:noFill/>
        </p:spPr>
        <p:txBody>
          <a:bodyPr wrap="square" lIns="0" tIns="0" rIns="0" bIns="0" anchor="t">
            <a:spAutoFit/>
          </a:bodyPr>
          <a:lstStyle/>
          <a:p>
            <a:pPr algn="l"/>
            <a:r>
              <a:rPr sz="1000" b="0" i="1">
                <a:solidFill>
                  <a:srgbClr val="B0B0B0"/>
                </a:solidFill>
                <a:latin typeface="Archivo"/>
              </a:rPr>
              <a:t>Assignment · Jun 2023</a:t>
            </a:r>
          </a:p>
        </p:txBody>
      </p:sp>
      <p:sp>
        <p:nvSpPr>
          <p:cNvPr id="25" name="Rectangle 24"/>
          <p:cNvSpPr/>
          <p:nvPr/>
        </p:nvSpPr>
        <p:spPr>
          <a:xfrm>
            <a:off x="3317671" y="388620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00551" y="4069080"/>
            <a:ext cx="2330119" cy="640080"/>
          </a:xfrm>
          <a:prstGeom prst="rect">
            <a:avLst/>
          </a:prstGeom>
          <a:noFill/>
        </p:spPr>
        <p:txBody>
          <a:bodyPr wrap="square" lIns="0" tIns="0" rIns="0" bIns="0" anchor="t">
            <a:spAutoFit/>
          </a:bodyPr>
          <a:lstStyle/>
          <a:p>
            <a:pPr algn="l"/>
            <a:r>
              <a:rPr sz="2800" b="1" i="0" spc="-20">
                <a:solidFill>
                  <a:srgbClr val="FFFFFF"/>
                </a:solidFill>
                <a:latin typeface="Archivo"/>
              </a:rPr>
              <a:t>$18M</a:t>
            </a:r>
          </a:p>
        </p:txBody>
      </p:sp>
      <p:sp>
        <p:nvSpPr>
          <p:cNvPr id="27" name="TextBox 26"/>
          <p:cNvSpPr txBox="1"/>
          <p:nvPr/>
        </p:nvSpPr>
        <p:spPr>
          <a:xfrm>
            <a:off x="3500551" y="4663440"/>
            <a:ext cx="2330119" cy="365760"/>
          </a:xfrm>
          <a:prstGeom prst="rect">
            <a:avLst/>
          </a:prstGeom>
          <a:noFill/>
        </p:spPr>
        <p:txBody>
          <a:bodyPr wrap="square" lIns="0" tIns="0" rIns="0" bIns="0" anchor="t">
            <a:spAutoFit/>
          </a:bodyPr>
          <a:lstStyle/>
          <a:p>
            <a:pPr algn="l"/>
            <a:r>
              <a:rPr sz="1200" b="1" i="0">
                <a:solidFill>
                  <a:srgbClr val="FFFFFF"/>
                </a:solidFill>
                <a:latin typeface="Archivo"/>
              </a:rPr>
              <a:t>BlockFi multi-creditor package</a:t>
            </a:r>
          </a:p>
        </p:txBody>
      </p:sp>
      <p:sp>
        <p:nvSpPr>
          <p:cNvPr id="28" name="TextBox 27"/>
          <p:cNvSpPr txBox="1"/>
          <p:nvPr/>
        </p:nvSpPr>
        <p:spPr>
          <a:xfrm>
            <a:off x="3500551" y="5029200"/>
            <a:ext cx="2330119" cy="365760"/>
          </a:xfrm>
          <a:prstGeom prst="rect">
            <a:avLst/>
          </a:prstGeom>
          <a:noFill/>
        </p:spPr>
        <p:txBody>
          <a:bodyPr wrap="square" lIns="0" tIns="0" rIns="0" bIns="0" anchor="t">
            <a:spAutoFit/>
          </a:bodyPr>
          <a:lstStyle/>
          <a:p>
            <a:pPr algn="l"/>
            <a:r>
              <a:rPr sz="1000" b="0" i="1">
                <a:solidFill>
                  <a:srgbClr val="B0B0B0"/>
                </a:solidFill>
                <a:latin typeface="Archivo"/>
              </a:rPr>
              <a:t>Assignment · 2023</a:t>
            </a:r>
          </a:p>
        </p:txBody>
      </p:sp>
      <p:sp>
        <p:nvSpPr>
          <p:cNvPr id="29" name="Rectangle 28"/>
          <p:cNvSpPr/>
          <p:nvPr/>
        </p:nvSpPr>
        <p:spPr>
          <a:xfrm>
            <a:off x="6178143" y="388620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61023" y="4069080"/>
            <a:ext cx="2330119" cy="640080"/>
          </a:xfrm>
          <a:prstGeom prst="rect">
            <a:avLst/>
          </a:prstGeom>
          <a:noFill/>
        </p:spPr>
        <p:txBody>
          <a:bodyPr wrap="square" lIns="0" tIns="0" rIns="0" bIns="0" anchor="t">
            <a:spAutoFit/>
          </a:bodyPr>
          <a:lstStyle/>
          <a:p>
            <a:pPr algn="l"/>
            <a:r>
              <a:rPr sz="2800" b="1" i="0" spc="-20">
                <a:solidFill>
                  <a:srgbClr val="FFFFFF"/>
                </a:solidFill>
                <a:latin typeface="Archivo"/>
              </a:rPr>
              <a:t>5,000+</a:t>
            </a:r>
          </a:p>
        </p:txBody>
      </p:sp>
      <p:sp>
        <p:nvSpPr>
          <p:cNvPr id="31" name="TextBox 30"/>
          <p:cNvSpPr txBox="1"/>
          <p:nvPr/>
        </p:nvSpPr>
        <p:spPr>
          <a:xfrm>
            <a:off x="6361023" y="4663440"/>
            <a:ext cx="2330119" cy="365760"/>
          </a:xfrm>
          <a:prstGeom prst="rect">
            <a:avLst/>
          </a:prstGeom>
          <a:noFill/>
        </p:spPr>
        <p:txBody>
          <a:bodyPr wrap="square" lIns="0" tIns="0" rIns="0" bIns="0" anchor="t">
            <a:spAutoFit/>
          </a:bodyPr>
          <a:lstStyle/>
          <a:p>
            <a:pPr algn="l"/>
            <a:r>
              <a:rPr sz="1200" b="1" i="0">
                <a:solidFill>
                  <a:srgbClr val="FFFFFF"/>
                </a:solidFill>
                <a:latin typeface="Archivo"/>
              </a:rPr>
              <a:t>Retail bankruptcy claims serviced</a:t>
            </a:r>
          </a:p>
        </p:txBody>
      </p:sp>
      <p:sp>
        <p:nvSpPr>
          <p:cNvPr id="32" name="TextBox 31"/>
          <p:cNvSpPr txBox="1"/>
          <p:nvPr/>
        </p:nvSpPr>
        <p:spPr>
          <a:xfrm>
            <a:off x="6361023" y="5029200"/>
            <a:ext cx="2330119" cy="365760"/>
          </a:xfrm>
          <a:prstGeom prst="rect">
            <a:avLst/>
          </a:prstGeom>
          <a:noFill/>
        </p:spPr>
        <p:txBody>
          <a:bodyPr wrap="square" lIns="0" tIns="0" rIns="0" bIns="0" anchor="t">
            <a:spAutoFit/>
          </a:bodyPr>
          <a:lstStyle/>
          <a:p>
            <a:pPr algn="l"/>
            <a:r>
              <a:rPr sz="1000" b="0" i="1">
                <a:solidFill>
                  <a:srgbClr val="B0B0B0"/>
                </a:solidFill>
                <a:latin typeface="Archivo"/>
              </a:rPr>
              <a:t>Origination · 2018–2025</a:t>
            </a:r>
          </a:p>
        </p:txBody>
      </p:sp>
      <p:sp>
        <p:nvSpPr>
          <p:cNvPr id="33" name="Rectangle 32"/>
          <p:cNvSpPr/>
          <p:nvPr/>
        </p:nvSpPr>
        <p:spPr>
          <a:xfrm>
            <a:off x="9038615" y="3886200"/>
            <a:ext cx="2695879" cy="1645920"/>
          </a:xfrm>
          <a:prstGeom prst="rect">
            <a:avLst/>
          </a:prstGeom>
          <a:solidFill>
            <a:srgbClr val="16161B"/>
          </a:solidFill>
          <a:ln w="635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21495" y="4069080"/>
            <a:ext cx="2330119" cy="640080"/>
          </a:xfrm>
          <a:prstGeom prst="rect">
            <a:avLst/>
          </a:prstGeom>
          <a:noFill/>
        </p:spPr>
        <p:txBody>
          <a:bodyPr wrap="square" lIns="0" tIns="0" rIns="0" bIns="0" anchor="t">
            <a:spAutoFit/>
          </a:bodyPr>
          <a:lstStyle/>
          <a:p>
            <a:pPr algn="l"/>
            <a:r>
              <a:rPr sz="2800" b="1" i="0" spc="-20">
                <a:solidFill>
                  <a:srgbClr val="FFFFFF"/>
                </a:solidFill>
                <a:latin typeface="Archivo"/>
              </a:rPr>
              <a:t>500+</a:t>
            </a:r>
          </a:p>
        </p:txBody>
      </p:sp>
      <p:sp>
        <p:nvSpPr>
          <p:cNvPr id="35" name="TextBox 34"/>
          <p:cNvSpPr txBox="1"/>
          <p:nvPr/>
        </p:nvSpPr>
        <p:spPr>
          <a:xfrm>
            <a:off x="9221495" y="4663440"/>
            <a:ext cx="2330119" cy="365760"/>
          </a:xfrm>
          <a:prstGeom prst="rect">
            <a:avLst/>
          </a:prstGeom>
          <a:noFill/>
        </p:spPr>
        <p:txBody>
          <a:bodyPr wrap="square" lIns="0" tIns="0" rIns="0" bIns="0" anchor="t">
            <a:spAutoFit/>
          </a:bodyPr>
          <a:lstStyle/>
          <a:p>
            <a:pPr algn="l"/>
            <a:r>
              <a:rPr sz="1200" b="1" i="0">
                <a:solidFill>
                  <a:srgbClr val="FFFFFF"/>
                </a:solidFill>
                <a:latin typeface="Archivo"/>
              </a:rPr>
              <a:t>Distinct institutional claim buyers</a:t>
            </a:r>
          </a:p>
        </p:txBody>
      </p:sp>
      <p:sp>
        <p:nvSpPr>
          <p:cNvPr id="36" name="TextBox 35"/>
          <p:cNvSpPr txBox="1"/>
          <p:nvPr/>
        </p:nvSpPr>
        <p:spPr>
          <a:xfrm>
            <a:off x="9221495" y="5029200"/>
            <a:ext cx="2330119" cy="365760"/>
          </a:xfrm>
          <a:prstGeom prst="rect">
            <a:avLst/>
          </a:prstGeom>
          <a:noFill/>
        </p:spPr>
        <p:txBody>
          <a:bodyPr wrap="square" lIns="0" tIns="0" rIns="0" bIns="0" anchor="t">
            <a:spAutoFit/>
          </a:bodyPr>
          <a:lstStyle/>
          <a:p>
            <a:pPr algn="l"/>
            <a:r>
              <a:rPr sz="1000" b="0" i="1">
                <a:solidFill>
                  <a:srgbClr val="B0B0B0"/>
                </a:solidFill>
                <a:latin typeface="Archivo"/>
              </a:rPr>
              <a:t>Counterparty network</a:t>
            </a:r>
          </a:p>
        </p:txBody>
      </p:sp>
      <p:sp>
        <p:nvSpPr>
          <p:cNvPr id="37" name="TextBox 36"/>
          <p:cNvSpPr txBox="1"/>
          <p:nvPr/>
        </p:nvSpPr>
        <p:spPr>
          <a:xfrm>
            <a:off x="457200" y="6263640"/>
            <a:ext cx="11247120" cy="274320"/>
          </a:xfrm>
          <a:prstGeom prst="rect">
            <a:avLst/>
          </a:prstGeom>
          <a:noFill/>
        </p:spPr>
        <p:txBody>
          <a:bodyPr wrap="square" lIns="0" tIns="0" rIns="0" bIns="0" anchor="t">
            <a:spAutoFit/>
          </a:bodyPr>
          <a:lstStyle/>
          <a:p>
            <a:pPr algn="l"/>
            <a:r>
              <a:rPr sz="900" b="0" i="1">
                <a:solidFill>
                  <a:srgbClr val="B0B0B0"/>
                </a:solidFill>
                <a:latin typeface="Archivo"/>
              </a:rPr>
              <a:t>*  Experience prior to founding Turnpage Digital Markets.</a:t>
            </a:r>
          </a:p>
        </p:txBody>
      </p:sp>
      <p:sp>
        <p:nvSpPr>
          <p:cNvPr id="38" name="TextBox 37"/>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FFFFFF"/>
                </a:solidFill>
                <a:latin typeface="Archivo"/>
              </a:rPr>
              <a:t>TURNPAGE  DIGITAL  MARKETS</a:t>
            </a:r>
          </a:p>
        </p:txBody>
      </p:sp>
      <p:sp>
        <p:nvSpPr>
          <p:cNvPr id="39" name="TextBox 38"/>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FFFFFF"/>
                </a:solidFill>
                <a:latin typeface="Archivo"/>
              </a:rPr>
              <a:t>09 / 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WHY TURNPAGE</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000" b="1" i="0" spc="-30" dirty="0">
                <a:solidFill>
                  <a:srgbClr val="0A0A0A"/>
                </a:solidFill>
                <a:latin typeface="Archivo"/>
              </a:rPr>
              <a:t>Operator-led, with the documentation already in place.</a:t>
            </a:r>
          </a:p>
        </p:txBody>
      </p:sp>
      <p:sp>
        <p:nvSpPr>
          <p:cNvPr id="6" name="Rectangle 5"/>
          <p:cNvSpPr/>
          <p:nvPr/>
        </p:nvSpPr>
        <p:spPr>
          <a:xfrm>
            <a:off x="457200" y="2011680"/>
            <a:ext cx="2194560" cy="2194560"/>
          </a:xfrm>
          <a:prstGeom prst="rect">
            <a:avLst/>
          </a:prstGeom>
          <a:solidFill>
            <a:srgbClr val="E5E7EB"/>
          </a:solidFill>
          <a:ln w="6350">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926080"/>
            <a:ext cx="2011680" cy="365760"/>
          </a:xfrm>
          <a:prstGeom prst="rect">
            <a:avLst/>
          </a:prstGeom>
          <a:noFill/>
        </p:spPr>
        <p:txBody>
          <a:bodyPr wrap="square" lIns="0" tIns="0" rIns="0" bIns="0" anchor="t">
            <a:spAutoFit/>
          </a:bodyPr>
          <a:lstStyle/>
          <a:p>
            <a:pPr algn="ctr"/>
            <a:r>
              <a:rPr sz="1100" b="1" i="0" spc="200">
                <a:solidFill>
                  <a:srgbClr val="6A6A6A"/>
                </a:solidFill>
                <a:latin typeface="Archivo"/>
              </a:rPr>
              <a:t>ANDREW GLANTZ</a:t>
            </a:r>
          </a:p>
        </p:txBody>
      </p:sp>
      <p:sp>
        <p:nvSpPr>
          <p:cNvPr id="8" name="TextBox 7"/>
          <p:cNvSpPr txBox="1"/>
          <p:nvPr/>
        </p:nvSpPr>
        <p:spPr>
          <a:xfrm>
            <a:off x="548640" y="3200400"/>
            <a:ext cx="2011680" cy="365760"/>
          </a:xfrm>
          <a:prstGeom prst="rect">
            <a:avLst/>
          </a:prstGeom>
          <a:noFill/>
        </p:spPr>
        <p:txBody>
          <a:bodyPr wrap="square" lIns="0" tIns="0" rIns="0" bIns="0" anchor="t">
            <a:spAutoFit/>
          </a:bodyPr>
          <a:lstStyle/>
          <a:p>
            <a:pPr algn="ctr"/>
            <a:r>
              <a:rPr sz="1000" b="0" i="1">
                <a:solidFill>
                  <a:srgbClr val="6A6A6A"/>
                </a:solidFill>
                <a:latin typeface="Archivo"/>
              </a:rPr>
              <a:t>Founder, Turnpage</a:t>
            </a:r>
          </a:p>
        </p:txBody>
      </p:sp>
      <p:sp>
        <p:nvSpPr>
          <p:cNvPr id="9" name="TextBox 8"/>
          <p:cNvSpPr txBox="1"/>
          <p:nvPr/>
        </p:nvSpPr>
        <p:spPr>
          <a:xfrm>
            <a:off x="2926080" y="2011680"/>
            <a:ext cx="8778240" cy="457200"/>
          </a:xfrm>
          <a:prstGeom prst="rect">
            <a:avLst/>
          </a:prstGeom>
          <a:noFill/>
        </p:spPr>
        <p:txBody>
          <a:bodyPr wrap="square" lIns="0" tIns="0" rIns="0" bIns="0" anchor="t">
            <a:spAutoFit/>
          </a:bodyPr>
          <a:lstStyle/>
          <a:p>
            <a:pPr algn="l"/>
            <a:r>
              <a:rPr sz="2000" b="1" i="0" spc="-10" dirty="0">
                <a:solidFill>
                  <a:srgbClr val="0A0A0A"/>
                </a:solidFill>
                <a:latin typeface="Archivo"/>
              </a:rPr>
              <a:t>Andrew Glantz, Founder</a:t>
            </a:r>
          </a:p>
        </p:txBody>
      </p:sp>
      <p:sp>
        <p:nvSpPr>
          <p:cNvPr id="10" name="TextBox 9"/>
          <p:cNvSpPr txBox="1"/>
          <p:nvPr/>
        </p:nvSpPr>
        <p:spPr>
          <a:xfrm>
            <a:off x="2926080" y="2514600"/>
            <a:ext cx="8778240" cy="1554480"/>
          </a:xfrm>
          <a:prstGeom prst="rect">
            <a:avLst/>
          </a:prstGeom>
          <a:noFill/>
        </p:spPr>
        <p:txBody>
          <a:bodyPr wrap="square" lIns="0" tIns="0" rIns="0" bIns="0" anchor="t">
            <a:spAutoFit/>
          </a:bodyPr>
          <a:lstStyle/>
          <a:p>
            <a:pPr algn="l">
              <a:spcAft>
                <a:spcPts val="400"/>
              </a:spcAft>
            </a:pPr>
            <a:r>
              <a:rPr sz="1300" b="0" i="0" dirty="0">
                <a:solidFill>
                  <a:srgbClr val="6A6A6A"/>
                </a:solidFill>
                <a:latin typeface="Archivo"/>
              </a:rPr>
              <a:t>15+ years building and running OTC desks for distressed claim assets — FTX, Mt. Gox, Genesis, Celsius, </a:t>
            </a:r>
            <a:r>
              <a:rPr sz="1300" b="0" i="0" dirty="0" err="1">
                <a:solidFill>
                  <a:srgbClr val="6A6A6A"/>
                </a:solidFill>
                <a:latin typeface="Archivo"/>
              </a:rPr>
              <a:t>BlockFi</a:t>
            </a:r>
            <a:r>
              <a:rPr sz="1300" b="0" i="0" dirty="0">
                <a:solidFill>
                  <a:srgbClr val="6A6A6A"/>
                </a:solidFill>
                <a:latin typeface="Archivo"/>
              </a:rPr>
              <a:t>, Lehman.</a:t>
            </a:r>
          </a:p>
          <a:p>
            <a:pPr algn="l">
              <a:spcAft>
                <a:spcPts val="400"/>
              </a:spcAft>
            </a:pPr>
            <a:r>
              <a:rPr sz="1300" b="0" i="0" dirty="0">
                <a:solidFill>
                  <a:srgbClr val="6A6A6A"/>
                </a:solidFill>
                <a:latin typeface="Archivo"/>
              </a:rPr>
              <a:t>Originated and structured $1B+ in transactions across institutional counterparties and 5,000+ retail sellers.*</a:t>
            </a:r>
          </a:p>
          <a:p>
            <a:pPr algn="l">
              <a:spcAft>
                <a:spcPts val="400"/>
              </a:spcAft>
            </a:pPr>
            <a:r>
              <a:rPr sz="1300" b="0" i="0" dirty="0">
                <a:solidFill>
                  <a:srgbClr val="6A6A6A"/>
                </a:solidFill>
                <a:latin typeface="Archivo"/>
              </a:rPr>
              <a:t>Closed the first AI copyright claim trade on record (Bartz, March 12, 2026).</a:t>
            </a:r>
          </a:p>
        </p:txBody>
      </p:sp>
      <p:sp>
        <p:nvSpPr>
          <p:cNvPr id="11" name="TextBox 10"/>
          <p:cNvSpPr txBox="1"/>
          <p:nvPr/>
        </p:nvSpPr>
        <p:spPr>
          <a:xfrm>
            <a:off x="457200" y="4617720"/>
            <a:ext cx="5486400" cy="274320"/>
          </a:xfrm>
          <a:prstGeom prst="rect">
            <a:avLst/>
          </a:prstGeom>
          <a:noFill/>
        </p:spPr>
        <p:txBody>
          <a:bodyPr wrap="square" lIns="0" tIns="0" rIns="0" bIns="0" anchor="t">
            <a:spAutoFit/>
          </a:bodyPr>
          <a:lstStyle/>
          <a:p>
            <a:pPr algn="l"/>
            <a:r>
              <a:rPr sz="1100" b="1" i="0" spc="240">
                <a:solidFill>
                  <a:srgbClr val="6A6A6A"/>
                </a:solidFill>
                <a:latin typeface="Archivo"/>
              </a:rPr>
              <a:t>OUR EDGE</a:t>
            </a:r>
          </a:p>
        </p:txBody>
      </p:sp>
      <p:sp>
        <p:nvSpPr>
          <p:cNvPr id="12" name="TextBox 11"/>
          <p:cNvSpPr txBox="1"/>
          <p:nvPr/>
        </p:nvSpPr>
        <p:spPr>
          <a:xfrm>
            <a:off x="457200" y="4983480"/>
            <a:ext cx="11247120" cy="365760"/>
          </a:xfrm>
          <a:prstGeom prst="rect">
            <a:avLst/>
          </a:prstGeom>
          <a:noFill/>
        </p:spPr>
        <p:txBody>
          <a:bodyPr wrap="square" lIns="0" tIns="0" rIns="0" bIns="0" anchor="t">
            <a:spAutoFit/>
          </a:bodyPr>
          <a:lstStyle/>
          <a:p>
            <a:pPr algn="l"/>
            <a:r>
              <a:rPr sz="1200" b="1" i="0">
                <a:solidFill>
                  <a:srgbClr val="0A0A0A"/>
                </a:solidFill>
                <a:latin typeface="Archivo"/>
              </a:rPr>
              <a:t>Documentation. </a:t>
            </a:r>
            <a:r>
              <a:rPr sz="1200" b="0" i="0">
                <a:solidFill>
                  <a:srgbClr val="6A6A6A"/>
                </a:solidFill>
                <a:latin typeface="Archivo"/>
              </a:rPr>
              <a:t>Trade Confirm, Assignment Agreement, Power of Attorney, Evidence of Transfer — production-ready.</a:t>
            </a:r>
          </a:p>
        </p:txBody>
      </p:sp>
      <p:sp>
        <p:nvSpPr>
          <p:cNvPr id="13" name="TextBox 12"/>
          <p:cNvSpPr txBox="1"/>
          <p:nvPr/>
        </p:nvSpPr>
        <p:spPr>
          <a:xfrm>
            <a:off x="457200" y="5303520"/>
            <a:ext cx="11247120" cy="365760"/>
          </a:xfrm>
          <a:prstGeom prst="rect">
            <a:avLst/>
          </a:prstGeom>
          <a:noFill/>
        </p:spPr>
        <p:txBody>
          <a:bodyPr wrap="square" lIns="0" tIns="0" rIns="0" bIns="0" anchor="t">
            <a:spAutoFit/>
          </a:bodyPr>
          <a:lstStyle/>
          <a:p>
            <a:pPr algn="l"/>
            <a:r>
              <a:rPr sz="1200" b="1" i="0" dirty="0">
                <a:solidFill>
                  <a:srgbClr val="0A0A0A"/>
                </a:solidFill>
                <a:latin typeface="Archivo"/>
              </a:rPr>
              <a:t>Pipeline. </a:t>
            </a:r>
            <a:r>
              <a:rPr sz="1200" b="0" i="0" dirty="0">
                <a:solidFill>
                  <a:srgbClr val="6A6A6A"/>
                </a:solidFill>
                <a:latin typeface="Archivo"/>
              </a:rPr>
              <a:t>AG personal contacts at Pearson, HMH, Cengage, McGraw Hill, Penguin Random House; published Publisher Pitch deck.</a:t>
            </a:r>
          </a:p>
        </p:txBody>
      </p:sp>
      <p:sp>
        <p:nvSpPr>
          <p:cNvPr id="14" name="TextBox 13"/>
          <p:cNvSpPr txBox="1"/>
          <p:nvPr/>
        </p:nvSpPr>
        <p:spPr>
          <a:xfrm>
            <a:off x="457200" y="5623560"/>
            <a:ext cx="11247120" cy="365760"/>
          </a:xfrm>
          <a:prstGeom prst="rect">
            <a:avLst/>
          </a:prstGeom>
          <a:noFill/>
        </p:spPr>
        <p:txBody>
          <a:bodyPr wrap="square" lIns="0" tIns="0" rIns="0" bIns="0" anchor="t">
            <a:spAutoFit/>
          </a:bodyPr>
          <a:lstStyle/>
          <a:p>
            <a:pPr algn="l"/>
            <a:r>
              <a:rPr sz="1200" b="1" i="0">
                <a:solidFill>
                  <a:srgbClr val="0A0A0A"/>
                </a:solidFill>
                <a:latin typeface="Archivo"/>
              </a:rPr>
              <a:t>Infrastructure. </a:t>
            </a:r>
            <a:r>
              <a:rPr sz="1200" b="0" i="0">
                <a:solidFill>
                  <a:srgbClr val="6A6A6A"/>
                </a:solidFill>
                <a:latin typeface="Archivo"/>
              </a:rPr>
              <a:t>AI IP Litigation Tracker; LLM-driven claim form extraction; integrated marketing site (turnpagedigital.com).</a:t>
            </a:r>
          </a:p>
        </p:txBody>
      </p:sp>
      <p:sp>
        <p:nvSpPr>
          <p:cNvPr id="15" name="TextBox 14"/>
          <p:cNvSpPr txBox="1"/>
          <p:nvPr/>
        </p:nvSpPr>
        <p:spPr>
          <a:xfrm>
            <a:off x="457200" y="5943600"/>
            <a:ext cx="11247120" cy="365760"/>
          </a:xfrm>
          <a:prstGeom prst="rect">
            <a:avLst/>
          </a:prstGeom>
          <a:noFill/>
        </p:spPr>
        <p:txBody>
          <a:bodyPr wrap="square" lIns="0" tIns="0" rIns="0" bIns="0" anchor="t">
            <a:spAutoFit/>
          </a:bodyPr>
          <a:lstStyle/>
          <a:p>
            <a:pPr algn="l"/>
            <a:r>
              <a:rPr sz="1200" b="1" i="0">
                <a:solidFill>
                  <a:srgbClr val="0A0A0A"/>
                </a:solidFill>
                <a:latin typeface="Archivo"/>
              </a:rPr>
              <a:t>Independence. </a:t>
            </a:r>
            <a:r>
              <a:rPr sz="1200" b="0" i="0">
                <a:solidFill>
                  <a:srgbClr val="6A6A6A"/>
                </a:solidFill>
                <a:latin typeface="Archivo"/>
              </a:rPr>
              <a:t>Not a law firm, not a broker-dealer. No conflicts with the firms we fund.</a:t>
            </a:r>
          </a:p>
        </p:txBody>
      </p:sp>
      <p:sp>
        <p:nvSpPr>
          <p:cNvPr id="16" name="TextBox 15"/>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17" name="TextBox 16"/>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10 / 18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FUND STRUCTURE</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600" b="1" i="0" spc="-30">
                <a:solidFill>
                  <a:srgbClr val="0A0A0A"/>
                </a:solidFill>
                <a:latin typeface="Archivo"/>
              </a:rPr>
              <a:t>Terms.</a:t>
            </a:r>
          </a:p>
        </p:txBody>
      </p:sp>
      <p:sp>
        <p:nvSpPr>
          <p:cNvPr id="6" name="Rectangle 5"/>
          <p:cNvSpPr/>
          <p:nvPr/>
        </p:nvSpPr>
        <p:spPr>
          <a:xfrm>
            <a:off x="457200" y="1874519"/>
            <a:ext cx="112471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947671"/>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VEHICLE</a:t>
            </a:r>
          </a:p>
        </p:txBody>
      </p:sp>
      <p:sp>
        <p:nvSpPr>
          <p:cNvPr id="8" name="TextBox 7"/>
          <p:cNvSpPr txBox="1"/>
          <p:nvPr/>
        </p:nvSpPr>
        <p:spPr>
          <a:xfrm>
            <a:off x="3566160" y="1938527"/>
            <a:ext cx="7955280" cy="329184"/>
          </a:xfrm>
          <a:prstGeom prst="rect">
            <a:avLst/>
          </a:prstGeom>
          <a:noFill/>
        </p:spPr>
        <p:txBody>
          <a:bodyPr wrap="square" lIns="0" tIns="0" rIns="0" bIns="0" anchor="t">
            <a:spAutoFit/>
          </a:bodyPr>
          <a:lstStyle/>
          <a:p>
            <a:pPr algn="l"/>
            <a:r>
              <a:rPr sz="1200" b="0" i="0">
                <a:solidFill>
                  <a:srgbClr val="0A0A0A"/>
                </a:solidFill>
                <a:latin typeface="Archivo"/>
              </a:rPr>
              <a:t>Turnpage AI Claims Fund I, LP (Delaware)</a:t>
            </a:r>
          </a:p>
        </p:txBody>
      </p:sp>
      <p:sp>
        <p:nvSpPr>
          <p:cNvPr id="9" name="Rectangle 8"/>
          <p:cNvSpPr/>
          <p:nvPr/>
        </p:nvSpPr>
        <p:spPr>
          <a:xfrm>
            <a:off x="457200" y="2203703"/>
            <a:ext cx="11247120" cy="3291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276855"/>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GENERAL PARTNER</a:t>
            </a:r>
          </a:p>
        </p:txBody>
      </p:sp>
      <p:sp>
        <p:nvSpPr>
          <p:cNvPr id="11" name="TextBox 10"/>
          <p:cNvSpPr txBox="1"/>
          <p:nvPr/>
        </p:nvSpPr>
        <p:spPr>
          <a:xfrm>
            <a:off x="3566160" y="2267711"/>
            <a:ext cx="7955280" cy="329184"/>
          </a:xfrm>
          <a:prstGeom prst="rect">
            <a:avLst/>
          </a:prstGeom>
          <a:noFill/>
        </p:spPr>
        <p:txBody>
          <a:bodyPr wrap="square" lIns="0" tIns="0" rIns="0" bIns="0" anchor="t">
            <a:spAutoFit/>
          </a:bodyPr>
          <a:lstStyle/>
          <a:p>
            <a:pPr algn="l"/>
            <a:r>
              <a:rPr sz="1200" b="0" i="0">
                <a:solidFill>
                  <a:srgbClr val="0A0A0A"/>
                </a:solidFill>
                <a:latin typeface="Archivo"/>
              </a:rPr>
              <a:t>Turnpage Digital Markets LLC</a:t>
            </a:r>
          </a:p>
        </p:txBody>
      </p:sp>
      <p:sp>
        <p:nvSpPr>
          <p:cNvPr id="12" name="Rectangle 11"/>
          <p:cNvSpPr/>
          <p:nvPr/>
        </p:nvSpPr>
        <p:spPr>
          <a:xfrm>
            <a:off x="457200" y="2532887"/>
            <a:ext cx="112471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606039"/>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TARGET RAISE</a:t>
            </a:r>
          </a:p>
        </p:txBody>
      </p:sp>
      <p:sp>
        <p:nvSpPr>
          <p:cNvPr id="14" name="TextBox 13"/>
          <p:cNvSpPr txBox="1"/>
          <p:nvPr/>
        </p:nvSpPr>
        <p:spPr>
          <a:xfrm>
            <a:off x="3566160" y="2596895"/>
            <a:ext cx="7955280" cy="329184"/>
          </a:xfrm>
          <a:prstGeom prst="rect">
            <a:avLst/>
          </a:prstGeom>
          <a:noFill/>
        </p:spPr>
        <p:txBody>
          <a:bodyPr wrap="square" lIns="0" tIns="0" rIns="0" bIns="0" anchor="t">
            <a:spAutoFit/>
          </a:bodyPr>
          <a:lstStyle/>
          <a:p>
            <a:pPr algn="l"/>
            <a:r>
              <a:rPr sz="1200" b="0" i="0">
                <a:solidFill>
                  <a:srgbClr val="0A0A0A"/>
                </a:solidFill>
                <a:latin typeface="Archivo"/>
              </a:rPr>
              <a:t>$30,000,000 commitments</a:t>
            </a:r>
          </a:p>
        </p:txBody>
      </p:sp>
      <p:sp>
        <p:nvSpPr>
          <p:cNvPr id="15" name="Rectangle 14"/>
          <p:cNvSpPr/>
          <p:nvPr/>
        </p:nvSpPr>
        <p:spPr>
          <a:xfrm>
            <a:off x="457200" y="2862071"/>
            <a:ext cx="11247120" cy="3291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935223"/>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MINIMUM COMMITMENT</a:t>
            </a:r>
          </a:p>
        </p:txBody>
      </p:sp>
      <p:sp>
        <p:nvSpPr>
          <p:cNvPr id="17" name="TextBox 16"/>
          <p:cNvSpPr txBox="1"/>
          <p:nvPr/>
        </p:nvSpPr>
        <p:spPr>
          <a:xfrm>
            <a:off x="3566160" y="2926079"/>
            <a:ext cx="7955280" cy="329184"/>
          </a:xfrm>
          <a:prstGeom prst="rect">
            <a:avLst/>
          </a:prstGeom>
          <a:noFill/>
        </p:spPr>
        <p:txBody>
          <a:bodyPr wrap="square" lIns="0" tIns="0" rIns="0" bIns="0" anchor="t">
            <a:spAutoFit/>
          </a:bodyPr>
          <a:lstStyle/>
          <a:p>
            <a:pPr algn="l"/>
            <a:r>
              <a:rPr sz="1200" b="0" i="0">
                <a:solidFill>
                  <a:srgbClr val="0A0A0A"/>
                </a:solidFill>
                <a:latin typeface="Archivo"/>
              </a:rPr>
              <a:t>$500,000 (LPs); GP discretion to accept smaller in select cases</a:t>
            </a:r>
          </a:p>
        </p:txBody>
      </p:sp>
      <p:sp>
        <p:nvSpPr>
          <p:cNvPr id="18" name="Rectangle 17"/>
          <p:cNvSpPr/>
          <p:nvPr/>
        </p:nvSpPr>
        <p:spPr>
          <a:xfrm>
            <a:off x="457200" y="3191255"/>
            <a:ext cx="112471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3264407"/>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INVESTMENT PERIOD</a:t>
            </a:r>
          </a:p>
        </p:txBody>
      </p:sp>
      <p:sp>
        <p:nvSpPr>
          <p:cNvPr id="20" name="TextBox 19"/>
          <p:cNvSpPr txBox="1"/>
          <p:nvPr/>
        </p:nvSpPr>
        <p:spPr>
          <a:xfrm>
            <a:off x="3566160" y="3255263"/>
            <a:ext cx="7955280" cy="329184"/>
          </a:xfrm>
          <a:prstGeom prst="rect">
            <a:avLst/>
          </a:prstGeom>
          <a:noFill/>
        </p:spPr>
        <p:txBody>
          <a:bodyPr wrap="square" lIns="0" tIns="0" rIns="0" bIns="0" anchor="t">
            <a:spAutoFit/>
          </a:bodyPr>
          <a:lstStyle/>
          <a:p>
            <a:pPr algn="l"/>
            <a:r>
              <a:rPr sz="1200" b="0" i="0">
                <a:solidFill>
                  <a:srgbClr val="0A0A0A"/>
                </a:solidFill>
                <a:latin typeface="Archivo"/>
              </a:rPr>
              <a:t>18 months from final close</a:t>
            </a:r>
          </a:p>
        </p:txBody>
      </p:sp>
      <p:sp>
        <p:nvSpPr>
          <p:cNvPr id="21" name="Rectangle 20"/>
          <p:cNvSpPr/>
          <p:nvPr/>
        </p:nvSpPr>
        <p:spPr>
          <a:xfrm>
            <a:off x="457200" y="3520439"/>
            <a:ext cx="11247120" cy="3291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593591"/>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FUND TERM</a:t>
            </a:r>
          </a:p>
        </p:txBody>
      </p:sp>
      <p:sp>
        <p:nvSpPr>
          <p:cNvPr id="23" name="TextBox 22"/>
          <p:cNvSpPr txBox="1"/>
          <p:nvPr/>
        </p:nvSpPr>
        <p:spPr>
          <a:xfrm>
            <a:off x="3566160" y="3584447"/>
            <a:ext cx="7955280" cy="329184"/>
          </a:xfrm>
          <a:prstGeom prst="rect">
            <a:avLst/>
          </a:prstGeom>
          <a:noFill/>
        </p:spPr>
        <p:txBody>
          <a:bodyPr wrap="square" lIns="0" tIns="0" rIns="0" bIns="0" anchor="t">
            <a:spAutoFit/>
          </a:bodyPr>
          <a:lstStyle/>
          <a:p>
            <a:pPr algn="l"/>
            <a:r>
              <a:rPr sz="1200" b="0" i="0">
                <a:solidFill>
                  <a:srgbClr val="0A0A0A"/>
                </a:solidFill>
                <a:latin typeface="Archivo"/>
              </a:rPr>
              <a:t>4 years from final close, extendable 2 × 1 year at GP discretion</a:t>
            </a:r>
          </a:p>
        </p:txBody>
      </p:sp>
      <p:sp>
        <p:nvSpPr>
          <p:cNvPr id="24" name="Rectangle 23"/>
          <p:cNvSpPr/>
          <p:nvPr/>
        </p:nvSpPr>
        <p:spPr>
          <a:xfrm>
            <a:off x="457200" y="3849623"/>
            <a:ext cx="112471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 y="3922775"/>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MANAGEMENT FEE</a:t>
            </a:r>
          </a:p>
        </p:txBody>
      </p:sp>
      <p:sp>
        <p:nvSpPr>
          <p:cNvPr id="26" name="TextBox 25"/>
          <p:cNvSpPr txBox="1"/>
          <p:nvPr/>
        </p:nvSpPr>
        <p:spPr>
          <a:xfrm>
            <a:off x="3566160" y="3913631"/>
            <a:ext cx="7955280" cy="329184"/>
          </a:xfrm>
          <a:prstGeom prst="rect">
            <a:avLst/>
          </a:prstGeom>
          <a:noFill/>
        </p:spPr>
        <p:txBody>
          <a:bodyPr wrap="square" lIns="0" tIns="0" rIns="0" bIns="0" anchor="t">
            <a:spAutoFit/>
          </a:bodyPr>
          <a:lstStyle/>
          <a:p>
            <a:pPr algn="l"/>
            <a:r>
              <a:rPr sz="1200" b="0" i="0">
                <a:solidFill>
                  <a:srgbClr val="0A0A0A"/>
                </a:solidFill>
                <a:latin typeface="Archivo"/>
              </a:rPr>
              <a:t>1.5% per annum on committed capital during investment period; 1.0% on invested thereafter</a:t>
            </a:r>
          </a:p>
        </p:txBody>
      </p:sp>
      <p:sp>
        <p:nvSpPr>
          <p:cNvPr id="27" name="Rectangle 26"/>
          <p:cNvSpPr/>
          <p:nvPr/>
        </p:nvSpPr>
        <p:spPr>
          <a:xfrm>
            <a:off x="457200" y="4178807"/>
            <a:ext cx="11247120" cy="3291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251959"/>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CARRIED INTEREST</a:t>
            </a:r>
          </a:p>
        </p:txBody>
      </p:sp>
      <p:sp>
        <p:nvSpPr>
          <p:cNvPr id="29" name="TextBox 28"/>
          <p:cNvSpPr txBox="1"/>
          <p:nvPr/>
        </p:nvSpPr>
        <p:spPr>
          <a:xfrm>
            <a:off x="3566160" y="4242815"/>
            <a:ext cx="7955280" cy="329184"/>
          </a:xfrm>
          <a:prstGeom prst="rect">
            <a:avLst/>
          </a:prstGeom>
          <a:noFill/>
        </p:spPr>
        <p:txBody>
          <a:bodyPr wrap="square" lIns="0" tIns="0" rIns="0" bIns="0" anchor="t">
            <a:spAutoFit/>
          </a:bodyPr>
          <a:lstStyle/>
          <a:p>
            <a:pPr algn="l"/>
            <a:r>
              <a:rPr sz="1200" b="0" i="0">
                <a:solidFill>
                  <a:srgbClr val="0A0A0A"/>
                </a:solidFill>
                <a:latin typeface="Archivo"/>
              </a:rPr>
              <a:t>20% over an 8% preferred return with full GP catch-up</a:t>
            </a:r>
          </a:p>
        </p:txBody>
      </p:sp>
      <p:sp>
        <p:nvSpPr>
          <p:cNvPr id="30" name="Rectangle 29"/>
          <p:cNvSpPr/>
          <p:nvPr/>
        </p:nvSpPr>
        <p:spPr>
          <a:xfrm>
            <a:off x="457200" y="4507991"/>
            <a:ext cx="112471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4581143"/>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GP COMMITMENT</a:t>
            </a:r>
          </a:p>
        </p:txBody>
      </p:sp>
      <p:sp>
        <p:nvSpPr>
          <p:cNvPr id="32" name="TextBox 31"/>
          <p:cNvSpPr txBox="1"/>
          <p:nvPr/>
        </p:nvSpPr>
        <p:spPr>
          <a:xfrm>
            <a:off x="3566160" y="4571999"/>
            <a:ext cx="7955280" cy="329184"/>
          </a:xfrm>
          <a:prstGeom prst="rect">
            <a:avLst/>
          </a:prstGeom>
          <a:noFill/>
        </p:spPr>
        <p:txBody>
          <a:bodyPr wrap="square" lIns="0" tIns="0" rIns="0" bIns="0" anchor="t">
            <a:spAutoFit/>
          </a:bodyPr>
          <a:lstStyle/>
          <a:p>
            <a:pPr algn="l"/>
            <a:r>
              <a:rPr sz="1200" b="0" i="0">
                <a:solidFill>
                  <a:srgbClr val="0A0A0A"/>
                </a:solidFill>
                <a:latin typeface="Archivo"/>
              </a:rPr>
              <a:t>$1,000,000 (≥3.3%)</a:t>
            </a:r>
          </a:p>
        </p:txBody>
      </p:sp>
      <p:sp>
        <p:nvSpPr>
          <p:cNvPr id="33" name="Rectangle 32"/>
          <p:cNvSpPr/>
          <p:nvPr/>
        </p:nvSpPr>
        <p:spPr>
          <a:xfrm>
            <a:off x="457200" y="4837175"/>
            <a:ext cx="11247120" cy="3291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 y="4910327"/>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DISTRIBUTIONS</a:t>
            </a:r>
          </a:p>
        </p:txBody>
      </p:sp>
      <p:sp>
        <p:nvSpPr>
          <p:cNvPr id="35" name="TextBox 34"/>
          <p:cNvSpPr txBox="1"/>
          <p:nvPr/>
        </p:nvSpPr>
        <p:spPr>
          <a:xfrm>
            <a:off x="3566160" y="4901183"/>
            <a:ext cx="7955280" cy="329184"/>
          </a:xfrm>
          <a:prstGeom prst="rect">
            <a:avLst/>
          </a:prstGeom>
          <a:noFill/>
        </p:spPr>
        <p:txBody>
          <a:bodyPr wrap="square" lIns="0" tIns="0" rIns="0" bIns="0" anchor="t">
            <a:spAutoFit/>
          </a:bodyPr>
          <a:lstStyle/>
          <a:p>
            <a:pPr algn="l"/>
            <a:r>
              <a:rPr sz="1200" b="0" i="0">
                <a:solidFill>
                  <a:srgbClr val="0A0A0A"/>
                </a:solidFill>
                <a:latin typeface="Archivo"/>
              </a:rPr>
              <a:t>Quarterly when claims settle; legal-funding recoveries on case settlement; full European waterfall</a:t>
            </a:r>
          </a:p>
        </p:txBody>
      </p:sp>
      <p:sp>
        <p:nvSpPr>
          <p:cNvPr id="36" name="Rectangle 35"/>
          <p:cNvSpPr/>
          <p:nvPr/>
        </p:nvSpPr>
        <p:spPr>
          <a:xfrm>
            <a:off x="457200" y="5166359"/>
            <a:ext cx="112471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4360" y="5239511"/>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USE OF PROCEEDS</a:t>
            </a:r>
          </a:p>
        </p:txBody>
      </p:sp>
      <p:sp>
        <p:nvSpPr>
          <p:cNvPr id="38" name="TextBox 37"/>
          <p:cNvSpPr txBox="1"/>
          <p:nvPr/>
        </p:nvSpPr>
        <p:spPr>
          <a:xfrm>
            <a:off x="3566160" y="5230367"/>
            <a:ext cx="7955280" cy="329184"/>
          </a:xfrm>
          <a:prstGeom prst="rect">
            <a:avLst/>
          </a:prstGeom>
          <a:noFill/>
        </p:spPr>
        <p:txBody>
          <a:bodyPr wrap="square" lIns="0" tIns="0" rIns="0" bIns="0" anchor="t">
            <a:spAutoFit/>
          </a:bodyPr>
          <a:lstStyle/>
          <a:p>
            <a:pPr algn="l"/>
            <a:r>
              <a:rPr sz="1200" b="0" i="0">
                <a:solidFill>
                  <a:srgbClr val="0A0A0A"/>
                </a:solidFill>
                <a:latin typeface="Archivo"/>
              </a:rPr>
              <a:t>Up to ~75% Prong 1 (claims acquisition); up to ~25% Prong 2 (legal funding); 4% reserve for ops</a:t>
            </a:r>
          </a:p>
        </p:txBody>
      </p:sp>
      <p:sp>
        <p:nvSpPr>
          <p:cNvPr id="39" name="Rectangle 38"/>
          <p:cNvSpPr/>
          <p:nvPr/>
        </p:nvSpPr>
        <p:spPr>
          <a:xfrm>
            <a:off x="457200" y="5495543"/>
            <a:ext cx="11247120" cy="3291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94360" y="5568695"/>
            <a:ext cx="2926080" cy="329184"/>
          </a:xfrm>
          <a:prstGeom prst="rect">
            <a:avLst/>
          </a:prstGeom>
          <a:noFill/>
        </p:spPr>
        <p:txBody>
          <a:bodyPr wrap="square" lIns="0" tIns="0" rIns="0" bIns="0" anchor="t">
            <a:spAutoFit/>
          </a:bodyPr>
          <a:lstStyle/>
          <a:p>
            <a:pPr algn="l"/>
            <a:r>
              <a:rPr sz="1000" b="1" i="0" spc="180">
                <a:solidFill>
                  <a:srgbClr val="6A6A6A"/>
                </a:solidFill>
                <a:latin typeface="Archivo"/>
              </a:rPr>
              <a:t>REPORTING</a:t>
            </a:r>
          </a:p>
        </p:txBody>
      </p:sp>
      <p:sp>
        <p:nvSpPr>
          <p:cNvPr id="41" name="TextBox 40"/>
          <p:cNvSpPr txBox="1"/>
          <p:nvPr/>
        </p:nvSpPr>
        <p:spPr>
          <a:xfrm>
            <a:off x="3566160" y="5559551"/>
            <a:ext cx="7955280" cy="329184"/>
          </a:xfrm>
          <a:prstGeom prst="rect">
            <a:avLst/>
          </a:prstGeom>
          <a:noFill/>
        </p:spPr>
        <p:txBody>
          <a:bodyPr wrap="square" lIns="0" tIns="0" rIns="0" bIns="0" anchor="t">
            <a:spAutoFit/>
          </a:bodyPr>
          <a:lstStyle/>
          <a:p>
            <a:pPr algn="l"/>
            <a:r>
              <a:rPr sz="1200" b="0" i="0">
                <a:solidFill>
                  <a:srgbClr val="0A0A0A"/>
                </a:solidFill>
                <a:latin typeface="Archivo"/>
              </a:rPr>
              <a:t>Quarterly NAV and capital account statements; annual audited financials</a:t>
            </a:r>
          </a:p>
        </p:txBody>
      </p:sp>
      <p:sp>
        <p:nvSpPr>
          <p:cNvPr id="42" name="TextBox 41"/>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43" name="TextBox 42"/>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11 / 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USE OF PROCEEDS</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400" b="1" i="0" spc="-30">
                <a:solidFill>
                  <a:srgbClr val="0A0A0A"/>
                </a:solidFill>
                <a:latin typeface="Archivo"/>
              </a:rPr>
              <a:t>Where the $30M goes.</a:t>
            </a:r>
          </a:p>
        </p:txBody>
      </p:sp>
      <p:sp>
        <p:nvSpPr>
          <p:cNvPr id="6" name="Rectangle 5"/>
          <p:cNvSpPr/>
          <p:nvPr/>
        </p:nvSpPr>
        <p:spPr>
          <a:xfrm>
            <a:off x="457200" y="2103120"/>
            <a:ext cx="5623560" cy="8229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304288"/>
            <a:ext cx="5349240" cy="457200"/>
          </a:xfrm>
          <a:prstGeom prst="rect">
            <a:avLst/>
          </a:prstGeom>
          <a:noFill/>
        </p:spPr>
        <p:txBody>
          <a:bodyPr wrap="square" lIns="0" tIns="0" rIns="0" bIns="0" anchor="t">
            <a:spAutoFit/>
          </a:bodyPr>
          <a:lstStyle/>
          <a:p>
            <a:pPr algn="l"/>
            <a:r>
              <a:rPr sz="1800" b="1" i="0" spc="-10">
                <a:solidFill>
                  <a:srgbClr val="FFFFFF"/>
                </a:solidFill>
                <a:latin typeface="Archivo"/>
              </a:rPr>
              <a:t>$15.0M</a:t>
            </a:r>
          </a:p>
        </p:txBody>
      </p:sp>
      <p:sp>
        <p:nvSpPr>
          <p:cNvPr id="8" name="Rectangle 7"/>
          <p:cNvSpPr/>
          <p:nvPr/>
        </p:nvSpPr>
        <p:spPr>
          <a:xfrm>
            <a:off x="6080760" y="2103120"/>
            <a:ext cx="2811780" cy="82296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0" y="2304288"/>
            <a:ext cx="2537460" cy="457200"/>
          </a:xfrm>
          <a:prstGeom prst="rect">
            <a:avLst/>
          </a:prstGeom>
          <a:noFill/>
        </p:spPr>
        <p:txBody>
          <a:bodyPr wrap="square" lIns="0" tIns="0" rIns="0" bIns="0" anchor="t">
            <a:spAutoFit/>
          </a:bodyPr>
          <a:lstStyle/>
          <a:p>
            <a:pPr algn="l"/>
            <a:r>
              <a:rPr sz="1800" b="1" i="0" spc="-10">
                <a:solidFill>
                  <a:srgbClr val="FFFFFF"/>
                </a:solidFill>
                <a:latin typeface="Archivo"/>
              </a:rPr>
              <a:t>$7.5M</a:t>
            </a:r>
          </a:p>
        </p:txBody>
      </p:sp>
      <p:sp>
        <p:nvSpPr>
          <p:cNvPr id="10" name="Rectangle 9"/>
          <p:cNvSpPr/>
          <p:nvPr/>
        </p:nvSpPr>
        <p:spPr>
          <a:xfrm>
            <a:off x="8892540" y="2103120"/>
            <a:ext cx="2249424" cy="82296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29700" y="2304288"/>
            <a:ext cx="1975104" cy="457200"/>
          </a:xfrm>
          <a:prstGeom prst="rect">
            <a:avLst/>
          </a:prstGeom>
          <a:noFill/>
        </p:spPr>
        <p:txBody>
          <a:bodyPr wrap="square" lIns="0" tIns="0" rIns="0" bIns="0" anchor="t">
            <a:spAutoFit/>
          </a:bodyPr>
          <a:lstStyle/>
          <a:p>
            <a:pPr algn="l"/>
            <a:r>
              <a:rPr sz="1800" b="1" i="0" spc="-10">
                <a:solidFill>
                  <a:srgbClr val="FFFFFF"/>
                </a:solidFill>
                <a:latin typeface="Archivo"/>
              </a:rPr>
              <a:t>$6.0M</a:t>
            </a:r>
          </a:p>
        </p:txBody>
      </p:sp>
      <p:sp>
        <p:nvSpPr>
          <p:cNvPr id="12" name="Rectangle 11"/>
          <p:cNvSpPr/>
          <p:nvPr/>
        </p:nvSpPr>
        <p:spPr>
          <a:xfrm>
            <a:off x="11141964" y="2103120"/>
            <a:ext cx="562356" cy="822960"/>
          </a:xfrm>
          <a:prstGeom prst="rect">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971800"/>
            <a:ext cx="2286000" cy="36576"/>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154680"/>
            <a:ext cx="2720340" cy="365760"/>
          </a:xfrm>
          <a:prstGeom prst="rect">
            <a:avLst/>
          </a:prstGeom>
          <a:noFill/>
        </p:spPr>
        <p:txBody>
          <a:bodyPr wrap="square" lIns="0" tIns="0" rIns="0" bIns="0" anchor="t">
            <a:spAutoFit/>
          </a:bodyPr>
          <a:lstStyle/>
          <a:p>
            <a:pPr algn="l"/>
            <a:r>
              <a:rPr sz="1600" b="1" i="0" spc="-10">
                <a:solidFill>
                  <a:srgbClr val="0A0A0A"/>
                </a:solidFill>
                <a:latin typeface="Archivo"/>
              </a:rPr>
              <a:t>$15.0M</a:t>
            </a:r>
          </a:p>
        </p:txBody>
      </p:sp>
      <p:sp>
        <p:nvSpPr>
          <p:cNvPr id="15" name="TextBox 14"/>
          <p:cNvSpPr txBox="1"/>
          <p:nvPr/>
        </p:nvSpPr>
        <p:spPr>
          <a:xfrm>
            <a:off x="457200" y="3566160"/>
            <a:ext cx="2720340" cy="457200"/>
          </a:xfrm>
          <a:prstGeom prst="rect">
            <a:avLst/>
          </a:prstGeom>
          <a:noFill/>
        </p:spPr>
        <p:txBody>
          <a:bodyPr wrap="square" lIns="0" tIns="0" rIns="0" bIns="0" anchor="t">
            <a:spAutoFit/>
          </a:bodyPr>
          <a:lstStyle/>
          <a:p>
            <a:pPr algn="l"/>
            <a:r>
              <a:rPr sz="1100" b="0" i="0">
                <a:solidFill>
                  <a:srgbClr val="6A6A6A"/>
                </a:solidFill>
                <a:latin typeface="Archivo"/>
              </a:rPr>
              <a:t>Bartz claims acquisition</a:t>
            </a:r>
          </a:p>
        </p:txBody>
      </p:sp>
      <p:sp>
        <p:nvSpPr>
          <p:cNvPr id="16" name="TextBox 15"/>
          <p:cNvSpPr txBox="1"/>
          <p:nvPr/>
        </p:nvSpPr>
        <p:spPr>
          <a:xfrm>
            <a:off x="3268980" y="3154680"/>
            <a:ext cx="2720340" cy="365760"/>
          </a:xfrm>
          <a:prstGeom prst="rect">
            <a:avLst/>
          </a:prstGeom>
          <a:noFill/>
        </p:spPr>
        <p:txBody>
          <a:bodyPr wrap="square" lIns="0" tIns="0" rIns="0" bIns="0" anchor="t">
            <a:spAutoFit/>
          </a:bodyPr>
          <a:lstStyle/>
          <a:p>
            <a:pPr algn="l"/>
            <a:r>
              <a:rPr sz="1600" b="1" i="0" spc="-10">
                <a:solidFill>
                  <a:srgbClr val="0A0A0A"/>
                </a:solidFill>
                <a:latin typeface="Archivo"/>
              </a:rPr>
              <a:t>$7.5M</a:t>
            </a:r>
          </a:p>
        </p:txBody>
      </p:sp>
      <p:sp>
        <p:nvSpPr>
          <p:cNvPr id="17" name="TextBox 16"/>
          <p:cNvSpPr txBox="1"/>
          <p:nvPr/>
        </p:nvSpPr>
        <p:spPr>
          <a:xfrm>
            <a:off x="3268980" y="3566160"/>
            <a:ext cx="2720340" cy="457200"/>
          </a:xfrm>
          <a:prstGeom prst="rect">
            <a:avLst/>
          </a:prstGeom>
          <a:noFill/>
        </p:spPr>
        <p:txBody>
          <a:bodyPr wrap="square" lIns="0" tIns="0" rIns="0" bIns="0" anchor="t">
            <a:spAutoFit/>
          </a:bodyPr>
          <a:lstStyle/>
          <a:p>
            <a:pPr algn="l"/>
            <a:r>
              <a:rPr sz="1100" b="0" i="0">
                <a:solidFill>
                  <a:srgbClr val="6A6A6A"/>
                </a:solidFill>
                <a:latin typeface="Archivo"/>
              </a:rPr>
              <a:t>Follow-on AI cases</a:t>
            </a:r>
          </a:p>
        </p:txBody>
      </p:sp>
      <p:sp>
        <p:nvSpPr>
          <p:cNvPr id="18" name="TextBox 17"/>
          <p:cNvSpPr txBox="1"/>
          <p:nvPr/>
        </p:nvSpPr>
        <p:spPr>
          <a:xfrm>
            <a:off x="6080760" y="3154680"/>
            <a:ext cx="2720340" cy="365760"/>
          </a:xfrm>
          <a:prstGeom prst="rect">
            <a:avLst/>
          </a:prstGeom>
          <a:noFill/>
        </p:spPr>
        <p:txBody>
          <a:bodyPr wrap="square" lIns="0" tIns="0" rIns="0" bIns="0" anchor="t">
            <a:spAutoFit/>
          </a:bodyPr>
          <a:lstStyle/>
          <a:p>
            <a:pPr algn="l"/>
            <a:r>
              <a:rPr sz="1600" b="1" i="0" spc="-10">
                <a:solidFill>
                  <a:srgbClr val="0A0A0A"/>
                </a:solidFill>
                <a:latin typeface="Archivo"/>
              </a:rPr>
              <a:t>$6.0M</a:t>
            </a:r>
          </a:p>
        </p:txBody>
      </p:sp>
      <p:sp>
        <p:nvSpPr>
          <p:cNvPr id="19" name="TextBox 18"/>
          <p:cNvSpPr txBox="1"/>
          <p:nvPr/>
        </p:nvSpPr>
        <p:spPr>
          <a:xfrm>
            <a:off x="6080760" y="3566160"/>
            <a:ext cx="2720340" cy="457200"/>
          </a:xfrm>
          <a:prstGeom prst="rect">
            <a:avLst/>
          </a:prstGeom>
          <a:noFill/>
        </p:spPr>
        <p:txBody>
          <a:bodyPr wrap="square" lIns="0" tIns="0" rIns="0" bIns="0" anchor="t">
            <a:spAutoFit/>
          </a:bodyPr>
          <a:lstStyle/>
          <a:p>
            <a:pPr algn="l"/>
            <a:r>
              <a:rPr sz="1100" b="0" i="0">
                <a:solidFill>
                  <a:srgbClr val="6A6A6A"/>
                </a:solidFill>
                <a:latin typeface="Archivo"/>
              </a:rPr>
              <a:t>Plaintiff-side legal funding</a:t>
            </a:r>
          </a:p>
        </p:txBody>
      </p:sp>
      <p:sp>
        <p:nvSpPr>
          <p:cNvPr id="20" name="TextBox 19"/>
          <p:cNvSpPr txBox="1"/>
          <p:nvPr/>
        </p:nvSpPr>
        <p:spPr>
          <a:xfrm>
            <a:off x="8892540" y="3154680"/>
            <a:ext cx="2720340" cy="365760"/>
          </a:xfrm>
          <a:prstGeom prst="rect">
            <a:avLst/>
          </a:prstGeom>
          <a:noFill/>
        </p:spPr>
        <p:txBody>
          <a:bodyPr wrap="square" lIns="0" tIns="0" rIns="0" bIns="0" anchor="t">
            <a:spAutoFit/>
          </a:bodyPr>
          <a:lstStyle/>
          <a:p>
            <a:pPr algn="l"/>
            <a:r>
              <a:rPr sz="1600" b="1" i="0" spc="-10">
                <a:solidFill>
                  <a:srgbClr val="0A0A0A"/>
                </a:solidFill>
                <a:latin typeface="Archivo"/>
              </a:rPr>
              <a:t>$1.5M</a:t>
            </a:r>
          </a:p>
        </p:txBody>
      </p:sp>
      <p:sp>
        <p:nvSpPr>
          <p:cNvPr id="21" name="TextBox 20"/>
          <p:cNvSpPr txBox="1"/>
          <p:nvPr/>
        </p:nvSpPr>
        <p:spPr>
          <a:xfrm>
            <a:off x="8892540" y="3566160"/>
            <a:ext cx="2720340" cy="457200"/>
          </a:xfrm>
          <a:prstGeom prst="rect">
            <a:avLst/>
          </a:prstGeom>
          <a:noFill/>
        </p:spPr>
        <p:txBody>
          <a:bodyPr wrap="square" lIns="0" tIns="0" rIns="0" bIns="0" anchor="t">
            <a:spAutoFit/>
          </a:bodyPr>
          <a:lstStyle/>
          <a:p>
            <a:pPr algn="l"/>
            <a:r>
              <a:rPr sz="1100" b="0" i="0">
                <a:solidFill>
                  <a:srgbClr val="6A6A6A"/>
                </a:solidFill>
                <a:latin typeface="Archivo"/>
              </a:rPr>
              <a:t>Ops + diligence</a:t>
            </a:r>
          </a:p>
        </p:txBody>
      </p:sp>
      <p:sp>
        <p:nvSpPr>
          <p:cNvPr id="22" name="TextBox 21"/>
          <p:cNvSpPr txBox="1"/>
          <p:nvPr/>
        </p:nvSpPr>
        <p:spPr>
          <a:xfrm>
            <a:off x="457200" y="4114800"/>
            <a:ext cx="1463040" cy="457200"/>
          </a:xfrm>
          <a:prstGeom prst="rect">
            <a:avLst/>
          </a:prstGeom>
          <a:noFill/>
        </p:spPr>
        <p:txBody>
          <a:bodyPr wrap="square" lIns="0" tIns="0" rIns="0" bIns="0" anchor="t">
            <a:spAutoFit/>
          </a:bodyPr>
          <a:lstStyle/>
          <a:p>
            <a:pPr algn="l"/>
            <a:r>
              <a:rPr sz="1800" b="1" i="0" spc="-15">
                <a:solidFill>
                  <a:srgbClr val="0A0A0A"/>
                </a:solidFill>
                <a:latin typeface="Archivo"/>
              </a:rPr>
              <a:t>$15.0M</a:t>
            </a:r>
          </a:p>
        </p:txBody>
      </p:sp>
      <p:sp>
        <p:nvSpPr>
          <p:cNvPr id="23" name="TextBox 22"/>
          <p:cNvSpPr txBox="1"/>
          <p:nvPr/>
        </p:nvSpPr>
        <p:spPr>
          <a:xfrm>
            <a:off x="2011680" y="4114800"/>
            <a:ext cx="3383280" cy="457200"/>
          </a:xfrm>
          <a:prstGeom prst="rect">
            <a:avLst/>
          </a:prstGeom>
          <a:noFill/>
        </p:spPr>
        <p:txBody>
          <a:bodyPr wrap="square" lIns="0" tIns="0" rIns="0" bIns="0" anchor="t">
            <a:spAutoFit/>
          </a:bodyPr>
          <a:lstStyle/>
          <a:p>
            <a:pPr algn="l"/>
            <a:r>
              <a:rPr sz="1400" b="1" i="0">
                <a:solidFill>
                  <a:srgbClr val="0A0A0A"/>
                </a:solidFill>
                <a:latin typeface="Archivo"/>
              </a:rPr>
              <a:t>Bartz v. Anthropic claims</a:t>
            </a:r>
          </a:p>
        </p:txBody>
      </p:sp>
      <p:sp>
        <p:nvSpPr>
          <p:cNvPr id="24" name="TextBox 23"/>
          <p:cNvSpPr txBox="1"/>
          <p:nvPr/>
        </p:nvSpPr>
        <p:spPr>
          <a:xfrm>
            <a:off x="5486400" y="4160520"/>
            <a:ext cx="6217920" cy="457200"/>
          </a:xfrm>
          <a:prstGeom prst="rect">
            <a:avLst/>
          </a:prstGeom>
          <a:noFill/>
        </p:spPr>
        <p:txBody>
          <a:bodyPr wrap="square" lIns="0" tIns="0" rIns="0" bIns="0" anchor="t">
            <a:spAutoFit/>
          </a:bodyPr>
          <a:lstStyle/>
          <a:p>
            <a:pPr algn="l"/>
            <a:r>
              <a:rPr sz="1200" b="0" i="0">
                <a:solidFill>
                  <a:srgbClr val="6A6A6A"/>
                </a:solidFill>
                <a:latin typeface="Archivo"/>
              </a:rPr>
              <a:t>~9,000 publisher + ~18,000 author claims · 20% market share of top-20 publishers · close 2H 2026</a:t>
            </a:r>
          </a:p>
        </p:txBody>
      </p:sp>
      <p:sp>
        <p:nvSpPr>
          <p:cNvPr id="25" name="Rectangle 24"/>
          <p:cNvSpPr/>
          <p:nvPr/>
        </p:nvSpPr>
        <p:spPr>
          <a:xfrm>
            <a:off x="457200" y="4572000"/>
            <a:ext cx="112471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4663440"/>
            <a:ext cx="1463040" cy="457200"/>
          </a:xfrm>
          <a:prstGeom prst="rect">
            <a:avLst/>
          </a:prstGeom>
          <a:noFill/>
        </p:spPr>
        <p:txBody>
          <a:bodyPr wrap="square" lIns="0" tIns="0" rIns="0" bIns="0" anchor="t">
            <a:spAutoFit/>
          </a:bodyPr>
          <a:lstStyle/>
          <a:p>
            <a:pPr algn="l"/>
            <a:r>
              <a:rPr sz="1800" b="1" i="0" spc="-15">
                <a:solidFill>
                  <a:srgbClr val="0A0A0A"/>
                </a:solidFill>
                <a:latin typeface="Archivo"/>
              </a:rPr>
              <a:t>$7.5M</a:t>
            </a:r>
          </a:p>
        </p:txBody>
      </p:sp>
      <p:sp>
        <p:nvSpPr>
          <p:cNvPr id="27" name="TextBox 26"/>
          <p:cNvSpPr txBox="1"/>
          <p:nvPr/>
        </p:nvSpPr>
        <p:spPr>
          <a:xfrm>
            <a:off x="2011680" y="4663440"/>
            <a:ext cx="3383280" cy="457200"/>
          </a:xfrm>
          <a:prstGeom prst="rect">
            <a:avLst/>
          </a:prstGeom>
          <a:noFill/>
        </p:spPr>
        <p:txBody>
          <a:bodyPr wrap="square" lIns="0" tIns="0" rIns="0" bIns="0" anchor="t">
            <a:spAutoFit/>
          </a:bodyPr>
          <a:lstStyle/>
          <a:p>
            <a:pPr algn="l"/>
            <a:r>
              <a:rPr sz="1400" b="1" i="0">
                <a:solidFill>
                  <a:srgbClr val="0A0A0A"/>
                </a:solidFill>
                <a:latin typeface="Archivo"/>
              </a:rPr>
              <a:t>Kadrey / Authors Guild claims</a:t>
            </a:r>
          </a:p>
        </p:txBody>
      </p:sp>
      <p:sp>
        <p:nvSpPr>
          <p:cNvPr id="28" name="TextBox 27"/>
          <p:cNvSpPr txBox="1"/>
          <p:nvPr/>
        </p:nvSpPr>
        <p:spPr>
          <a:xfrm>
            <a:off x="5486400" y="4709160"/>
            <a:ext cx="6217920" cy="457200"/>
          </a:xfrm>
          <a:prstGeom prst="rect">
            <a:avLst/>
          </a:prstGeom>
          <a:noFill/>
        </p:spPr>
        <p:txBody>
          <a:bodyPr wrap="square" lIns="0" tIns="0" rIns="0" bIns="0" anchor="t">
            <a:spAutoFit/>
          </a:bodyPr>
          <a:lstStyle/>
          <a:p>
            <a:pPr algn="l"/>
            <a:r>
              <a:rPr sz="1200" b="0" i="0">
                <a:solidFill>
                  <a:srgbClr val="6A6A6A"/>
                </a:solidFill>
                <a:latin typeface="Archivo"/>
              </a:rPr>
              <a:t>Deploy on settlement events 2027–2028 · same per-claim economics</a:t>
            </a:r>
          </a:p>
        </p:txBody>
      </p:sp>
      <p:sp>
        <p:nvSpPr>
          <p:cNvPr id="29" name="Rectangle 28"/>
          <p:cNvSpPr/>
          <p:nvPr/>
        </p:nvSpPr>
        <p:spPr>
          <a:xfrm>
            <a:off x="457200" y="5120640"/>
            <a:ext cx="112471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212080"/>
            <a:ext cx="1463040" cy="457200"/>
          </a:xfrm>
          <a:prstGeom prst="rect">
            <a:avLst/>
          </a:prstGeom>
          <a:noFill/>
        </p:spPr>
        <p:txBody>
          <a:bodyPr wrap="square" lIns="0" tIns="0" rIns="0" bIns="0" anchor="t">
            <a:spAutoFit/>
          </a:bodyPr>
          <a:lstStyle/>
          <a:p>
            <a:pPr algn="l"/>
            <a:r>
              <a:rPr sz="1800" b="1" i="0" spc="-15">
                <a:solidFill>
                  <a:srgbClr val="0A0A0A"/>
                </a:solidFill>
                <a:latin typeface="Archivo"/>
              </a:rPr>
              <a:t>$6.0M</a:t>
            </a:r>
          </a:p>
        </p:txBody>
      </p:sp>
      <p:sp>
        <p:nvSpPr>
          <p:cNvPr id="31" name="TextBox 30"/>
          <p:cNvSpPr txBox="1"/>
          <p:nvPr/>
        </p:nvSpPr>
        <p:spPr>
          <a:xfrm>
            <a:off x="2011680" y="5212080"/>
            <a:ext cx="3383280" cy="457200"/>
          </a:xfrm>
          <a:prstGeom prst="rect">
            <a:avLst/>
          </a:prstGeom>
          <a:noFill/>
        </p:spPr>
        <p:txBody>
          <a:bodyPr wrap="square" lIns="0" tIns="0" rIns="0" bIns="0" anchor="t">
            <a:spAutoFit/>
          </a:bodyPr>
          <a:lstStyle/>
          <a:p>
            <a:pPr algn="l"/>
            <a:r>
              <a:rPr sz="1400" b="1" i="0">
                <a:solidFill>
                  <a:srgbClr val="0A0A0A"/>
                </a:solidFill>
                <a:latin typeface="Archivo"/>
              </a:rPr>
              <a:t>Plaintiff-side legal funding</a:t>
            </a:r>
          </a:p>
        </p:txBody>
      </p:sp>
      <p:sp>
        <p:nvSpPr>
          <p:cNvPr id="32" name="TextBox 31"/>
          <p:cNvSpPr txBox="1"/>
          <p:nvPr/>
        </p:nvSpPr>
        <p:spPr>
          <a:xfrm>
            <a:off x="5486400" y="5257800"/>
            <a:ext cx="6217920" cy="457200"/>
          </a:xfrm>
          <a:prstGeom prst="rect">
            <a:avLst/>
          </a:prstGeom>
          <a:noFill/>
        </p:spPr>
        <p:txBody>
          <a:bodyPr wrap="square" lIns="0" tIns="0" rIns="0" bIns="0" anchor="t">
            <a:spAutoFit/>
          </a:bodyPr>
          <a:lstStyle/>
          <a:p>
            <a:pPr algn="l"/>
            <a:r>
              <a:rPr sz="1200" b="0" i="0">
                <a:solidFill>
                  <a:srgbClr val="6A6A6A"/>
                </a:solidFill>
                <a:latin typeface="Archivo"/>
              </a:rPr>
              <a:t>$1.5M–$3.0M per matter · 3–5 funded cases · adjacent-docket selection</a:t>
            </a:r>
          </a:p>
        </p:txBody>
      </p:sp>
      <p:sp>
        <p:nvSpPr>
          <p:cNvPr id="33" name="Rectangle 32"/>
          <p:cNvSpPr/>
          <p:nvPr/>
        </p:nvSpPr>
        <p:spPr>
          <a:xfrm>
            <a:off x="457200" y="5669280"/>
            <a:ext cx="11247120" cy="45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5760720"/>
            <a:ext cx="1463040" cy="457200"/>
          </a:xfrm>
          <a:prstGeom prst="rect">
            <a:avLst/>
          </a:prstGeom>
          <a:noFill/>
        </p:spPr>
        <p:txBody>
          <a:bodyPr wrap="square" lIns="0" tIns="0" rIns="0" bIns="0" anchor="t">
            <a:spAutoFit/>
          </a:bodyPr>
          <a:lstStyle/>
          <a:p>
            <a:pPr algn="l"/>
            <a:r>
              <a:rPr sz="1800" b="1" i="0" spc="-15">
                <a:solidFill>
                  <a:srgbClr val="0A0A0A"/>
                </a:solidFill>
                <a:latin typeface="Archivo"/>
              </a:rPr>
              <a:t>$1.5M</a:t>
            </a:r>
          </a:p>
        </p:txBody>
      </p:sp>
      <p:sp>
        <p:nvSpPr>
          <p:cNvPr id="35" name="TextBox 34"/>
          <p:cNvSpPr txBox="1"/>
          <p:nvPr/>
        </p:nvSpPr>
        <p:spPr>
          <a:xfrm>
            <a:off x="2011680" y="5760720"/>
            <a:ext cx="3383280" cy="457200"/>
          </a:xfrm>
          <a:prstGeom prst="rect">
            <a:avLst/>
          </a:prstGeom>
          <a:noFill/>
        </p:spPr>
        <p:txBody>
          <a:bodyPr wrap="square" lIns="0" tIns="0" rIns="0" bIns="0" anchor="t">
            <a:spAutoFit/>
          </a:bodyPr>
          <a:lstStyle/>
          <a:p>
            <a:pPr algn="l"/>
            <a:r>
              <a:rPr sz="1400" b="1" i="0">
                <a:solidFill>
                  <a:srgbClr val="0A0A0A"/>
                </a:solidFill>
                <a:latin typeface="Archivo"/>
              </a:rPr>
              <a:t>Operations + diligence</a:t>
            </a:r>
          </a:p>
        </p:txBody>
      </p:sp>
      <p:sp>
        <p:nvSpPr>
          <p:cNvPr id="36" name="TextBox 35"/>
          <p:cNvSpPr txBox="1"/>
          <p:nvPr/>
        </p:nvSpPr>
        <p:spPr>
          <a:xfrm>
            <a:off x="5486400" y="5806440"/>
            <a:ext cx="6217920" cy="457200"/>
          </a:xfrm>
          <a:prstGeom prst="rect">
            <a:avLst/>
          </a:prstGeom>
          <a:noFill/>
        </p:spPr>
        <p:txBody>
          <a:bodyPr wrap="square" lIns="0" tIns="0" rIns="0" bIns="0" anchor="t">
            <a:spAutoFit/>
          </a:bodyPr>
          <a:lstStyle/>
          <a:p>
            <a:pPr algn="l"/>
            <a:r>
              <a:rPr sz="1200" b="0" i="0">
                <a:solidFill>
                  <a:srgbClr val="6A6A6A"/>
                </a:solidFill>
                <a:latin typeface="Archivo"/>
              </a:rPr>
              <a:t>Outside counsel · KYC · tax · audit · admin</a:t>
            </a:r>
          </a:p>
        </p:txBody>
      </p:sp>
      <p:sp>
        <p:nvSpPr>
          <p:cNvPr id="37" name="TextBox 36"/>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38" name="TextBox 37"/>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12 / 18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MODELED RETURNS</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2600" b="1" i="0" spc="-30">
                <a:solidFill>
                  <a:srgbClr val="0A0A0A"/>
                </a:solidFill>
                <a:latin typeface="Archivo"/>
              </a:rPr>
              <a:t>$30M committed. ~$66M target gross recovery. ~2.2x blended MOIC.</a:t>
            </a:r>
          </a:p>
        </p:txBody>
      </p:sp>
      <p:sp>
        <p:nvSpPr>
          <p:cNvPr id="6" name="Rectangle 5"/>
          <p:cNvSpPr/>
          <p:nvPr/>
        </p:nvSpPr>
        <p:spPr>
          <a:xfrm>
            <a:off x="457200" y="1920240"/>
            <a:ext cx="393192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066544"/>
            <a:ext cx="3657600" cy="502920"/>
          </a:xfrm>
          <a:prstGeom prst="rect">
            <a:avLst/>
          </a:prstGeom>
          <a:noFill/>
        </p:spPr>
        <p:txBody>
          <a:bodyPr wrap="square" lIns="0" tIns="0" rIns="0" bIns="0" anchor="t">
            <a:spAutoFit/>
          </a:bodyPr>
          <a:lstStyle/>
          <a:p>
            <a:pPr algn="l"/>
            <a:endParaRPr/>
          </a:p>
        </p:txBody>
      </p:sp>
      <p:sp>
        <p:nvSpPr>
          <p:cNvPr id="8" name="Rectangle 7"/>
          <p:cNvSpPr/>
          <p:nvPr/>
        </p:nvSpPr>
        <p:spPr>
          <a:xfrm>
            <a:off x="4389120" y="1920240"/>
            <a:ext cx="237744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2066544"/>
            <a:ext cx="2103120" cy="502920"/>
          </a:xfrm>
          <a:prstGeom prst="rect">
            <a:avLst/>
          </a:prstGeom>
          <a:noFill/>
        </p:spPr>
        <p:txBody>
          <a:bodyPr wrap="square" lIns="0" tIns="0" rIns="0" bIns="0" anchor="t">
            <a:spAutoFit/>
          </a:bodyPr>
          <a:lstStyle/>
          <a:p>
            <a:pPr algn="ctr"/>
            <a:r>
              <a:rPr sz="1200" b="1" i="0" spc="120">
                <a:solidFill>
                  <a:srgbClr val="FFFFFF"/>
                </a:solidFill>
                <a:latin typeface="Archivo"/>
              </a:rPr>
              <a:t>Downside</a:t>
            </a:r>
          </a:p>
        </p:txBody>
      </p:sp>
      <p:sp>
        <p:nvSpPr>
          <p:cNvPr id="10" name="Rectangle 9"/>
          <p:cNvSpPr/>
          <p:nvPr/>
        </p:nvSpPr>
        <p:spPr>
          <a:xfrm>
            <a:off x="6766560" y="1920240"/>
            <a:ext cx="246888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03720" y="2066544"/>
            <a:ext cx="2194560" cy="502920"/>
          </a:xfrm>
          <a:prstGeom prst="rect">
            <a:avLst/>
          </a:prstGeom>
          <a:noFill/>
        </p:spPr>
        <p:txBody>
          <a:bodyPr wrap="square" lIns="0" tIns="0" rIns="0" bIns="0" anchor="t">
            <a:spAutoFit/>
          </a:bodyPr>
          <a:lstStyle/>
          <a:p>
            <a:pPr algn="ctr"/>
            <a:r>
              <a:rPr sz="1200" b="1" i="0" spc="120">
                <a:solidFill>
                  <a:srgbClr val="FFFFFF"/>
                </a:solidFill>
                <a:latin typeface="Archivo"/>
              </a:rPr>
              <a:t>Base</a:t>
            </a:r>
          </a:p>
        </p:txBody>
      </p:sp>
      <p:sp>
        <p:nvSpPr>
          <p:cNvPr id="12" name="Rectangle 11"/>
          <p:cNvSpPr/>
          <p:nvPr/>
        </p:nvSpPr>
        <p:spPr>
          <a:xfrm>
            <a:off x="9235440" y="1920240"/>
            <a:ext cx="246888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72600" y="2066544"/>
            <a:ext cx="2194560" cy="502920"/>
          </a:xfrm>
          <a:prstGeom prst="rect">
            <a:avLst/>
          </a:prstGeom>
          <a:noFill/>
        </p:spPr>
        <p:txBody>
          <a:bodyPr wrap="square" lIns="0" tIns="0" rIns="0" bIns="0" anchor="t">
            <a:spAutoFit/>
          </a:bodyPr>
          <a:lstStyle/>
          <a:p>
            <a:pPr algn="ctr"/>
            <a:r>
              <a:rPr sz="1200" b="1" i="0" spc="120">
                <a:solidFill>
                  <a:srgbClr val="FFFFFF"/>
                </a:solidFill>
                <a:latin typeface="Archivo"/>
              </a:rPr>
              <a:t>Upside</a:t>
            </a:r>
          </a:p>
        </p:txBody>
      </p:sp>
      <p:sp>
        <p:nvSpPr>
          <p:cNvPr id="14" name="Rectangle 13"/>
          <p:cNvSpPr/>
          <p:nvPr/>
        </p:nvSpPr>
        <p:spPr>
          <a:xfrm>
            <a:off x="457200" y="2423160"/>
            <a:ext cx="393192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569464"/>
            <a:ext cx="3657600" cy="502920"/>
          </a:xfrm>
          <a:prstGeom prst="rect">
            <a:avLst/>
          </a:prstGeom>
          <a:noFill/>
        </p:spPr>
        <p:txBody>
          <a:bodyPr wrap="square" lIns="0" tIns="0" rIns="0" bIns="0" anchor="t">
            <a:spAutoFit/>
          </a:bodyPr>
          <a:lstStyle/>
          <a:p>
            <a:pPr algn="l"/>
            <a:r>
              <a:rPr sz="1300" b="1" i="0" spc="0">
                <a:solidFill>
                  <a:srgbClr val="0A0A0A"/>
                </a:solidFill>
                <a:latin typeface="Archivo"/>
              </a:rPr>
              <a:t>Bartz + follow-on claims</a:t>
            </a:r>
          </a:p>
        </p:txBody>
      </p:sp>
      <p:sp>
        <p:nvSpPr>
          <p:cNvPr id="16" name="Rectangle 15"/>
          <p:cNvSpPr/>
          <p:nvPr/>
        </p:nvSpPr>
        <p:spPr>
          <a:xfrm>
            <a:off x="4389120" y="2423160"/>
            <a:ext cx="237744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26280" y="2569464"/>
            <a:ext cx="2103120" cy="502920"/>
          </a:xfrm>
          <a:prstGeom prst="rect">
            <a:avLst/>
          </a:prstGeom>
          <a:noFill/>
        </p:spPr>
        <p:txBody>
          <a:bodyPr wrap="square" lIns="0" tIns="0" rIns="0" bIns="0" anchor="t">
            <a:spAutoFit/>
          </a:bodyPr>
          <a:lstStyle/>
          <a:p>
            <a:pPr algn="ctr"/>
            <a:r>
              <a:rPr sz="1300" b="0" i="0" spc="0">
                <a:solidFill>
                  <a:srgbClr val="0A0A0A"/>
                </a:solidFill>
                <a:latin typeface="Archivo"/>
              </a:rPr>
              <a:t>1.8x / 28% IRR</a:t>
            </a:r>
          </a:p>
        </p:txBody>
      </p:sp>
      <p:sp>
        <p:nvSpPr>
          <p:cNvPr id="18" name="Rectangle 17"/>
          <p:cNvSpPr/>
          <p:nvPr/>
        </p:nvSpPr>
        <p:spPr>
          <a:xfrm>
            <a:off x="6766560" y="2423160"/>
            <a:ext cx="246888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03720" y="256946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2.13x / 38% IRR</a:t>
            </a:r>
          </a:p>
        </p:txBody>
      </p:sp>
      <p:sp>
        <p:nvSpPr>
          <p:cNvPr id="20" name="Rectangle 19"/>
          <p:cNvSpPr/>
          <p:nvPr/>
        </p:nvSpPr>
        <p:spPr>
          <a:xfrm>
            <a:off x="9235440" y="2423160"/>
            <a:ext cx="246888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72600" y="256946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2.3x / 45% IRR</a:t>
            </a:r>
          </a:p>
        </p:txBody>
      </p:sp>
      <p:sp>
        <p:nvSpPr>
          <p:cNvPr id="22" name="Rectangle 21"/>
          <p:cNvSpPr/>
          <p:nvPr/>
        </p:nvSpPr>
        <p:spPr>
          <a:xfrm>
            <a:off x="457200" y="2926080"/>
            <a:ext cx="393192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072384"/>
            <a:ext cx="3657600" cy="502920"/>
          </a:xfrm>
          <a:prstGeom prst="rect">
            <a:avLst/>
          </a:prstGeom>
          <a:noFill/>
        </p:spPr>
        <p:txBody>
          <a:bodyPr wrap="square" lIns="0" tIns="0" rIns="0" bIns="0" anchor="t">
            <a:spAutoFit/>
          </a:bodyPr>
          <a:lstStyle/>
          <a:p>
            <a:pPr algn="l"/>
            <a:r>
              <a:rPr sz="1300" b="1" i="0" spc="0">
                <a:solidFill>
                  <a:srgbClr val="0A0A0A"/>
                </a:solidFill>
                <a:latin typeface="Archivo"/>
              </a:rPr>
              <a:t>Plaintiff-side legal funding</a:t>
            </a:r>
          </a:p>
        </p:txBody>
      </p:sp>
      <p:sp>
        <p:nvSpPr>
          <p:cNvPr id="24" name="Rectangle 23"/>
          <p:cNvSpPr/>
          <p:nvPr/>
        </p:nvSpPr>
        <p:spPr>
          <a:xfrm>
            <a:off x="4389120" y="2926080"/>
            <a:ext cx="237744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26280" y="3072384"/>
            <a:ext cx="2103120" cy="502920"/>
          </a:xfrm>
          <a:prstGeom prst="rect">
            <a:avLst/>
          </a:prstGeom>
          <a:noFill/>
        </p:spPr>
        <p:txBody>
          <a:bodyPr wrap="square" lIns="0" tIns="0" rIns="0" bIns="0" anchor="t">
            <a:spAutoFit/>
          </a:bodyPr>
          <a:lstStyle/>
          <a:p>
            <a:pPr algn="ctr"/>
            <a:r>
              <a:rPr sz="1300" b="0" i="0" spc="0">
                <a:solidFill>
                  <a:srgbClr val="0A0A0A"/>
                </a:solidFill>
                <a:latin typeface="Archivo"/>
              </a:rPr>
              <a:t>1.5x / 18% IRR</a:t>
            </a:r>
          </a:p>
        </p:txBody>
      </p:sp>
      <p:sp>
        <p:nvSpPr>
          <p:cNvPr id="26" name="Rectangle 25"/>
          <p:cNvSpPr/>
          <p:nvPr/>
        </p:nvSpPr>
        <p:spPr>
          <a:xfrm>
            <a:off x="6766560" y="2926080"/>
            <a:ext cx="246888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03720" y="307238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3.5x / 42% IRR</a:t>
            </a:r>
          </a:p>
        </p:txBody>
      </p:sp>
      <p:sp>
        <p:nvSpPr>
          <p:cNvPr id="28" name="Rectangle 27"/>
          <p:cNvSpPr/>
          <p:nvPr/>
        </p:nvSpPr>
        <p:spPr>
          <a:xfrm>
            <a:off x="9235440" y="2926080"/>
            <a:ext cx="246888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72600" y="307238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5.0x / 58% IRR</a:t>
            </a:r>
          </a:p>
        </p:txBody>
      </p:sp>
      <p:sp>
        <p:nvSpPr>
          <p:cNvPr id="30" name="Rectangle 29"/>
          <p:cNvSpPr/>
          <p:nvPr/>
        </p:nvSpPr>
        <p:spPr>
          <a:xfrm>
            <a:off x="457200" y="3429000"/>
            <a:ext cx="393192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3575304"/>
            <a:ext cx="3657600" cy="502920"/>
          </a:xfrm>
          <a:prstGeom prst="rect">
            <a:avLst/>
          </a:prstGeom>
          <a:noFill/>
        </p:spPr>
        <p:txBody>
          <a:bodyPr wrap="square" lIns="0" tIns="0" rIns="0" bIns="0" anchor="t">
            <a:spAutoFit/>
          </a:bodyPr>
          <a:lstStyle/>
          <a:p>
            <a:pPr algn="l"/>
            <a:r>
              <a:rPr sz="1300" b="1" i="0" spc="0">
                <a:solidFill>
                  <a:srgbClr val="FFFFFF"/>
                </a:solidFill>
                <a:latin typeface="Archivo"/>
              </a:rPr>
              <a:t>BLENDED FUND</a:t>
            </a:r>
          </a:p>
        </p:txBody>
      </p:sp>
      <p:sp>
        <p:nvSpPr>
          <p:cNvPr id="32" name="Rectangle 31"/>
          <p:cNvSpPr/>
          <p:nvPr/>
        </p:nvSpPr>
        <p:spPr>
          <a:xfrm>
            <a:off x="4389120" y="3429000"/>
            <a:ext cx="237744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26280" y="3575304"/>
            <a:ext cx="2103120" cy="502920"/>
          </a:xfrm>
          <a:prstGeom prst="rect">
            <a:avLst/>
          </a:prstGeom>
          <a:noFill/>
        </p:spPr>
        <p:txBody>
          <a:bodyPr wrap="square" lIns="0" tIns="0" rIns="0" bIns="0" anchor="t">
            <a:spAutoFit/>
          </a:bodyPr>
          <a:lstStyle/>
          <a:p>
            <a:pPr algn="ctr"/>
            <a:r>
              <a:rPr sz="1300" b="1" i="0" spc="0">
                <a:solidFill>
                  <a:srgbClr val="FFFFFF"/>
                </a:solidFill>
                <a:latin typeface="Archivo"/>
              </a:rPr>
              <a:t>1.7x / 24% IRR</a:t>
            </a:r>
          </a:p>
        </p:txBody>
      </p:sp>
      <p:sp>
        <p:nvSpPr>
          <p:cNvPr id="34" name="Rectangle 33"/>
          <p:cNvSpPr/>
          <p:nvPr/>
        </p:nvSpPr>
        <p:spPr>
          <a:xfrm>
            <a:off x="6766560" y="3429000"/>
            <a:ext cx="246888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03720" y="3575304"/>
            <a:ext cx="2194560" cy="502920"/>
          </a:xfrm>
          <a:prstGeom prst="rect">
            <a:avLst/>
          </a:prstGeom>
          <a:noFill/>
        </p:spPr>
        <p:txBody>
          <a:bodyPr wrap="square" lIns="0" tIns="0" rIns="0" bIns="0" anchor="t">
            <a:spAutoFit/>
          </a:bodyPr>
          <a:lstStyle/>
          <a:p>
            <a:pPr algn="ctr"/>
            <a:r>
              <a:rPr sz="1300" b="1" i="0" spc="0">
                <a:solidFill>
                  <a:srgbClr val="D4FF00"/>
                </a:solidFill>
                <a:latin typeface="Archivo"/>
              </a:rPr>
              <a:t>2.2x / 36% IRR</a:t>
            </a:r>
          </a:p>
        </p:txBody>
      </p:sp>
      <p:sp>
        <p:nvSpPr>
          <p:cNvPr id="36" name="Rectangle 35"/>
          <p:cNvSpPr/>
          <p:nvPr/>
        </p:nvSpPr>
        <p:spPr>
          <a:xfrm>
            <a:off x="9235440" y="3429000"/>
            <a:ext cx="246888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72600" y="3575304"/>
            <a:ext cx="2194560" cy="502920"/>
          </a:xfrm>
          <a:prstGeom prst="rect">
            <a:avLst/>
          </a:prstGeom>
          <a:noFill/>
        </p:spPr>
        <p:txBody>
          <a:bodyPr wrap="square" lIns="0" tIns="0" rIns="0" bIns="0" anchor="t">
            <a:spAutoFit/>
          </a:bodyPr>
          <a:lstStyle/>
          <a:p>
            <a:pPr algn="ctr"/>
            <a:r>
              <a:rPr sz="1300" b="1" i="0" spc="0">
                <a:solidFill>
                  <a:srgbClr val="FFFFFF"/>
                </a:solidFill>
                <a:latin typeface="Archivo"/>
              </a:rPr>
              <a:t>2.7x / 47% IRR</a:t>
            </a:r>
          </a:p>
        </p:txBody>
      </p:sp>
      <p:sp>
        <p:nvSpPr>
          <p:cNvPr id="38" name="Rectangle 37"/>
          <p:cNvSpPr/>
          <p:nvPr/>
        </p:nvSpPr>
        <p:spPr>
          <a:xfrm>
            <a:off x="457200" y="3931920"/>
            <a:ext cx="3931920" cy="502920"/>
          </a:xfrm>
          <a:prstGeom prst="rect">
            <a:avLst/>
          </a:prstGeom>
          <a:solidFill>
            <a:srgbClr val="F5F5F5"/>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4360" y="4078224"/>
            <a:ext cx="3657600" cy="502920"/>
          </a:xfrm>
          <a:prstGeom prst="rect">
            <a:avLst/>
          </a:prstGeom>
          <a:noFill/>
        </p:spPr>
        <p:txBody>
          <a:bodyPr wrap="square" lIns="0" tIns="0" rIns="0" bIns="0" anchor="t">
            <a:spAutoFit/>
          </a:bodyPr>
          <a:lstStyle/>
          <a:p>
            <a:pPr algn="l"/>
            <a:r>
              <a:rPr sz="1300" b="1" i="0" spc="0">
                <a:solidFill>
                  <a:srgbClr val="0A0A0A"/>
                </a:solidFill>
                <a:latin typeface="Archivo"/>
              </a:rPr>
              <a:t>Net to LP (after 1.5/20)</a:t>
            </a:r>
          </a:p>
        </p:txBody>
      </p:sp>
      <p:sp>
        <p:nvSpPr>
          <p:cNvPr id="40" name="Rectangle 39"/>
          <p:cNvSpPr/>
          <p:nvPr/>
        </p:nvSpPr>
        <p:spPr>
          <a:xfrm>
            <a:off x="4389120" y="3931920"/>
            <a:ext cx="2377440" cy="502920"/>
          </a:xfrm>
          <a:prstGeom prst="rect">
            <a:avLst/>
          </a:prstGeom>
          <a:solidFill>
            <a:srgbClr val="F5F5F5"/>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26280" y="4078224"/>
            <a:ext cx="2103120" cy="502920"/>
          </a:xfrm>
          <a:prstGeom prst="rect">
            <a:avLst/>
          </a:prstGeom>
          <a:noFill/>
        </p:spPr>
        <p:txBody>
          <a:bodyPr wrap="square" lIns="0" tIns="0" rIns="0" bIns="0" anchor="t">
            <a:spAutoFit/>
          </a:bodyPr>
          <a:lstStyle/>
          <a:p>
            <a:pPr algn="ctr"/>
            <a:r>
              <a:rPr sz="1300" b="0" i="0" spc="0">
                <a:solidFill>
                  <a:srgbClr val="0A0A0A"/>
                </a:solidFill>
                <a:latin typeface="Archivo"/>
              </a:rPr>
              <a:t>1.4x / 16% IRR</a:t>
            </a:r>
          </a:p>
        </p:txBody>
      </p:sp>
      <p:sp>
        <p:nvSpPr>
          <p:cNvPr id="42" name="Rectangle 41"/>
          <p:cNvSpPr/>
          <p:nvPr/>
        </p:nvSpPr>
        <p:spPr>
          <a:xfrm>
            <a:off x="6766560" y="3931920"/>
            <a:ext cx="2468880" cy="502920"/>
          </a:xfrm>
          <a:prstGeom prst="rect">
            <a:avLst/>
          </a:prstGeom>
          <a:solidFill>
            <a:srgbClr val="F5F5F5"/>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903720" y="407822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1.9x / 28% IRR</a:t>
            </a:r>
          </a:p>
        </p:txBody>
      </p:sp>
      <p:sp>
        <p:nvSpPr>
          <p:cNvPr id="44" name="Rectangle 43"/>
          <p:cNvSpPr/>
          <p:nvPr/>
        </p:nvSpPr>
        <p:spPr>
          <a:xfrm>
            <a:off x="9235440" y="3931920"/>
            <a:ext cx="2468880" cy="502920"/>
          </a:xfrm>
          <a:prstGeom prst="rect">
            <a:avLst/>
          </a:prstGeom>
          <a:solidFill>
            <a:srgbClr val="F5F5F5"/>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72600" y="407822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2.3x / 38% IRR</a:t>
            </a:r>
          </a:p>
        </p:txBody>
      </p:sp>
      <p:sp>
        <p:nvSpPr>
          <p:cNvPr id="46" name="Rectangle 45"/>
          <p:cNvSpPr/>
          <p:nvPr/>
        </p:nvSpPr>
        <p:spPr>
          <a:xfrm>
            <a:off x="457200" y="4434840"/>
            <a:ext cx="393192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4581144"/>
            <a:ext cx="3657600" cy="502920"/>
          </a:xfrm>
          <a:prstGeom prst="rect">
            <a:avLst/>
          </a:prstGeom>
          <a:noFill/>
        </p:spPr>
        <p:txBody>
          <a:bodyPr wrap="square" lIns="0" tIns="0" rIns="0" bIns="0" anchor="t">
            <a:spAutoFit/>
          </a:bodyPr>
          <a:lstStyle/>
          <a:p>
            <a:pPr algn="l"/>
            <a:r>
              <a:rPr sz="1300" b="1" i="0" spc="0">
                <a:solidFill>
                  <a:srgbClr val="0A0A0A"/>
                </a:solidFill>
                <a:latin typeface="Archivo"/>
              </a:rPr>
              <a:t>Gross profit ($M)</a:t>
            </a:r>
          </a:p>
        </p:txBody>
      </p:sp>
      <p:sp>
        <p:nvSpPr>
          <p:cNvPr id="48" name="Rectangle 47"/>
          <p:cNvSpPr/>
          <p:nvPr/>
        </p:nvSpPr>
        <p:spPr>
          <a:xfrm>
            <a:off x="4389120" y="4434840"/>
            <a:ext cx="237744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526280" y="4581144"/>
            <a:ext cx="2103120" cy="502920"/>
          </a:xfrm>
          <a:prstGeom prst="rect">
            <a:avLst/>
          </a:prstGeom>
          <a:noFill/>
        </p:spPr>
        <p:txBody>
          <a:bodyPr wrap="square" lIns="0" tIns="0" rIns="0" bIns="0" anchor="t">
            <a:spAutoFit/>
          </a:bodyPr>
          <a:lstStyle/>
          <a:p>
            <a:pPr algn="ctr"/>
            <a:r>
              <a:rPr sz="1300" b="0" i="0" spc="0">
                <a:solidFill>
                  <a:srgbClr val="0A0A0A"/>
                </a:solidFill>
                <a:latin typeface="Archivo"/>
              </a:rPr>
              <a:t>$21M</a:t>
            </a:r>
          </a:p>
        </p:txBody>
      </p:sp>
      <p:sp>
        <p:nvSpPr>
          <p:cNvPr id="50" name="Rectangle 49"/>
          <p:cNvSpPr/>
          <p:nvPr/>
        </p:nvSpPr>
        <p:spPr>
          <a:xfrm>
            <a:off x="6766560" y="4434840"/>
            <a:ext cx="246888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903720" y="458114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$36M</a:t>
            </a:r>
          </a:p>
        </p:txBody>
      </p:sp>
      <p:sp>
        <p:nvSpPr>
          <p:cNvPr id="52" name="Rectangle 51"/>
          <p:cNvSpPr/>
          <p:nvPr/>
        </p:nvSpPr>
        <p:spPr>
          <a:xfrm>
            <a:off x="9235440" y="4434840"/>
            <a:ext cx="246888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372600" y="4581144"/>
            <a:ext cx="2194560" cy="502920"/>
          </a:xfrm>
          <a:prstGeom prst="rect">
            <a:avLst/>
          </a:prstGeom>
          <a:noFill/>
        </p:spPr>
        <p:txBody>
          <a:bodyPr wrap="square" lIns="0" tIns="0" rIns="0" bIns="0" anchor="t">
            <a:spAutoFit/>
          </a:bodyPr>
          <a:lstStyle/>
          <a:p>
            <a:pPr algn="ctr"/>
            <a:r>
              <a:rPr sz="1300" b="0" i="0" spc="0">
                <a:solidFill>
                  <a:srgbClr val="0A0A0A"/>
                </a:solidFill>
                <a:latin typeface="Archivo"/>
              </a:rPr>
              <a:t>$51M</a:t>
            </a:r>
          </a:p>
        </p:txBody>
      </p:sp>
      <p:sp>
        <p:nvSpPr>
          <p:cNvPr id="54" name="TextBox 53"/>
          <p:cNvSpPr txBox="1"/>
          <p:nvPr/>
        </p:nvSpPr>
        <p:spPr>
          <a:xfrm>
            <a:off x="457200" y="5120640"/>
            <a:ext cx="11247120" cy="457200"/>
          </a:xfrm>
          <a:prstGeom prst="rect">
            <a:avLst/>
          </a:prstGeom>
          <a:noFill/>
        </p:spPr>
        <p:txBody>
          <a:bodyPr wrap="square" lIns="0" tIns="0" rIns="0" bIns="0" anchor="t">
            <a:spAutoFit/>
          </a:bodyPr>
          <a:lstStyle/>
          <a:p>
            <a:pPr algn="l"/>
            <a:r>
              <a:rPr sz="1200" b="0" i="1">
                <a:solidFill>
                  <a:srgbClr val="6A6A6A"/>
                </a:solidFill>
                <a:latin typeface="Archivo"/>
              </a:rPr>
              <a:t>Per-claim MOIC is invariant to volume — model sensitivity is dominated by (i) market share of target claims, (ii) filing rate, and (iii) appeal timing.</a:t>
            </a:r>
          </a:p>
        </p:txBody>
      </p:sp>
      <p:sp>
        <p:nvSpPr>
          <p:cNvPr id="55" name="TextBox 54"/>
          <p:cNvSpPr txBox="1"/>
          <p:nvPr/>
        </p:nvSpPr>
        <p:spPr>
          <a:xfrm>
            <a:off x="457200" y="5577840"/>
            <a:ext cx="11247120" cy="457200"/>
          </a:xfrm>
          <a:prstGeom prst="rect">
            <a:avLst/>
          </a:prstGeom>
          <a:noFill/>
        </p:spPr>
        <p:txBody>
          <a:bodyPr wrap="square" lIns="0" tIns="0" rIns="0" bIns="0" anchor="t">
            <a:spAutoFit/>
          </a:bodyPr>
          <a:lstStyle/>
          <a:p>
            <a:pPr algn="l"/>
            <a:r>
              <a:rPr sz="1000" b="0" i="1">
                <a:solidFill>
                  <a:srgbClr val="999999"/>
                </a:solidFill>
                <a:latin typeface="Archivo"/>
              </a:rPr>
              <a:t>Source: TPDM Buyer Recovery Model (Anthropic.xlsx); plaintiff-side cases modeled on industry comparables. Gross of fund expenses except where noted.</a:t>
            </a:r>
          </a:p>
        </p:txBody>
      </p:sp>
      <p:sp>
        <p:nvSpPr>
          <p:cNvPr id="56" name="TextBox 55"/>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57" name="TextBox 56"/>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13 / 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RISK &amp; MITIGANTS</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2800" b="1" i="0" spc="-30">
                <a:solidFill>
                  <a:srgbClr val="0A0A0A"/>
                </a:solidFill>
                <a:latin typeface="Archivo"/>
              </a:rPr>
              <a:t>What can go wrong, and how we've already addressed it.</a:t>
            </a:r>
          </a:p>
        </p:txBody>
      </p:sp>
      <p:sp>
        <p:nvSpPr>
          <p:cNvPr id="6" name="Rectangle 5"/>
          <p:cNvSpPr/>
          <p:nvPr/>
        </p:nvSpPr>
        <p:spPr>
          <a:xfrm>
            <a:off x="457200" y="1828800"/>
            <a:ext cx="365760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0" y="1828800"/>
            <a:ext cx="7589520" cy="502920"/>
          </a:xfrm>
          <a:prstGeom prst="rect">
            <a:avLst/>
          </a:prstGeom>
          <a:solidFill>
            <a:srgbClr val="0A0A0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947672"/>
            <a:ext cx="3383280" cy="502920"/>
          </a:xfrm>
          <a:prstGeom prst="rect">
            <a:avLst/>
          </a:prstGeom>
          <a:noFill/>
        </p:spPr>
        <p:txBody>
          <a:bodyPr wrap="square" lIns="0" tIns="0" rIns="0" bIns="0" anchor="t">
            <a:spAutoFit/>
          </a:bodyPr>
          <a:lstStyle/>
          <a:p>
            <a:pPr algn="l"/>
            <a:r>
              <a:rPr sz="1200" b="1" i="0" spc="120">
                <a:solidFill>
                  <a:srgbClr val="FFFFFF"/>
                </a:solidFill>
                <a:latin typeface="Archivo"/>
              </a:rPr>
              <a:t>Risk</a:t>
            </a:r>
          </a:p>
        </p:txBody>
      </p:sp>
      <p:sp>
        <p:nvSpPr>
          <p:cNvPr id="9" name="TextBox 8"/>
          <p:cNvSpPr txBox="1"/>
          <p:nvPr/>
        </p:nvSpPr>
        <p:spPr>
          <a:xfrm>
            <a:off x="4251960" y="1947672"/>
            <a:ext cx="7315200" cy="502920"/>
          </a:xfrm>
          <a:prstGeom prst="rect">
            <a:avLst/>
          </a:prstGeom>
          <a:noFill/>
        </p:spPr>
        <p:txBody>
          <a:bodyPr wrap="square" lIns="0" tIns="0" rIns="0" bIns="0" anchor="t">
            <a:spAutoFit/>
          </a:bodyPr>
          <a:lstStyle/>
          <a:p>
            <a:pPr algn="l"/>
            <a:r>
              <a:rPr sz="1100" b="1" i="0" spc="120">
                <a:solidFill>
                  <a:srgbClr val="FFFFFF"/>
                </a:solidFill>
                <a:latin typeface="Archivo"/>
              </a:rPr>
              <a:t>Mitigant</a:t>
            </a:r>
          </a:p>
        </p:txBody>
      </p:sp>
      <p:sp>
        <p:nvSpPr>
          <p:cNvPr id="10" name="Rectangle 9"/>
          <p:cNvSpPr/>
          <p:nvPr/>
        </p:nvSpPr>
        <p:spPr>
          <a:xfrm>
            <a:off x="457200" y="2331720"/>
            <a:ext cx="365760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0" y="2331720"/>
            <a:ext cx="758952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450592"/>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Settlement vacated on appeal</a:t>
            </a:r>
          </a:p>
        </p:txBody>
      </p:sp>
      <p:sp>
        <p:nvSpPr>
          <p:cNvPr id="13" name="TextBox 12"/>
          <p:cNvSpPr txBox="1"/>
          <p:nvPr/>
        </p:nvSpPr>
        <p:spPr>
          <a:xfrm>
            <a:off x="4251960" y="2450592"/>
            <a:ext cx="7315200" cy="502920"/>
          </a:xfrm>
          <a:prstGeom prst="rect">
            <a:avLst/>
          </a:prstGeom>
          <a:noFill/>
        </p:spPr>
        <p:txBody>
          <a:bodyPr wrap="square" lIns="0" tIns="0" rIns="0" bIns="0" anchor="t">
            <a:spAutoFit/>
          </a:bodyPr>
          <a:lstStyle/>
          <a:p>
            <a:pPr algn="l"/>
            <a:r>
              <a:rPr sz="1100" b="0" i="0" spc="0">
                <a:solidFill>
                  <a:srgbClr val="6A6A6A"/>
                </a:solidFill>
                <a:latin typeface="Archivo"/>
              </a:rPr>
              <a:t>Trade Confirm includes termination + full refund right. Bartz preliminary approval entered; fairness hearing held April 23, 2026.</a:t>
            </a:r>
          </a:p>
        </p:txBody>
      </p:sp>
      <p:sp>
        <p:nvSpPr>
          <p:cNvPr id="14" name="Rectangle 13"/>
          <p:cNvSpPr/>
          <p:nvPr/>
        </p:nvSpPr>
        <p:spPr>
          <a:xfrm>
            <a:off x="457200" y="2834640"/>
            <a:ext cx="365760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0" y="2834640"/>
            <a:ext cx="758952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0100" y="2916823"/>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Filing rate above 35% modeled</a:t>
            </a:r>
          </a:p>
        </p:txBody>
      </p:sp>
      <p:sp>
        <p:nvSpPr>
          <p:cNvPr id="17" name="TextBox 16"/>
          <p:cNvSpPr txBox="1"/>
          <p:nvPr/>
        </p:nvSpPr>
        <p:spPr>
          <a:xfrm>
            <a:off x="4251960" y="2953512"/>
            <a:ext cx="7315200" cy="502920"/>
          </a:xfrm>
          <a:prstGeom prst="rect">
            <a:avLst/>
          </a:prstGeom>
          <a:noFill/>
        </p:spPr>
        <p:txBody>
          <a:bodyPr wrap="square" lIns="0" tIns="0" rIns="0" bIns="0" anchor="t">
            <a:spAutoFit/>
          </a:bodyPr>
          <a:lstStyle/>
          <a:p>
            <a:pPr algn="l"/>
            <a:r>
              <a:rPr sz="1100" b="0" i="0" spc="0" dirty="0">
                <a:solidFill>
                  <a:srgbClr val="6A6A6A"/>
                </a:solidFill>
                <a:latin typeface="Archivo"/>
              </a:rPr>
              <a:t>Returns positive through ~85% filing rate. Class Counsel's filing-rate guidance from Fall 2025 hearing was ~20%.</a:t>
            </a:r>
          </a:p>
        </p:txBody>
      </p:sp>
      <p:sp>
        <p:nvSpPr>
          <p:cNvPr id="18" name="Rectangle 17"/>
          <p:cNvSpPr/>
          <p:nvPr/>
        </p:nvSpPr>
        <p:spPr>
          <a:xfrm>
            <a:off x="457200" y="3337560"/>
            <a:ext cx="365760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0" y="3337560"/>
            <a:ext cx="758952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456432"/>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Author/publisher allocation conflicts</a:t>
            </a:r>
          </a:p>
        </p:txBody>
      </p:sp>
      <p:sp>
        <p:nvSpPr>
          <p:cNvPr id="21" name="TextBox 20"/>
          <p:cNvSpPr txBox="1"/>
          <p:nvPr/>
        </p:nvSpPr>
        <p:spPr>
          <a:xfrm>
            <a:off x="4251960" y="3456432"/>
            <a:ext cx="7315200" cy="502920"/>
          </a:xfrm>
          <a:prstGeom prst="rect">
            <a:avLst/>
          </a:prstGeom>
          <a:noFill/>
        </p:spPr>
        <p:txBody>
          <a:bodyPr wrap="square" lIns="0" tIns="0" rIns="0" bIns="0" anchor="t">
            <a:spAutoFit/>
          </a:bodyPr>
          <a:lstStyle/>
          <a:p>
            <a:pPr algn="l"/>
            <a:r>
              <a:rPr sz="1100" b="0" i="0" spc="0" dirty="0">
                <a:solidFill>
                  <a:srgbClr val="6A6A6A"/>
                </a:solidFill>
                <a:latin typeface="Archivo"/>
              </a:rPr>
              <a:t>Purchase both sides where economic; Plan of Allocation routes disputes to Special Master (no appeal). Excess Claim true-up in Assignment Agreement.</a:t>
            </a:r>
          </a:p>
        </p:txBody>
      </p:sp>
      <p:sp>
        <p:nvSpPr>
          <p:cNvPr id="22" name="Rectangle 21"/>
          <p:cNvSpPr/>
          <p:nvPr/>
        </p:nvSpPr>
        <p:spPr>
          <a:xfrm>
            <a:off x="457200" y="3840480"/>
            <a:ext cx="365760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0" y="3840480"/>
            <a:ext cx="758952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3959352"/>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Defendant delays installment funding</a:t>
            </a:r>
          </a:p>
        </p:txBody>
      </p:sp>
      <p:sp>
        <p:nvSpPr>
          <p:cNvPr id="25" name="TextBox 24"/>
          <p:cNvSpPr txBox="1"/>
          <p:nvPr/>
        </p:nvSpPr>
        <p:spPr>
          <a:xfrm>
            <a:off x="4251960" y="3959352"/>
            <a:ext cx="7315200" cy="502920"/>
          </a:xfrm>
          <a:prstGeom prst="rect">
            <a:avLst/>
          </a:prstGeom>
          <a:noFill/>
        </p:spPr>
        <p:txBody>
          <a:bodyPr wrap="square" lIns="0" tIns="0" rIns="0" bIns="0" anchor="t">
            <a:spAutoFit/>
          </a:bodyPr>
          <a:lstStyle/>
          <a:p>
            <a:pPr algn="l"/>
            <a:r>
              <a:rPr sz="1100" b="0" i="0" spc="0">
                <a:solidFill>
                  <a:srgbClr val="6A6A6A"/>
                </a:solidFill>
                <a:latin typeface="Archivo"/>
              </a:rPr>
              <a:t>Anthropic completed $30B+ raise; first $300M paid Oct 2025; settlement is non-reversionary; interest accrues.</a:t>
            </a:r>
          </a:p>
        </p:txBody>
      </p:sp>
      <p:sp>
        <p:nvSpPr>
          <p:cNvPr id="26" name="Rectangle 25"/>
          <p:cNvSpPr/>
          <p:nvPr/>
        </p:nvSpPr>
        <p:spPr>
          <a:xfrm>
            <a:off x="457200" y="4343400"/>
            <a:ext cx="365760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114800" y="4343400"/>
            <a:ext cx="758952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462272"/>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Plaintiff-side case loss (Prong 2)</a:t>
            </a:r>
          </a:p>
        </p:txBody>
      </p:sp>
      <p:sp>
        <p:nvSpPr>
          <p:cNvPr id="29" name="TextBox 28"/>
          <p:cNvSpPr txBox="1"/>
          <p:nvPr/>
        </p:nvSpPr>
        <p:spPr>
          <a:xfrm>
            <a:off x="4251960" y="4462272"/>
            <a:ext cx="7315200" cy="502920"/>
          </a:xfrm>
          <a:prstGeom prst="rect">
            <a:avLst/>
          </a:prstGeom>
          <a:noFill/>
        </p:spPr>
        <p:txBody>
          <a:bodyPr wrap="square" lIns="0" tIns="0" rIns="0" bIns="0" anchor="t">
            <a:spAutoFit/>
          </a:bodyPr>
          <a:lstStyle/>
          <a:p>
            <a:pPr algn="l"/>
            <a:r>
              <a:rPr sz="1100" b="0" i="0" spc="0" dirty="0">
                <a:solidFill>
                  <a:srgbClr val="6A6A6A"/>
                </a:solidFill>
                <a:latin typeface="Archivo"/>
              </a:rPr>
              <a:t>Non-recourse capital; case selection limited to dockets where merits already underwritten and parallel claims trades available.</a:t>
            </a:r>
          </a:p>
        </p:txBody>
      </p:sp>
      <p:sp>
        <p:nvSpPr>
          <p:cNvPr id="30" name="Rectangle 29"/>
          <p:cNvSpPr/>
          <p:nvPr/>
        </p:nvSpPr>
        <p:spPr>
          <a:xfrm>
            <a:off x="457200" y="4846320"/>
            <a:ext cx="365760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114800" y="4846320"/>
            <a:ext cx="758952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4965192"/>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Origination shortfall (under-deployed)</a:t>
            </a:r>
          </a:p>
        </p:txBody>
      </p:sp>
      <p:sp>
        <p:nvSpPr>
          <p:cNvPr id="33" name="TextBox 32"/>
          <p:cNvSpPr txBox="1"/>
          <p:nvPr/>
        </p:nvSpPr>
        <p:spPr>
          <a:xfrm>
            <a:off x="4251960" y="4965192"/>
            <a:ext cx="7315200" cy="169277"/>
          </a:xfrm>
          <a:prstGeom prst="rect">
            <a:avLst/>
          </a:prstGeom>
          <a:noFill/>
        </p:spPr>
        <p:txBody>
          <a:bodyPr wrap="square" lIns="0" tIns="0" rIns="0" bIns="0" anchor="t">
            <a:spAutoFit/>
          </a:bodyPr>
          <a:lstStyle/>
          <a:p>
            <a:pPr algn="l"/>
            <a:r>
              <a:rPr lang="en-US" sz="1100" b="0" i="0" spc="0" dirty="0">
                <a:solidFill>
                  <a:srgbClr val="6A6A6A"/>
                </a:solidFill>
                <a:latin typeface="Archivo"/>
              </a:rPr>
              <a:t>1-2 large publisher accounts sufficient; long tail of author claims to tackle. </a:t>
            </a:r>
            <a:endParaRPr sz="1100" b="0" i="0" spc="0" dirty="0">
              <a:solidFill>
                <a:srgbClr val="6A6A6A"/>
              </a:solidFill>
              <a:latin typeface="Archivo"/>
            </a:endParaRPr>
          </a:p>
        </p:txBody>
      </p:sp>
      <p:sp>
        <p:nvSpPr>
          <p:cNvPr id="34" name="Rectangle 33"/>
          <p:cNvSpPr/>
          <p:nvPr/>
        </p:nvSpPr>
        <p:spPr>
          <a:xfrm>
            <a:off x="457200" y="5349240"/>
            <a:ext cx="365760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114800" y="5349240"/>
            <a:ext cx="7589520" cy="502920"/>
          </a:xfrm>
          <a:prstGeom prst="rect">
            <a:avLst/>
          </a:prstGeom>
          <a:solidFill>
            <a:srgbClr val="FFFFFF"/>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5468112"/>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Counterparty / KYC issues</a:t>
            </a:r>
          </a:p>
        </p:txBody>
      </p:sp>
      <p:sp>
        <p:nvSpPr>
          <p:cNvPr id="37" name="TextBox 36"/>
          <p:cNvSpPr txBox="1"/>
          <p:nvPr/>
        </p:nvSpPr>
        <p:spPr>
          <a:xfrm>
            <a:off x="4251960" y="5468112"/>
            <a:ext cx="7315200" cy="502920"/>
          </a:xfrm>
          <a:prstGeom prst="rect">
            <a:avLst/>
          </a:prstGeom>
          <a:noFill/>
        </p:spPr>
        <p:txBody>
          <a:bodyPr wrap="square" lIns="0" tIns="0" rIns="0" bIns="0" anchor="t">
            <a:spAutoFit/>
          </a:bodyPr>
          <a:lstStyle/>
          <a:p>
            <a:pPr algn="l"/>
            <a:r>
              <a:rPr sz="1100" b="0" i="0" spc="0">
                <a:solidFill>
                  <a:srgbClr val="6A6A6A"/>
                </a:solidFill>
                <a:latin typeface="Archivo"/>
              </a:rPr>
              <a:t>Closing conditioned on Settlement Admin acknowledgement + KYC/AML; W-8/W-9 for tax.</a:t>
            </a:r>
          </a:p>
        </p:txBody>
      </p:sp>
      <p:sp>
        <p:nvSpPr>
          <p:cNvPr id="38" name="Rectangle 37"/>
          <p:cNvSpPr/>
          <p:nvPr/>
        </p:nvSpPr>
        <p:spPr>
          <a:xfrm>
            <a:off x="457200" y="5852160"/>
            <a:ext cx="365760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114800" y="5852160"/>
            <a:ext cx="7589520" cy="502920"/>
          </a:xfrm>
          <a:prstGeom prst="rect">
            <a:avLst/>
          </a:prstGeom>
          <a:solidFill>
            <a:srgbClr val="FAFAFA"/>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94360" y="5971032"/>
            <a:ext cx="3383280" cy="502920"/>
          </a:xfrm>
          <a:prstGeom prst="rect">
            <a:avLst/>
          </a:prstGeom>
          <a:noFill/>
        </p:spPr>
        <p:txBody>
          <a:bodyPr wrap="square" lIns="0" tIns="0" rIns="0" bIns="0" anchor="t">
            <a:spAutoFit/>
          </a:bodyPr>
          <a:lstStyle/>
          <a:p>
            <a:pPr algn="l"/>
            <a:r>
              <a:rPr sz="1200" b="1" i="0" spc="0">
                <a:solidFill>
                  <a:srgbClr val="0A0A0A"/>
                </a:solidFill>
                <a:latin typeface="Archivo"/>
              </a:rPr>
              <a:t>Regulatory / tax structuring</a:t>
            </a:r>
          </a:p>
        </p:txBody>
      </p:sp>
      <p:sp>
        <p:nvSpPr>
          <p:cNvPr id="41" name="TextBox 40"/>
          <p:cNvSpPr txBox="1"/>
          <p:nvPr/>
        </p:nvSpPr>
        <p:spPr>
          <a:xfrm>
            <a:off x="4251960" y="5971032"/>
            <a:ext cx="7315200" cy="502920"/>
          </a:xfrm>
          <a:prstGeom prst="rect">
            <a:avLst/>
          </a:prstGeom>
          <a:noFill/>
        </p:spPr>
        <p:txBody>
          <a:bodyPr wrap="square" lIns="0" tIns="0" rIns="0" bIns="0" anchor="t">
            <a:spAutoFit/>
          </a:bodyPr>
          <a:lstStyle/>
          <a:p>
            <a:pPr algn="l"/>
            <a:r>
              <a:rPr sz="1100" b="0" i="0" spc="0">
                <a:solidFill>
                  <a:srgbClr val="6A6A6A"/>
                </a:solidFill>
                <a:latin typeface="Archivo"/>
              </a:rPr>
              <a:t>Outside counsel review of cross-border seller treatment; fund domiciled Delaware; LP-friendly tax structure.</a:t>
            </a:r>
          </a:p>
        </p:txBody>
      </p:sp>
      <p:sp>
        <p:nvSpPr>
          <p:cNvPr id="42" name="TextBox 41"/>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43" name="TextBox 42"/>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14 / 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TIMING</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200" b="1" i="0" spc="-30">
                <a:solidFill>
                  <a:srgbClr val="0A0A0A"/>
                </a:solidFill>
                <a:latin typeface="Archivo"/>
              </a:rPr>
              <a:t>From first close to first distribution.</a:t>
            </a:r>
          </a:p>
        </p:txBody>
      </p:sp>
      <p:sp>
        <p:nvSpPr>
          <p:cNvPr id="6" name="Rectangle 5"/>
          <p:cNvSpPr/>
          <p:nvPr/>
        </p:nvSpPr>
        <p:spPr>
          <a:xfrm>
            <a:off x="1280160" y="3291840"/>
            <a:ext cx="9631375" cy="36576"/>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88720" y="3200400"/>
            <a:ext cx="219456" cy="219456"/>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 y="2651760"/>
            <a:ext cx="2286000" cy="274320"/>
          </a:xfrm>
          <a:prstGeom prst="rect">
            <a:avLst/>
          </a:prstGeom>
          <a:noFill/>
        </p:spPr>
        <p:txBody>
          <a:bodyPr wrap="square" lIns="0" tIns="0" rIns="0" bIns="0" anchor="t">
            <a:spAutoFit/>
          </a:bodyPr>
          <a:lstStyle/>
          <a:p>
            <a:pPr algn="ctr"/>
            <a:r>
              <a:rPr sz="1000" b="1" i="0" spc="180">
                <a:solidFill>
                  <a:srgbClr val="6A6A6A"/>
                </a:solidFill>
                <a:latin typeface="Archivo"/>
              </a:rPr>
              <a:t>Q2 2026</a:t>
            </a:r>
          </a:p>
        </p:txBody>
      </p:sp>
      <p:sp>
        <p:nvSpPr>
          <p:cNvPr id="9" name="TextBox 8"/>
          <p:cNvSpPr txBox="1"/>
          <p:nvPr/>
        </p:nvSpPr>
        <p:spPr>
          <a:xfrm>
            <a:off x="137160" y="3611880"/>
            <a:ext cx="2286000" cy="457200"/>
          </a:xfrm>
          <a:prstGeom prst="rect">
            <a:avLst/>
          </a:prstGeom>
          <a:noFill/>
        </p:spPr>
        <p:txBody>
          <a:bodyPr wrap="square" lIns="0" tIns="0" rIns="0" bIns="0" anchor="t">
            <a:spAutoFit/>
          </a:bodyPr>
          <a:lstStyle/>
          <a:p>
            <a:pPr algn="ctr"/>
            <a:r>
              <a:rPr sz="1200" b="1" i="0">
                <a:solidFill>
                  <a:srgbClr val="0A0A0A"/>
                </a:solidFill>
                <a:latin typeface="Archivo"/>
              </a:rPr>
              <a:t>First close · $15M</a:t>
            </a:r>
          </a:p>
        </p:txBody>
      </p:sp>
      <p:sp>
        <p:nvSpPr>
          <p:cNvPr id="10" name="TextBox 9"/>
          <p:cNvSpPr txBox="1"/>
          <p:nvPr/>
        </p:nvSpPr>
        <p:spPr>
          <a:xfrm>
            <a:off x="137160" y="4069080"/>
            <a:ext cx="2286000" cy="731520"/>
          </a:xfrm>
          <a:prstGeom prst="rect">
            <a:avLst/>
          </a:prstGeom>
          <a:noFill/>
        </p:spPr>
        <p:txBody>
          <a:bodyPr wrap="square" lIns="0" tIns="0" rIns="0" bIns="0" anchor="t">
            <a:spAutoFit/>
          </a:bodyPr>
          <a:lstStyle/>
          <a:p>
            <a:pPr algn="ctr"/>
            <a:r>
              <a:rPr sz="1000" b="0" i="0">
                <a:solidFill>
                  <a:srgbClr val="6A6A6A"/>
                </a:solidFill>
                <a:latin typeface="Archivo"/>
              </a:rPr>
              <a:t>Anchor + 3–5 LPs</a:t>
            </a:r>
          </a:p>
        </p:txBody>
      </p:sp>
      <p:sp>
        <p:nvSpPr>
          <p:cNvPr id="11" name="Rectangle 10"/>
          <p:cNvSpPr/>
          <p:nvPr/>
        </p:nvSpPr>
        <p:spPr>
          <a:xfrm>
            <a:off x="3142427" y="3227832"/>
            <a:ext cx="164592" cy="16459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63435" y="2651760"/>
            <a:ext cx="2286000" cy="274320"/>
          </a:xfrm>
          <a:prstGeom prst="rect">
            <a:avLst/>
          </a:prstGeom>
          <a:noFill/>
        </p:spPr>
        <p:txBody>
          <a:bodyPr wrap="square" lIns="0" tIns="0" rIns="0" bIns="0" anchor="t">
            <a:spAutoFit/>
          </a:bodyPr>
          <a:lstStyle/>
          <a:p>
            <a:pPr algn="ctr"/>
            <a:r>
              <a:rPr sz="1000" b="1" i="0" spc="180">
                <a:solidFill>
                  <a:srgbClr val="6A6A6A"/>
                </a:solidFill>
                <a:latin typeface="Archivo"/>
              </a:rPr>
              <a:t>JUN 2026</a:t>
            </a:r>
          </a:p>
        </p:txBody>
      </p:sp>
      <p:sp>
        <p:nvSpPr>
          <p:cNvPr id="13" name="TextBox 12"/>
          <p:cNvSpPr txBox="1"/>
          <p:nvPr/>
        </p:nvSpPr>
        <p:spPr>
          <a:xfrm>
            <a:off x="2063435" y="3611880"/>
            <a:ext cx="2286000" cy="457200"/>
          </a:xfrm>
          <a:prstGeom prst="rect">
            <a:avLst/>
          </a:prstGeom>
          <a:noFill/>
        </p:spPr>
        <p:txBody>
          <a:bodyPr wrap="square" lIns="0" tIns="0" rIns="0" bIns="0" anchor="t">
            <a:spAutoFit/>
          </a:bodyPr>
          <a:lstStyle/>
          <a:p>
            <a:pPr algn="ctr"/>
            <a:r>
              <a:rPr sz="1200" b="1" i="0">
                <a:solidFill>
                  <a:srgbClr val="0A0A0A"/>
                </a:solidFill>
                <a:latin typeface="Archivo"/>
              </a:rPr>
              <a:t>Allocation published</a:t>
            </a:r>
          </a:p>
        </p:txBody>
      </p:sp>
      <p:sp>
        <p:nvSpPr>
          <p:cNvPr id="14" name="TextBox 13"/>
          <p:cNvSpPr txBox="1"/>
          <p:nvPr/>
        </p:nvSpPr>
        <p:spPr>
          <a:xfrm>
            <a:off x="2063435" y="4069080"/>
            <a:ext cx="2286000" cy="731520"/>
          </a:xfrm>
          <a:prstGeom prst="rect">
            <a:avLst/>
          </a:prstGeom>
          <a:noFill/>
        </p:spPr>
        <p:txBody>
          <a:bodyPr wrap="square" lIns="0" tIns="0" rIns="0" bIns="0" anchor="t">
            <a:spAutoFit/>
          </a:bodyPr>
          <a:lstStyle/>
          <a:p>
            <a:pPr algn="ctr"/>
            <a:r>
              <a:rPr sz="1000" b="0" i="0">
                <a:solidFill>
                  <a:srgbClr val="6A6A6A"/>
                </a:solidFill>
                <a:latin typeface="Archivo"/>
              </a:rPr>
              <a:t>Settlement Admin fixes claim values</a:t>
            </a:r>
          </a:p>
        </p:txBody>
      </p:sp>
      <p:sp>
        <p:nvSpPr>
          <p:cNvPr id="15" name="Rectangle 14"/>
          <p:cNvSpPr/>
          <p:nvPr/>
        </p:nvSpPr>
        <p:spPr>
          <a:xfrm>
            <a:off x="5068702" y="3227832"/>
            <a:ext cx="164592" cy="16459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89710" y="2651760"/>
            <a:ext cx="2286000" cy="274320"/>
          </a:xfrm>
          <a:prstGeom prst="rect">
            <a:avLst/>
          </a:prstGeom>
          <a:noFill/>
        </p:spPr>
        <p:txBody>
          <a:bodyPr wrap="square" lIns="0" tIns="0" rIns="0" bIns="0" anchor="t">
            <a:spAutoFit/>
          </a:bodyPr>
          <a:lstStyle/>
          <a:p>
            <a:pPr algn="ctr"/>
            <a:r>
              <a:rPr sz="1000" b="1" i="0" spc="180">
                <a:solidFill>
                  <a:srgbClr val="6A6A6A"/>
                </a:solidFill>
                <a:latin typeface="Archivo"/>
              </a:rPr>
              <a:t>Q3 2026</a:t>
            </a:r>
          </a:p>
        </p:txBody>
      </p:sp>
      <p:sp>
        <p:nvSpPr>
          <p:cNvPr id="17" name="TextBox 16"/>
          <p:cNvSpPr txBox="1"/>
          <p:nvPr/>
        </p:nvSpPr>
        <p:spPr>
          <a:xfrm>
            <a:off x="3989710" y="3611880"/>
            <a:ext cx="2286000" cy="457200"/>
          </a:xfrm>
          <a:prstGeom prst="rect">
            <a:avLst/>
          </a:prstGeom>
          <a:noFill/>
        </p:spPr>
        <p:txBody>
          <a:bodyPr wrap="square" lIns="0" tIns="0" rIns="0" bIns="0" anchor="t">
            <a:spAutoFit/>
          </a:bodyPr>
          <a:lstStyle/>
          <a:p>
            <a:pPr algn="ctr"/>
            <a:r>
              <a:rPr sz="1200" b="1" i="0">
                <a:solidFill>
                  <a:srgbClr val="0A0A0A"/>
                </a:solidFill>
                <a:latin typeface="Archivo"/>
              </a:rPr>
              <a:t>Final close · $30M</a:t>
            </a:r>
          </a:p>
        </p:txBody>
      </p:sp>
      <p:sp>
        <p:nvSpPr>
          <p:cNvPr id="18" name="TextBox 17"/>
          <p:cNvSpPr txBox="1"/>
          <p:nvPr/>
        </p:nvSpPr>
        <p:spPr>
          <a:xfrm>
            <a:off x="3989710" y="4069080"/>
            <a:ext cx="2286000" cy="731520"/>
          </a:xfrm>
          <a:prstGeom prst="rect">
            <a:avLst/>
          </a:prstGeom>
          <a:noFill/>
        </p:spPr>
        <p:txBody>
          <a:bodyPr wrap="square" lIns="0" tIns="0" rIns="0" bIns="0" anchor="t">
            <a:spAutoFit/>
          </a:bodyPr>
          <a:lstStyle/>
          <a:p>
            <a:pPr algn="ctr"/>
            <a:r>
              <a:rPr sz="1000" b="0" i="0">
                <a:solidFill>
                  <a:srgbClr val="6A6A6A"/>
                </a:solidFill>
                <a:latin typeface="Archivo"/>
              </a:rPr>
              <a:t>Pilot Bartz trades in parallel</a:t>
            </a:r>
          </a:p>
        </p:txBody>
      </p:sp>
      <p:sp>
        <p:nvSpPr>
          <p:cNvPr id="19" name="Rectangle 18"/>
          <p:cNvSpPr/>
          <p:nvPr/>
        </p:nvSpPr>
        <p:spPr>
          <a:xfrm>
            <a:off x="6994977" y="3227832"/>
            <a:ext cx="164592" cy="16459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15985" y="2651760"/>
            <a:ext cx="2286000" cy="274320"/>
          </a:xfrm>
          <a:prstGeom prst="rect">
            <a:avLst/>
          </a:prstGeom>
          <a:noFill/>
        </p:spPr>
        <p:txBody>
          <a:bodyPr wrap="square" lIns="0" tIns="0" rIns="0" bIns="0" anchor="t">
            <a:spAutoFit/>
          </a:bodyPr>
          <a:lstStyle/>
          <a:p>
            <a:pPr algn="ctr"/>
            <a:r>
              <a:rPr sz="1000" b="1" i="0" spc="180">
                <a:solidFill>
                  <a:srgbClr val="6A6A6A"/>
                </a:solidFill>
                <a:latin typeface="Archivo"/>
              </a:rPr>
              <a:t>AUG–OCT 2026</a:t>
            </a:r>
          </a:p>
        </p:txBody>
      </p:sp>
      <p:sp>
        <p:nvSpPr>
          <p:cNvPr id="21" name="TextBox 20"/>
          <p:cNvSpPr txBox="1"/>
          <p:nvPr/>
        </p:nvSpPr>
        <p:spPr>
          <a:xfrm>
            <a:off x="5915985" y="3611880"/>
            <a:ext cx="2286000" cy="457200"/>
          </a:xfrm>
          <a:prstGeom prst="rect">
            <a:avLst/>
          </a:prstGeom>
          <a:noFill/>
        </p:spPr>
        <p:txBody>
          <a:bodyPr wrap="square" lIns="0" tIns="0" rIns="0" bIns="0" anchor="t">
            <a:spAutoFit/>
          </a:bodyPr>
          <a:lstStyle/>
          <a:p>
            <a:pPr algn="ctr"/>
            <a:r>
              <a:rPr sz="1200" b="1" i="0">
                <a:solidFill>
                  <a:srgbClr val="0A0A0A"/>
                </a:solidFill>
                <a:latin typeface="Archivo"/>
              </a:rPr>
              <a:t>Initial distributions</a:t>
            </a:r>
          </a:p>
        </p:txBody>
      </p:sp>
      <p:sp>
        <p:nvSpPr>
          <p:cNvPr id="22" name="TextBox 21"/>
          <p:cNvSpPr txBox="1"/>
          <p:nvPr/>
        </p:nvSpPr>
        <p:spPr>
          <a:xfrm>
            <a:off x="5915985" y="4069080"/>
            <a:ext cx="2286000" cy="731520"/>
          </a:xfrm>
          <a:prstGeom prst="rect">
            <a:avLst/>
          </a:prstGeom>
          <a:noFill/>
        </p:spPr>
        <p:txBody>
          <a:bodyPr wrap="square" lIns="0" tIns="0" rIns="0" bIns="0" anchor="t">
            <a:spAutoFit/>
          </a:bodyPr>
          <a:lstStyle/>
          <a:p>
            <a:pPr algn="ctr"/>
            <a:r>
              <a:rPr sz="1000" b="0" i="0">
                <a:solidFill>
                  <a:srgbClr val="6A6A6A"/>
                </a:solidFill>
                <a:latin typeface="Archivo"/>
              </a:rPr>
              <a:t>First Bartz payouts begin</a:t>
            </a:r>
          </a:p>
        </p:txBody>
      </p:sp>
      <p:sp>
        <p:nvSpPr>
          <p:cNvPr id="23" name="Rectangle 22"/>
          <p:cNvSpPr/>
          <p:nvPr/>
        </p:nvSpPr>
        <p:spPr>
          <a:xfrm>
            <a:off x="8921252" y="3227832"/>
            <a:ext cx="164592" cy="16459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42260" y="2651760"/>
            <a:ext cx="2286000" cy="274320"/>
          </a:xfrm>
          <a:prstGeom prst="rect">
            <a:avLst/>
          </a:prstGeom>
          <a:noFill/>
        </p:spPr>
        <p:txBody>
          <a:bodyPr wrap="square" lIns="0" tIns="0" rIns="0" bIns="0" anchor="t">
            <a:spAutoFit/>
          </a:bodyPr>
          <a:lstStyle/>
          <a:p>
            <a:pPr algn="ctr"/>
            <a:r>
              <a:rPr sz="1000" b="1" i="0" spc="180">
                <a:solidFill>
                  <a:srgbClr val="6A6A6A"/>
                </a:solidFill>
                <a:latin typeface="Archivo"/>
              </a:rPr>
              <a:t>2027</a:t>
            </a:r>
          </a:p>
        </p:txBody>
      </p:sp>
      <p:sp>
        <p:nvSpPr>
          <p:cNvPr id="25" name="TextBox 24"/>
          <p:cNvSpPr txBox="1"/>
          <p:nvPr/>
        </p:nvSpPr>
        <p:spPr>
          <a:xfrm>
            <a:off x="7842260" y="3611880"/>
            <a:ext cx="2286000" cy="457200"/>
          </a:xfrm>
          <a:prstGeom prst="rect">
            <a:avLst/>
          </a:prstGeom>
          <a:noFill/>
        </p:spPr>
        <p:txBody>
          <a:bodyPr wrap="square" lIns="0" tIns="0" rIns="0" bIns="0" anchor="t">
            <a:spAutoFit/>
          </a:bodyPr>
          <a:lstStyle/>
          <a:p>
            <a:pPr algn="ctr"/>
            <a:r>
              <a:rPr sz="1200" b="1" i="0">
                <a:solidFill>
                  <a:srgbClr val="0A0A0A"/>
                </a:solidFill>
                <a:latin typeface="Archivo"/>
              </a:rPr>
              <a:t>Follow-on settlements</a:t>
            </a:r>
          </a:p>
        </p:txBody>
      </p:sp>
      <p:sp>
        <p:nvSpPr>
          <p:cNvPr id="26" name="TextBox 25"/>
          <p:cNvSpPr txBox="1"/>
          <p:nvPr/>
        </p:nvSpPr>
        <p:spPr>
          <a:xfrm>
            <a:off x="7842260" y="4069080"/>
            <a:ext cx="2286000" cy="731520"/>
          </a:xfrm>
          <a:prstGeom prst="rect">
            <a:avLst/>
          </a:prstGeom>
          <a:noFill/>
        </p:spPr>
        <p:txBody>
          <a:bodyPr wrap="square" lIns="0" tIns="0" rIns="0" bIns="0" anchor="t">
            <a:spAutoFit/>
          </a:bodyPr>
          <a:lstStyle/>
          <a:p>
            <a:pPr algn="ctr"/>
            <a:r>
              <a:rPr sz="1000" b="0" i="0">
                <a:solidFill>
                  <a:srgbClr val="6A6A6A"/>
                </a:solidFill>
                <a:latin typeface="Archivo"/>
              </a:rPr>
              <a:t>Kadrey + Authors Guild capital</a:t>
            </a:r>
          </a:p>
        </p:txBody>
      </p:sp>
      <p:sp>
        <p:nvSpPr>
          <p:cNvPr id="27" name="Rectangle 26"/>
          <p:cNvSpPr/>
          <p:nvPr/>
        </p:nvSpPr>
        <p:spPr>
          <a:xfrm>
            <a:off x="10847527" y="3227832"/>
            <a:ext cx="164592" cy="16459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68535" y="2651760"/>
            <a:ext cx="2286000" cy="274320"/>
          </a:xfrm>
          <a:prstGeom prst="rect">
            <a:avLst/>
          </a:prstGeom>
          <a:noFill/>
        </p:spPr>
        <p:txBody>
          <a:bodyPr wrap="square" lIns="0" tIns="0" rIns="0" bIns="0" anchor="t">
            <a:spAutoFit/>
          </a:bodyPr>
          <a:lstStyle/>
          <a:p>
            <a:pPr algn="ctr"/>
            <a:r>
              <a:rPr sz="1000" b="1" i="0" spc="180">
                <a:solidFill>
                  <a:srgbClr val="6A6A6A"/>
                </a:solidFill>
                <a:latin typeface="Archivo"/>
              </a:rPr>
              <a:t>APR 2028</a:t>
            </a:r>
          </a:p>
        </p:txBody>
      </p:sp>
      <p:sp>
        <p:nvSpPr>
          <p:cNvPr id="29" name="TextBox 28"/>
          <p:cNvSpPr txBox="1"/>
          <p:nvPr/>
        </p:nvSpPr>
        <p:spPr>
          <a:xfrm>
            <a:off x="9768535" y="3611880"/>
            <a:ext cx="2286000" cy="457200"/>
          </a:xfrm>
          <a:prstGeom prst="rect">
            <a:avLst/>
          </a:prstGeom>
          <a:noFill/>
        </p:spPr>
        <p:txBody>
          <a:bodyPr wrap="square" lIns="0" tIns="0" rIns="0" bIns="0" anchor="t">
            <a:spAutoFit/>
          </a:bodyPr>
          <a:lstStyle/>
          <a:p>
            <a:pPr algn="ctr"/>
            <a:r>
              <a:rPr sz="1200" b="1" i="0">
                <a:solidFill>
                  <a:srgbClr val="0A0A0A"/>
                </a:solidFill>
                <a:latin typeface="Archivo"/>
              </a:rPr>
              <a:t>Final distribution</a:t>
            </a:r>
          </a:p>
        </p:txBody>
      </p:sp>
      <p:sp>
        <p:nvSpPr>
          <p:cNvPr id="30" name="TextBox 29"/>
          <p:cNvSpPr txBox="1"/>
          <p:nvPr/>
        </p:nvSpPr>
        <p:spPr>
          <a:xfrm>
            <a:off x="9768535" y="4069080"/>
            <a:ext cx="2286000" cy="731520"/>
          </a:xfrm>
          <a:prstGeom prst="rect">
            <a:avLst/>
          </a:prstGeom>
          <a:noFill/>
        </p:spPr>
        <p:txBody>
          <a:bodyPr wrap="square" lIns="0" tIns="0" rIns="0" bIns="0" anchor="t">
            <a:spAutoFit/>
          </a:bodyPr>
          <a:lstStyle/>
          <a:p>
            <a:pPr algn="ctr"/>
            <a:r>
              <a:rPr sz="1000" b="0" i="0">
                <a:solidFill>
                  <a:srgbClr val="6A6A6A"/>
                </a:solidFill>
                <a:latin typeface="Archivo"/>
              </a:rPr>
              <a:t>Appeals cleared; fund waterfall</a:t>
            </a:r>
          </a:p>
        </p:txBody>
      </p:sp>
      <p:sp>
        <p:nvSpPr>
          <p:cNvPr id="31" name="TextBox 30"/>
          <p:cNvSpPr txBox="1"/>
          <p:nvPr/>
        </p:nvSpPr>
        <p:spPr>
          <a:xfrm>
            <a:off x="457200" y="1828800"/>
            <a:ext cx="11247120" cy="548640"/>
          </a:xfrm>
          <a:prstGeom prst="rect">
            <a:avLst/>
          </a:prstGeom>
          <a:noFill/>
        </p:spPr>
        <p:txBody>
          <a:bodyPr wrap="square" lIns="0" tIns="0" rIns="0" bIns="0" anchor="t">
            <a:spAutoFit/>
          </a:bodyPr>
          <a:lstStyle/>
          <a:p>
            <a:pPr algn="l"/>
            <a:r>
              <a:rPr sz="1400" b="0" i="0">
                <a:solidFill>
                  <a:srgbClr val="0A0A0A"/>
                </a:solidFill>
                <a:latin typeface="Archivo"/>
              </a:rPr>
              <a:t>Capital is deployable immediately on closing — the Bartz docket is already past Final Approval and the Settlement Administrator allocation publication is in June 2026.</a:t>
            </a:r>
          </a:p>
        </p:txBody>
      </p:sp>
      <p:sp>
        <p:nvSpPr>
          <p:cNvPr id="32" name="TextBox 31"/>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33" name="TextBox 32"/>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15 / 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PARTNERS</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600" b="1" i="0" spc="-30">
                <a:solidFill>
                  <a:srgbClr val="0A0A0A"/>
                </a:solidFill>
                <a:latin typeface="Archivo"/>
              </a:rPr>
              <a:t>Capital + distribution.</a:t>
            </a:r>
          </a:p>
        </p:txBody>
      </p:sp>
      <p:sp>
        <p:nvSpPr>
          <p:cNvPr id="6" name="TextBox 5"/>
          <p:cNvSpPr txBox="1"/>
          <p:nvPr/>
        </p:nvSpPr>
        <p:spPr>
          <a:xfrm>
            <a:off x="457200" y="1783080"/>
            <a:ext cx="11247120" cy="457200"/>
          </a:xfrm>
          <a:prstGeom prst="rect">
            <a:avLst/>
          </a:prstGeom>
          <a:noFill/>
        </p:spPr>
        <p:txBody>
          <a:bodyPr wrap="square" lIns="0" tIns="0" rIns="0" bIns="0" anchor="t">
            <a:spAutoFit/>
          </a:bodyPr>
          <a:lstStyle/>
          <a:p>
            <a:pPr algn="l"/>
            <a:r>
              <a:rPr sz="1400" b="0" i="0">
                <a:solidFill>
                  <a:srgbClr val="6A6A6A"/>
                </a:solidFill>
                <a:latin typeface="Archivo"/>
              </a:rPr>
              <a:t>Anchor commitments and origination channels are sourced through institutional partners. Engagement letters in progress; names available under NDA.</a:t>
            </a:r>
          </a:p>
        </p:txBody>
      </p:sp>
      <p:sp>
        <p:nvSpPr>
          <p:cNvPr id="7" name="Rectangle 6"/>
          <p:cNvSpPr/>
          <p:nvPr/>
        </p:nvSpPr>
        <p:spPr>
          <a:xfrm>
            <a:off x="457200" y="2606040"/>
            <a:ext cx="5577840" cy="338328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606040"/>
            <a:ext cx="5577840" cy="73152"/>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26080"/>
            <a:ext cx="4846320" cy="274320"/>
          </a:xfrm>
          <a:prstGeom prst="rect">
            <a:avLst/>
          </a:prstGeom>
          <a:noFill/>
        </p:spPr>
        <p:txBody>
          <a:bodyPr wrap="square" lIns="0" tIns="0" rIns="0" bIns="0" anchor="t">
            <a:spAutoFit/>
          </a:bodyPr>
          <a:lstStyle/>
          <a:p>
            <a:pPr algn="l"/>
            <a:r>
              <a:rPr sz="1100" b="1" i="0" spc="240">
                <a:solidFill>
                  <a:srgbClr val="6A6A6A"/>
                </a:solidFill>
                <a:latin typeface="Archivo"/>
              </a:rPr>
              <a:t>ANCHOR LP · CAPITAL</a:t>
            </a:r>
          </a:p>
        </p:txBody>
      </p:sp>
      <p:sp>
        <p:nvSpPr>
          <p:cNvPr id="10" name="Rectangle 9"/>
          <p:cNvSpPr/>
          <p:nvPr/>
        </p:nvSpPr>
        <p:spPr>
          <a:xfrm>
            <a:off x="2148840" y="3383280"/>
            <a:ext cx="2194560" cy="9144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48840" y="3730752"/>
            <a:ext cx="2194560" cy="274320"/>
          </a:xfrm>
          <a:prstGeom prst="rect">
            <a:avLst/>
          </a:prstGeom>
          <a:noFill/>
        </p:spPr>
        <p:txBody>
          <a:bodyPr wrap="square" lIns="0" tIns="0" rIns="0" bIns="0" anchor="t">
            <a:spAutoFit/>
          </a:bodyPr>
          <a:lstStyle/>
          <a:p>
            <a:pPr algn="ctr"/>
            <a:r>
              <a:rPr sz="1000" b="1" i="0" spc="240">
                <a:solidFill>
                  <a:srgbClr val="999999"/>
                </a:solidFill>
                <a:latin typeface="Archivo"/>
              </a:rPr>
              <a:t>[ LOGO ]</a:t>
            </a:r>
          </a:p>
        </p:txBody>
      </p:sp>
      <p:sp>
        <p:nvSpPr>
          <p:cNvPr id="12" name="TextBox 11"/>
          <p:cNvSpPr txBox="1"/>
          <p:nvPr/>
        </p:nvSpPr>
        <p:spPr>
          <a:xfrm>
            <a:off x="822960" y="4480559"/>
            <a:ext cx="4846320" cy="365760"/>
          </a:xfrm>
          <a:prstGeom prst="rect">
            <a:avLst/>
          </a:prstGeom>
          <a:noFill/>
        </p:spPr>
        <p:txBody>
          <a:bodyPr wrap="square" lIns="0" tIns="0" rIns="0" bIns="0" anchor="t">
            <a:spAutoFit/>
          </a:bodyPr>
          <a:lstStyle/>
          <a:p>
            <a:pPr algn="ctr"/>
            <a:r>
              <a:rPr sz="1800" b="1" i="0" spc="-10" dirty="0">
                <a:solidFill>
                  <a:srgbClr val="0A0A0A"/>
                </a:solidFill>
                <a:latin typeface="Archivo"/>
              </a:rPr>
              <a:t>[ HEDGE FUND PARTNER ]</a:t>
            </a:r>
          </a:p>
        </p:txBody>
      </p:sp>
      <p:sp>
        <p:nvSpPr>
          <p:cNvPr id="13" name="TextBox 12"/>
          <p:cNvSpPr txBox="1"/>
          <p:nvPr/>
        </p:nvSpPr>
        <p:spPr>
          <a:xfrm>
            <a:off x="822960" y="4846320"/>
            <a:ext cx="4846320" cy="169277"/>
          </a:xfrm>
          <a:prstGeom prst="rect">
            <a:avLst/>
          </a:prstGeom>
          <a:noFill/>
        </p:spPr>
        <p:txBody>
          <a:bodyPr wrap="square" lIns="0" tIns="0" rIns="0" bIns="0" anchor="t">
            <a:spAutoFit/>
          </a:bodyPr>
          <a:lstStyle/>
          <a:p>
            <a:pPr algn="ctr"/>
            <a:r>
              <a:rPr lang="en-US" sz="1100" b="0" i="1" dirty="0">
                <a:solidFill>
                  <a:srgbClr val="6A6A6A"/>
                </a:solidFill>
                <a:latin typeface="Archivo"/>
              </a:rPr>
              <a:t>U.S.-based m</a:t>
            </a:r>
            <a:r>
              <a:rPr sz="1100" b="0" i="1" dirty="0">
                <a:solidFill>
                  <a:srgbClr val="6A6A6A"/>
                </a:solidFill>
                <a:latin typeface="Archivo"/>
              </a:rPr>
              <a:t>ulti-strategy </a:t>
            </a:r>
            <a:r>
              <a:rPr lang="en-US" sz="1100" i="1" dirty="0">
                <a:solidFill>
                  <a:srgbClr val="6A6A6A"/>
                </a:solidFill>
                <a:latin typeface="Archivo"/>
              </a:rPr>
              <a:t>h</a:t>
            </a:r>
            <a:r>
              <a:rPr lang="en-US" sz="1100" b="0" i="1" dirty="0">
                <a:solidFill>
                  <a:srgbClr val="6A6A6A"/>
                </a:solidFill>
                <a:latin typeface="Archivo"/>
              </a:rPr>
              <a:t>edge </a:t>
            </a:r>
            <a:r>
              <a:rPr lang="en-US" sz="1100" i="1" dirty="0">
                <a:solidFill>
                  <a:srgbClr val="6A6A6A"/>
                </a:solidFill>
                <a:latin typeface="Archivo"/>
              </a:rPr>
              <a:t>f</a:t>
            </a:r>
            <a:r>
              <a:rPr lang="en-US" sz="1100" b="0" i="1" dirty="0">
                <a:solidFill>
                  <a:srgbClr val="6A6A6A"/>
                </a:solidFill>
                <a:latin typeface="Archivo"/>
              </a:rPr>
              <a:t>und with $200M+ AUM</a:t>
            </a:r>
          </a:p>
        </p:txBody>
      </p:sp>
      <p:sp>
        <p:nvSpPr>
          <p:cNvPr id="14" name="TextBox 13"/>
          <p:cNvSpPr txBox="1"/>
          <p:nvPr/>
        </p:nvSpPr>
        <p:spPr>
          <a:xfrm>
            <a:off x="914400" y="5303520"/>
            <a:ext cx="4663440" cy="228600"/>
          </a:xfrm>
          <a:prstGeom prst="rect">
            <a:avLst/>
          </a:prstGeom>
          <a:noFill/>
        </p:spPr>
        <p:txBody>
          <a:bodyPr wrap="square" lIns="0" tIns="0" rIns="0" bIns="0" anchor="t">
            <a:spAutoFit/>
          </a:bodyPr>
          <a:lstStyle/>
          <a:p>
            <a:pPr algn="l"/>
            <a:r>
              <a:rPr sz="1100" b="0" i="0">
                <a:solidFill>
                  <a:srgbClr val="6A6A6A"/>
                </a:solidFill>
                <a:latin typeface="Archivo"/>
              </a:rPr>
              <a:t>•  Anchor commitment of $10M–$15M</a:t>
            </a:r>
          </a:p>
        </p:txBody>
      </p:sp>
      <p:sp>
        <p:nvSpPr>
          <p:cNvPr id="15" name="TextBox 14"/>
          <p:cNvSpPr txBox="1"/>
          <p:nvPr/>
        </p:nvSpPr>
        <p:spPr>
          <a:xfrm>
            <a:off x="914400" y="5522976"/>
            <a:ext cx="4663440" cy="228600"/>
          </a:xfrm>
          <a:prstGeom prst="rect">
            <a:avLst/>
          </a:prstGeom>
          <a:noFill/>
        </p:spPr>
        <p:txBody>
          <a:bodyPr wrap="square" lIns="0" tIns="0" rIns="0" bIns="0" anchor="t">
            <a:spAutoFit/>
          </a:bodyPr>
          <a:lstStyle/>
          <a:p>
            <a:pPr algn="l"/>
            <a:r>
              <a:rPr sz="1100" b="0" i="0">
                <a:solidFill>
                  <a:srgbClr val="6A6A6A"/>
                </a:solidFill>
                <a:latin typeface="Archivo"/>
              </a:rPr>
              <a:t>•  LP advisory committee seat</a:t>
            </a:r>
          </a:p>
        </p:txBody>
      </p:sp>
      <p:sp>
        <p:nvSpPr>
          <p:cNvPr id="16" name="TextBox 15"/>
          <p:cNvSpPr txBox="1"/>
          <p:nvPr/>
        </p:nvSpPr>
        <p:spPr>
          <a:xfrm>
            <a:off x="914400" y="5742432"/>
            <a:ext cx="4663440" cy="228600"/>
          </a:xfrm>
          <a:prstGeom prst="rect">
            <a:avLst/>
          </a:prstGeom>
          <a:noFill/>
        </p:spPr>
        <p:txBody>
          <a:bodyPr wrap="square" lIns="0" tIns="0" rIns="0" bIns="0" anchor="t">
            <a:spAutoFit/>
          </a:bodyPr>
          <a:lstStyle/>
          <a:p>
            <a:pPr algn="l"/>
            <a:r>
              <a:rPr sz="1100" b="0" i="0">
                <a:solidFill>
                  <a:srgbClr val="6A6A6A"/>
                </a:solidFill>
                <a:latin typeface="Archivo"/>
              </a:rPr>
              <a:t>•  Co-underwriting on Prong 2 matters &gt; $2M</a:t>
            </a:r>
          </a:p>
        </p:txBody>
      </p:sp>
      <p:sp>
        <p:nvSpPr>
          <p:cNvPr id="17" name="Rectangle 16"/>
          <p:cNvSpPr/>
          <p:nvPr/>
        </p:nvSpPr>
        <p:spPr>
          <a:xfrm>
            <a:off x="6126480" y="2606040"/>
            <a:ext cx="5577840" cy="338328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2606040"/>
            <a:ext cx="5577840" cy="7315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2926080"/>
            <a:ext cx="4846320" cy="274320"/>
          </a:xfrm>
          <a:prstGeom prst="rect">
            <a:avLst/>
          </a:prstGeom>
          <a:noFill/>
        </p:spPr>
        <p:txBody>
          <a:bodyPr wrap="square" lIns="0" tIns="0" rIns="0" bIns="0" anchor="t">
            <a:spAutoFit/>
          </a:bodyPr>
          <a:lstStyle/>
          <a:p>
            <a:pPr algn="l"/>
            <a:r>
              <a:rPr sz="1100" b="1" i="0" spc="240">
                <a:solidFill>
                  <a:srgbClr val="6A6A6A"/>
                </a:solidFill>
                <a:latin typeface="Archivo"/>
              </a:rPr>
              <a:t>ORIGINATION · DISTRIBUTION</a:t>
            </a:r>
          </a:p>
        </p:txBody>
      </p:sp>
      <p:sp>
        <p:nvSpPr>
          <p:cNvPr id="20" name="Rectangle 19"/>
          <p:cNvSpPr/>
          <p:nvPr/>
        </p:nvSpPr>
        <p:spPr>
          <a:xfrm>
            <a:off x="7818120" y="3383280"/>
            <a:ext cx="2194560" cy="91440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18120" y="3730752"/>
            <a:ext cx="2194560" cy="274320"/>
          </a:xfrm>
          <a:prstGeom prst="rect">
            <a:avLst/>
          </a:prstGeom>
          <a:noFill/>
        </p:spPr>
        <p:txBody>
          <a:bodyPr wrap="square" lIns="0" tIns="0" rIns="0" bIns="0" anchor="t">
            <a:spAutoFit/>
          </a:bodyPr>
          <a:lstStyle/>
          <a:p>
            <a:pPr algn="ctr"/>
            <a:r>
              <a:rPr sz="1000" b="1" i="0" spc="240">
                <a:solidFill>
                  <a:srgbClr val="999999"/>
                </a:solidFill>
                <a:latin typeface="Archivo"/>
              </a:rPr>
              <a:t>[ LOGO ]</a:t>
            </a:r>
          </a:p>
        </p:txBody>
      </p:sp>
      <p:sp>
        <p:nvSpPr>
          <p:cNvPr id="22" name="TextBox 21"/>
          <p:cNvSpPr txBox="1"/>
          <p:nvPr/>
        </p:nvSpPr>
        <p:spPr>
          <a:xfrm>
            <a:off x="6492240" y="4480559"/>
            <a:ext cx="4846320" cy="365760"/>
          </a:xfrm>
          <a:prstGeom prst="rect">
            <a:avLst/>
          </a:prstGeom>
          <a:noFill/>
        </p:spPr>
        <p:txBody>
          <a:bodyPr wrap="square" lIns="0" tIns="0" rIns="0" bIns="0" anchor="t">
            <a:spAutoFit/>
          </a:bodyPr>
          <a:lstStyle/>
          <a:p>
            <a:pPr algn="ctr"/>
            <a:r>
              <a:rPr sz="1800" b="1" i="0" spc="-10" dirty="0">
                <a:solidFill>
                  <a:srgbClr val="0A0A0A"/>
                </a:solidFill>
                <a:latin typeface="Archivo"/>
              </a:rPr>
              <a:t>[ LITIGATION FINANCE BROKER ]</a:t>
            </a:r>
          </a:p>
        </p:txBody>
      </p:sp>
      <p:sp>
        <p:nvSpPr>
          <p:cNvPr id="23" name="TextBox 22"/>
          <p:cNvSpPr txBox="1"/>
          <p:nvPr/>
        </p:nvSpPr>
        <p:spPr>
          <a:xfrm>
            <a:off x="6492240" y="4846320"/>
            <a:ext cx="4846320" cy="274320"/>
          </a:xfrm>
          <a:prstGeom prst="rect">
            <a:avLst/>
          </a:prstGeom>
          <a:noFill/>
        </p:spPr>
        <p:txBody>
          <a:bodyPr wrap="square" lIns="0" tIns="0" rIns="0" bIns="0" anchor="t">
            <a:spAutoFit/>
          </a:bodyPr>
          <a:lstStyle/>
          <a:p>
            <a:pPr algn="ctr"/>
            <a:r>
              <a:rPr sz="1100" b="0" i="1">
                <a:solidFill>
                  <a:srgbClr val="6A6A6A"/>
                </a:solidFill>
                <a:latin typeface="Archivo"/>
              </a:rPr>
              <a:t>Plaintiff-side litigation finance intermediary</a:t>
            </a:r>
          </a:p>
        </p:txBody>
      </p:sp>
      <p:sp>
        <p:nvSpPr>
          <p:cNvPr id="24" name="TextBox 23"/>
          <p:cNvSpPr txBox="1"/>
          <p:nvPr/>
        </p:nvSpPr>
        <p:spPr>
          <a:xfrm>
            <a:off x="6583680" y="5303520"/>
            <a:ext cx="4663440" cy="228600"/>
          </a:xfrm>
          <a:prstGeom prst="rect">
            <a:avLst/>
          </a:prstGeom>
          <a:noFill/>
        </p:spPr>
        <p:txBody>
          <a:bodyPr wrap="square" lIns="0" tIns="0" rIns="0" bIns="0" anchor="t">
            <a:spAutoFit/>
          </a:bodyPr>
          <a:lstStyle/>
          <a:p>
            <a:pPr algn="l"/>
            <a:r>
              <a:rPr sz="1100" b="0" i="0">
                <a:solidFill>
                  <a:srgbClr val="6A6A6A"/>
                </a:solidFill>
                <a:latin typeface="Archivo"/>
              </a:rPr>
              <a:t>•  Sources Prong 2 funded matters from plaintiffs' counsel</a:t>
            </a:r>
          </a:p>
        </p:txBody>
      </p:sp>
      <p:sp>
        <p:nvSpPr>
          <p:cNvPr id="25" name="TextBox 24"/>
          <p:cNvSpPr txBox="1"/>
          <p:nvPr/>
        </p:nvSpPr>
        <p:spPr>
          <a:xfrm>
            <a:off x="6583680" y="5522976"/>
            <a:ext cx="4663440" cy="228600"/>
          </a:xfrm>
          <a:prstGeom prst="rect">
            <a:avLst/>
          </a:prstGeom>
          <a:noFill/>
        </p:spPr>
        <p:txBody>
          <a:bodyPr wrap="square" lIns="0" tIns="0" rIns="0" bIns="0" anchor="t">
            <a:spAutoFit/>
          </a:bodyPr>
          <a:lstStyle/>
          <a:p>
            <a:pPr algn="l"/>
            <a:r>
              <a:rPr sz="1100" b="0" i="0">
                <a:solidFill>
                  <a:srgbClr val="6A6A6A"/>
                </a:solidFill>
                <a:latin typeface="Archivo"/>
              </a:rPr>
              <a:t>•  Pre-screens cases against TPDM underwriting criteria</a:t>
            </a:r>
          </a:p>
        </p:txBody>
      </p:sp>
      <p:sp>
        <p:nvSpPr>
          <p:cNvPr id="26" name="TextBox 25"/>
          <p:cNvSpPr txBox="1"/>
          <p:nvPr/>
        </p:nvSpPr>
        <p:spPr>
          <a:xfrm>
            <a:off x="6583680" y="5742432"/>
            <a:ext cx="4663440" cy="228600"/>
          </a:xfrm>
          <a:prstGeom prst="rect">
            <a:avLst/>
          </a:prstGeom>
          <a:noFill/>
        </p:spPr>
        <p:txBody>
          <a:bodyPr wrap="square" lIns="0" tIns="0" rIns="0" bIns="0" anchor="t">
            <a:spAutoFit/>
          </a:bodyPr>
          <a:lstStyle/>
          <a:p>
            <a:pPr algn="l"/>
            <a:r>
              <a:rPr sz="1100" b="0" i="0">
                <a:solidFill>
                  <a:srgbClr val="6A6A6A"/>
                </a:solidFill>
                <a:latin typeface="Archivo"/>
              </a:rPr>
              <a:t>•  Co-invests up to 25% on selected matters</a:t>
            </a:r>
          </a:p>
        </p:txBody>
      </p:sp>
      <p:sp>
        <p:nvSpPr>
          <p:cNvPr id="27" name="TextBox 26"/>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28" name="TextBox 27"/>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16 / 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17200"/>
            <a:ext cx="201168" cy="54864"/>
          </a:xfrm>
          <a:prstGeom prst="rect">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5486400" cy="274320"/>
          </a:xfrm>
          <a:prstGeom prst="rect">
            <a:avLst/>
          </a:prstGeom>
          <a:noFill/>
        </p:spPr>
        <p:txBody>
          <a:bodyPr wrap="square" lIns="0" tIns="0" rIns="0" bIns="0" anchor="t">
            <a:spAutoFit/>
          </a:bodyPr>
          <a:lstStyle/>
          <a:p>
            <a:pPr algn="l"/>
            <a:r>
              <a:rPr sz="1100" b="1" i="0" spc="240">
                <a:solidFill>
                  <a:srgbClr val="0A0A0A"/>
                </a:solidFill>
                <a:latin typeface="Archivo"/>
              </a:rPr>
              <a:t>ADVISORS</a:t>
            </a:r>
          </a:p>
        </p:txBody>
      </p:sp>
      <p:sp>
        <p:nvSpPr>
          <p:cNvPr id="5" name="TextBox 4"/>
          <p:cNvSpPr txBox="1"/>
          <p:nvPr/>
        </p:nvSpPr>
        <p:spPr>
          <a:xfrm>
            <a:off x="457200" y="868680"/>
            <a:ext cx="10058400" cy="914400"/>
          </a:xfrm>
          <a:prstGeom prst="rect">
            <a:avLst/>
          </a:prstGeom>
          <a:noFill/>
        </p:spPr>
        <p:txBody>
          <a:bodyPr wrap="square" lIns="0" tIns="0" rIns="0" bIns="0" anchor="t">
            <a:spAutoFit/>
          </a:bodyPr>
          <a:lstStyle/>
          <a:p>
            <a:pPr algn="l"/>
            <a:r>
              <a:rPr sz="3400" b="1" i="0" spc="-30">
                <a:solidFill>
                  <a:srgbClr val="0A0A0A"/>
                </a:solidFill>
                <a:latin typeface="Archivo"/>
              </a:rPr>
              <a:t>Specialist judgment on every trade.</a:t>
            </a:r>
          </a:p>
        </p:txBody>
      </p:sp>
      <p:sp>
        <p:nvSpPr>
          <p:cNvPr id="6" name="TextBox 5"/>
          <p:cNvSpPr txBox="1"/>
          <p:nvPr/>
        </p:nvSpPr>
        <p:spPr>
          <a:xfrm>
            <a:off x="457200" y="1783080"/>
            <a:ext cx="11247120" cy="457200"/>
          </a:xfrm>
          <a:prstGeom prst="rect">
            <a:avLst/>
          </a:prstGeom>
          <a:noFill/>
        </p:spPr>
        <p:txBody>
          <a:bodyPr wrap="square" lIns="0" tIns="0" rIns="0" bIns="0" anchor="t">
            <a:spAutoFit/>
          </a:bodyPr>
          <a:lstStyle/>
          <a:p>
            <a:pPr algn="l"/>
            <a:r>
              <a:rPr sz="1400" b="0" i="0">
                <a:solidFill>
                  <a:srgbClr val="6A6A6A"/>
                </a:solidFill>
                <a:latin typeface="Archivo"/>
              </a:rPr>
              <a:t>Independent counsel and copyright subject-matter experts retained on a matter-by-matter basis. No conflicts with the firms Turnpage funds.</a:t>
            </a:r>
          </a:p>
        </p:txBody>
      </p:sp>
      <p:sp>
        <p:nvSpPr>
          <p:cNvPr id="7" name="Rectangle 6"/>
          <p:cNvSpPr/>
          <p:nvPr/>
        </p:nvSpPr>
        <p:spPr>
          <a:xfrm>
            <a:off x="457200" y="2606040"/>
            <a:ext cx="5592927" cy="1874519"/>
          </a:xfrm>
          <a:prstGeom prst="rect">
            <a:avLst/>
          </a:prstGeom>
          <a:solidFill>
            <a:srgbClr val="FFFFFF"/>
          </a:solidFill>
          <a:ln w="6350">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2834640"/>
            <a:ext cx="1280160" cy="146304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429000"/>
            <a:ext cx="1280160" cy="274320"/>
          </a:xfrm>
          <a:prstGeom prst="rect">
            <a:avLst/>
          </a:prstGeom>
          <a:noFill/>
        </p:spPr>
        <p:txBody>
          <a:bodyPr wrap="square" lIns="0" tIns="0" rIns="0" bIns="0" anchor="t">
            <a:spAutoFit/>
          </a:bodyPr>
          <a:lstStyle/>
          <a:p>
            <a:pPr algn="ctr"/>
            <a:r>
              <a:rPr sz="900" b="1" i="0" spc="240">
                <a:solidFill>
                  <a:srgbClr val="999999"/>
                </a:solidFill>
                <a:latin typeface="Archivo"/>
              </a:rPr>
              <a:t>[ PHOTO ]</a:t>
            </a:r>
          </a:p>
        </p:txBody>
      </p:sp>
      <p:sp>
        <p:nvSpPr>
          <p:cNvPr id="10" name="TextBox 9"/>
          <p:cNvSpPr txBox="1"/>
          <p:nvPr/>
        </p:nvSpPr>
        <p:spPr>
          <a:xfrm>
            <a:off x="2148840" y="2880360"/>
            <a:ext cx="3672687" cy="274320"/>
          </a:xfrm>
          <a:prstGeom prst="rect">
            <a:avLst/>
          </a:prstGeom>
          <a:noFill/>
        </p:spPr>
        <p:txBody>
          <a:bodyPr wrap="square" lIns="0" tIns="0" rIns="0" bIns="0" anchor="t">
            <a:spAutoFit/>
          </a:bodyPr>
          <a:lstStyle/>
          <a:p>
            <a:pPr algn="l"/>
            <a:r>
              <a:rPr sz="1100" b="1" i="0" spc="240">
                <a:solidFill>
                  <a:srgbClr val="6A6A6A"/>
                </a:solidFill>
                <a:latin typeface="Archivo"/>
              </a:rPr>
              <a:t>LEGAL COUNSEL</a:t>
            </a:r>
          </a:p>
        </p:txBody>
      </p:sp>
      <p:sp>
        <p:nvSpPr>
          <p:cNvPr id="11" name="TextBox 10"/>
          <p:cNvSpPr txBox="1"/>
          <p:nvPr/>
        </p:nvSpPr>
        <p:spPr>
          <a:xfrm>
            <a:off x="2148840" y="3108960"/>
            <a:ext cx="3672687" cy="365760"/>
          </a:xfrm>
          <a:prstGeom prst="rect">
            <a:avLst/>
          </a:prstGeom>
          <a:noFill/>
        </p:spPr>
        <p:txBody>
          <a:bodyPr wrap="square" lIns="0" tIns="0" rIns="0" bIns="0" anchor="t">
            <a:spAutoFit/>
          </a:bodyPr>
          <a:lstStyle/>
          <a:p>
            <a:pPr algn="l"/>
            <a:r>
              <a:rPr sz="1500" b="1" i="0" spc="-10">
                <a:solidFill>
                  <a:srgbClr val="0A0A0A"/>
                </a:solidFill>
                <a:latin typeface="Archivo"/>
              </a:rPr>
              <a:t>[ LEAD OUTSIDE COUNSEL ]</a:t>
            </a:r>
          </a:p>
        </p:txBody>
      </p:sp>
      <p:sp>
        <p:nvSpPr>
          <p:cNvPr id="12" name="TextBox 11"/>
          <p:cNvSpPr txBox="1"/>
          <p:nvPr/>
        </p:nvSpPr>
        <p:spPr>
          <a:xfrm>
            <a:off x="2148840" y="3447288"/>
            <a:ext cx="3672687" cy="274320"/>
          </a:xfrm>
          <a:prstGeom prst="rect">
            <a:avLst/>
          </a:prstGeom>
          <a:noFill/>
        </p:spPr>
        <p:txBody>
          <a:bodyPr wrap="square" lIns="0" tIns="0" rIns="0" bIns="0" anchor="t">
            <a:spAutoFit/>
          </a:bodyPr>
          <a:lstStyle/>
          <a:p>
            <a:pPr algn="l"/>
            <a:r>
              <a:rPr sz="1000" b="0" i="1">
                <a:solidFill>
                  <a:srgbClr val="6A6A6A"/>
                </a:solidFill>
                <a:latin typeface="Archivo"/>
              </a:rPr>
              <a:t>Class action + claims trading partner</a:t>
            </a:r>
          </a:p>
        </p:txBody>
      </p:sp>
      <p:sp>
        <p:nvSpPr>
          <p:cNvPr id="13" name="TextBox 12"/>
          <p:cNvSpPr txBox="1"/>
          <p:nvPr/>
        </p:nvSpPr>
        <p:spPr>
          <a:xfrm>
            <a:off x="2148840" y="3721608"/>
            <a:ext cx="3672687" cy="201168"/>
          </a:xfrm>
          <a:prstGeom prst="rect">
            <a:avLst/>
          </a:prstGeom>
          <a:noFill/>
        </p:spPr>
        <p:txBody>
          <a:bodyPr wrap="square" lIns="0" tIns="0" rIns="0" bIns="0" anchor="t">
            <a:spAutoFit/>
          </a:bodyPr>
          <a:lstStyle/>
          <a:p>
            <a:pPr algn="l"/>
            <a:r>
              <a:rPr sz="1000" b="0" i="0">
                <a:solidFill>
                  <a:srgbClr val="6A6A6A"/>
                </a:solidFill>
                <a:latin typeface="Archivo"/>
              </a:rPr>
              <a:t>•  Reviews each trade documentation package</a:t>
            </a:r>
          </a:p>
        </p:txBody>
      </p:sp>
      <p:sp>
        <p:nvSpPr>
          <p:cNvPr id="14" name="TextBox 13"/>
          <p:cNvSpPr txBox="1"/>
          <p:nvPr/>
        </p:nvSpPr>
        <p:spPr>
          <a:xfrm>
            <a:off x="2148840" y="3922776"/>
            <a:ext cx="3672687" cy="201168"/>
          </a:xfrm>
          <a:prstGeom prst="rect">
            <a:avLst/>
          </a:prstGeom>
          <a:noFill/>
        </p:spPr>
        <p:txBody>
          <a:bodyPr wrap="square" lIns="0" tIns="0" rIns="0" bIns="0" anchor="t">
            <a:spAutoFit/>
          </a:bodyPr>
          <a:lstStyle/>
          <a:p>
            <a:pPr algn="l"/>
            <a:r>
              <a:rPr sz="1000" b="0" i="0">
                <a:solidFill>
                  <a:srgbClr val="6A6A6A"/>
                </a:solidFill>
                <a:latin typeface="Archivo"/>
              </a:rPr>
              <a:t>•  Settlement Admin liaison</a:t>
            </a:r>
          </a:p>
        </p:txBody>
      </p:sp>
      <p:sp>
        <p:nvSpPr>
          <p:cNvPr id="15" name="TextBox 14"/>
          <p:cNvSpPr txBox="1"/>
          <p:nvPr/>
        </p:nvSpPr>
        <p:spPr>
          <a:xfrm>
            <a:off x="2148840" y="4123944"/>
            <a:ext cx="3672687" cy="201168"/>
          </a:xfrm>
          <a:prstGeom prst="rect">
            <a:avLst/>
          </a:prstGeom>
          <a:noFill/>
        </p:spPr>
        <p:txBody>
          <a:bodyPr wrap="square" lIns="0" tIns="0" rIns="0" bIns="0" anchor="t">
            <a:spAutoFit/>
          </a:bodyPr>
          <a:lstStyle/>
          <a:p>
            <a:pPr algn="l"/>
            <a:r>
              <a:rPr sz="1000" b="0" i="0">
                <a:solidFill>
                  <a:srgbClr val="6A6A6A"/>
                </a:solidFill>
                <a:latin typeface="Archivo"/>
              </a:rPr>
              <a:t>•  Bar-admitted in NY + DE</a:t>
            </a:r>
          </a:p>
        </p:txBody>
      </p:sp>
      <p:sp>
        <p:nvSpPr>
          <p:cNvPr id="16" name="Rectangle 15"/>
          <p:cNvSpPr/>
          <p:nvPr/>
        </p:nvSpPr>
        <p:spPr>
          <a:xfrm>
            <a:off x="6141567" y="2606040"/>
            <a:ext cx="5592927" cy="1874519"/>
          </a:xfrm>
          <a:prstGeom prst="rect">
            <a:avLst/>
          </a:prstGeom>
          <a:solidFill>
            <a:srgbClr val="FFFFFF"/>
          </a:solidFill>
          <a:ln w="6350">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70167" y="2834640"/>
            <a:ext cx="1280160" cy="146304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70167" y="3429000"/>
            <a:ext cx="1280160" cy="274320"/>
          </a:xfrm>
          <a:prstGeom prst="rect">
            <a:avLst/>
          </a:prstGeom>
          <a:noFill/>
        </p:spPr>
        <p:txBody>
          <a:bodyPr wrap="square" lIns="0" tIns="0" rIns="0" bIns="0" anchor="t">
            <a:spAutoFit/>
          </a:bodyPr>
          <a:lstStyle/>
          <a:p>
            <a:pPr algn="ctr"/>
            <a:r>
              <a:rPr sz="900" b="1" i="0" spc="240">
                <a:solidFill>
                  <a:srgbClr val="999999"/>
                </a:solidFill>
                <a:latin typeface="Archivo"/>
              </a:rPr>
              <a:t>[ PHOTO ]</a:t>
            </a:r>
          </a:p>
        </p:txBody>
      </p:sp>
      <p:sp>
        <p:nvSpPr>
          <p:cNvPr id="19" name="TextBox 18"/>
          <p:cNvSpPr txBox="1"/>
          <p:nvPr/>
        </p:nvSpPr>
        <p:spPr>
          <a:xfrm>
            <a:off x="7833207" y="2880360"/>
            <a:ext cx="3672687" cy="169277"/>
          </a:xfrm>
          <a:prstGeom prst="rect">
            <a:avLst/>
          </a:prstGeom>
          <a:noFill/>
        </p:spPr>
        <p:txBody>
          <a:bodyPr wrap="square" lIns="0" tIns="0" rIns="0" bIns="0" anchor="t">
            <a:spAutoFit/>
          </a:bodyPr>
          <a:lstStyle/>
          <a:p>
            <a:pPr algn="l"/>
            <a:r>
              <a:rPr lang="en-US" sz="1100" b="1" i="0" spc="240" dirty="0">
                <a:solidFill>
                  <a:srgbClr val="6A6A6A"/>
                </a:solidFill>
                <a:latin typeface="Archivo"/>
              </a:rPr>
              <a:t>INVESTOR</a:t>
            </a:r>
            <a:endParaRPr sz="1100" b="1" i="0" spc="240" dirty="0">
              <a:solidFill>
                <a:srgbClr val="6A6A6A"/>
              </a:solidFill>
              <a:latin typeface="Archivo"/>
            </a:endParaRPr>
          </a:p>
        </p:txBody>
      </p:sp>
      <p:sp>
        <p:nvSpPr>
          <p:cNvPr id="20" name="TextBox 19"/>
          <p:cNvSpPr txBox="1"/>
          <p:nvPr/>
        </p:nvSpPr>
        <p:spPr>
          <a:xfrm>
            <a:off x="7833207" y="3108960"/>
            <a:ext cx="3672687" cy="365760"/>
          </a:xfrm>
          <a:prstGeom prst="rect">
            <a:avLst/>
          </a:prstGeom>
          <a:noFill/>
        </p:spPr>
        <p:txBody>
          <a:bodyPr wrap="square" lIns="0" tIns="0" rIns="0" bIns="0" anchor="t">
            <a:spAutoFit/>
          </a:bodyPr>
          <a:lstStyle/>
          <a:p>
            <a:pPr algn="l"/>
            <a:r>
              <a:rPr sz="1500" b="1" i="0" spc="-10" dirty="0">
                <a:solidFill>
                  <a:srgbClr val="0A0A0A"/>
                </a:solidFill>
                <a:latin typeface="Archivo"/>
              </a:rPr>
              <a:t>[ LITIGATION COUNSEL ]</a:t>
            </a:r>
          </a:p>
        </p:txBody>
      </p:sp>
      <p:sp>
        <p:nvSpPr>
          <p:cNvPr id="21" name="TextBox 20"/>
          <p:cNvSpPr txBox="1"/>
          <p:nvPr/>
        </p:nvSpPr>
        <p:spPr>
          <a:xfrm>
            <a:off x="7833207" y="3447288"/>
            <a:ext cx="3672687" cy="274320"/>
          </a:xfrm>
          <a:prstGeom prst="rect">
            <a:avLst/>
          </a:prstGeom>
          <a:noFill/>
        </p:spPr>
        <p:txBody>
          <a:bodyPr wrap="square" lIns="0" tIns="0" rIns="0" bIns="0" anchor="t">
            <a:spAutoFit/>
          </a:bodyPr>
          <a:lstStyle/>
          <a:p>
            <a:pPr algn="l"/>
            <a:r>
              <a:rPr sz="1000" b="0" i="1">
                <a:solidFill>
                  <a:srgbClr val="6A6A6A"/>
                </a:solidFill>
                <a:latin typeface="Archivo"/>
              </a:rPr>
              <a:t>Plaintiff-side AI copyright litigator</a:t>
            </a:r>
          </a:p>
        </p:txBody>
      </p:sp>
      <p:sp>
        <p:nvSpPr>
          <p:cNvPr id="22" name="TextBox 21"/>
          <p:cNvSpPr txBox="1"/>
          <p:nvPr/>
        </p:nvSpPr>
        <p:spPr>
          <a:xfrm>
            <a:off x="7833207" y="3721608"/>
            <a:ext cx="3672687" cy="201168"/>
          </a:xfrm>
          <a:prstGeom prst="rect">
            <a:avLst/>
          </a:prstGeom>
          <a:noFill/>
        </p:spPr>
        <p:txBody>
          <a:bodyPr wrap="square" lIns="0" tIns="0" rIns="0" bIns="0" anchor="t">
            <a:spAutoFit/>
          </a:bodyPr>
          <a:lstStyle/>
          <a:p>
            <a:pPr algn="l"/>
            <a:r>
              <a:rPr sz="1000" b="0" i="0">
                <a:solidFill>
                  <a:srgbClr val="6A6A6A"/>
                </a:solidFill>
                <a:latin typeface="Archivo"/>
              </a:rPr>
              <a:t>•  Underwrites merits on Prong 2 matters</a:t>
            </a:r>
          </a:p>
        </p:txBody>
      </p:sp>
      <p:sp>
        <p:nvSpPr>
          <p:cNvPr id="23" name="TextBox 22"/>
          <p:cNvSpPr txBox="1"/>
          <p:nvPr/>
        </p:nvSpPr>
        <p:spPr>
          <a:xfrm>
            <a:off x="7833207" y="3922776"/>
            <a:ext cx="3672687" cy="201168"/>
          </a:xfrm>
          <a:prstGeom prst="rect">
            <a:avLst/>
          </a:prstGeom>
          <a:noFill/>
        </p:spPr>
        <p:txBody>
          <a:bodyPr wrap="square" lIns="0" tIns="0" rIns="0" bIns="0" anchor="t">
            <a:spAutoFit/>
          </a:bodyPr>
          <a:lstStyle/>
          <a:p>
            <a:pPr algn="l"/>
            <a:r>
              <a:rPr sz="1000" b="0" i="0">
                <a:solidFill>
                  <a:srgbClr val="6A6A6A"/>
                </a:solidFill>
                <a:latin typeface="Archivo"/>
              </a:rPr>
              <a:t>•  Pre-discovery case selection</a:t>
            </a:r>
          </a:p>
        </p:txBody>
      </p:sp>
      <p:sp>
        <p:nvSpPr>
          <p:cNvPr id="24" name="TextBox 23"/>
          <p:cNvSpPr txBox="1"/>
          <p:nvPr/>
        </p:nvSpPr>
        <p:spPr>
          <a:xfrm>
            <a:off x="7833207" y="4123944"/>
            <a:ext cx="3672687" cy="201168"/>
          </a:xfrm>
          <a:prstGeom prst="rect">
            <a:avLst/>
          </a:prstGeom>
          <a:noFill/>
        </p:spPr>
        <p:txBody>
          <a:bodyPr wrap="square" lIns="0" tIns="0" rIns="0" bIns="0" anchor="t">
            <a:spAutoFit/>
          </a:bodyPr>
          <a:lstStyle/>
          <a:p>
            <a:pPr algn="l"/>
            <a:r>
              <a:rPr sz="1000" b="0" i="0">
                <a:solidFill>
                  <a:srgbClr val="6A6A6A"/>
                </a:solidFill>
                <a:latin typeface="Archivo"/>
              </a:rPr>
              <a:t>•  Federal class action experience</a:t>
            </a:r>
          </a:p>
        </p:txBody>
      </p:sp>
      <p:sp>
        <p:nvSpPr>
          <p:cNvPr id="25" name="Rectangle 24"/>
          <p:cNvSpPr/>
          <p:nvPr/>
        </p:nvSpPr>
        <p:spPr>
          <a:xfrm>
            <a:off x="457200" y="4571999"/>
            <a:ext cx="5592927" cy="1874519"/>
          </a:xfrm>
          <a:prstGeom prst="rect">
            <a:avLst/>
          </a:prstGeom>
          <a:solidFill>
            <a:srgbClr val="FFFFFF"/>
          </a:solidFill>
          <a:ln w="6350">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 y="4800599"/>
            <a:ext cx="1280160" cy="146304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394959"/>
            <a:ext cx="1280160" cy="274320"/>
          </a:xfrm>
          <a:prstGeom prst="rect">
            <a:avLst/>
          </a:prstGeom>
          <a:noFill/>
        </p:spPr>
        <p:txBody>
          <a:bodyPr wrap="square" lIns="0" tIns="0" rIns="0" bIns="0" anchor="t">
            <a:spAutoFit/>
          </a:bodyPr>
          <a:lstStyle/>
          <a:p>
            <a:pPr algn="ctr"/>
            <a:r>
              <a:rPr sz="900" b="1" i="0" spc="240">
                <a:solidFill>
                  <a:srgbClr val="999999"/>
                </a:solidFill>
                <a:latin typeface="Archivo"/>
              </a:rPr>
              <a:t>[ PHOTO ]</a:t>
            </a:r>
          </a:p>
        </p:txBody>
      </p:sp>
      <p:sp>
        <p:nvSpPr>
          <p:cNvPr id="28" name="TextBox 27"/>
          <p:cNvSpPr txBox="1"/>
          <p:nvPr/>
        </p:nvSpPr>
        <p:spPr>
          <a:xfrm>
            <a:off x="2148840" y="4846319"/>
            <a:ext cx="3672687" cy="274320"/>
          </a:xfrm>
          <a:prstGeom prst="rect">
            <a:avLst/>
          </a:prstGeom>
          <a:noFill/>
        </p:spPr>
        <p:txBody>
          <a:bodyPr wrap="square" lIns="0" tIns="0" rIns="0" bIns="0" anchor="t">
            <a:spAutoFit/>
          </a:bodyPr>
          <a:lstStyle/>
          <a:p>
            <a:pPr algn="l"/>
            <a:r>
              <a:rPr sz="1100" b="1" i="0" spc="240">
                <a:solidFill>
                  <a:srgbClr val="6A6A6A"/>
                </a:solidFill>
                <a:latin typeface="Archivo"/>
              </a:rPr>
              <a:t>COPYRIGHT EXPERT</a:t>
            </a:r>
          </a:p>
        </p:txBody>
      </p:sp>
      <p:sp>
        <p:nvSpPr>
          <p:cNvPr id="29" name="TextBox 28"/>
          <p:cNvSpPr txBox="1"/>
          <p:nvPr/>
        </p:nvSpPr>
        <p:spPr>
          <a:xfrm>
            <a:off x="2148840" y="5074919"/>
            <a:ext cx="3672687" cy="365760"/>
          </a:xfrm>
          <a:prstGeom prst="rect">
            <a:avLst/>
          </a:prstGeom>
          <a:noFill/>
        </p:spPr>
        <p:txBody>
          <a:bodyPr wrap="square" lIns="0" tIns="0" rIns="0" bIns="0" anchor="t">
            <a:spAutoFit/>
          </a:bodyPr>
          <a:lstStyle/>
          <a:p>
            <a:pPr algn="l"/>
            <a:r>
              <a:rPr sz="1500" b="1" i="0" spc="-10">
                <a:solidFill>
                  <a:srgbClr val="0A0A0A"/>
                </a:solidFill>
                <a:latin typeface="Archivo"/>
              </a:rPr>
              <a:t>[ COPYRIGHT ACADEMIC ]</a:t>
            </a:r>
          </a:p>
        </p:txBody>
      </p:sp>
      <p:sp>
        <p:nvSpPr>
          <p:cNvPr id="30" name="TextBox 29"/>
          <p:cNvSpPr txBox="1"/>
          <p:nvPr/>
        </p:nvSpPr>
        <p:spPr>
          <a:xfrm>
            <a:off x="2148840" y="5413247"/>
            <a:ext cx="3672687" cy="274320"/>
          </a:xfrm>
          <a:prstGeom prst="rect">
            <a:avLst/>
          </a:prstGeom>
          <a:noFill/>
        </p:spPr>
        <p:txBody>
          <a:bodyPr wrap="square" lIns="0" tIns="0" rIns="0" bIns="0" anchor="t">
            <a:spAutoFit/>
          </a:bodyPr>
          <a:lstStyle/>
          <a:p>
            <a:pPr algn="l"/>
            <a:r>
              <a:rPr sz="1000" b="0" i="1">
                <a:solidFill>
                  <a:srgbClr val="6A6A6A"/>
                </a:solidFill>
                <a:latin typeface="Archivo"/>
              </a:rPr>
              <a:t>Law-school faculty · IP / fair use</a:t>
            </a:r>
          </a:p>
        </p:txBody>
      </p:sp>
      <p:sp>
        <p:nvSpPr>
          <p:cNvPr id="31" name="TextBox 30"/>
          <p:cNvSpPr txBox="1"/>
          <p:nvPr/>
        </p:nvSpPr>
        <p:spPr>
          <a:xfrm>
            <a:off x="2148840" y="5687567"/>
            <a:ext cx="3672687" cy="201168"/>
          </a:xfrm>
          <a:prstGeom prst="rect">
            <a:avLst/>
          </a:prstGeom>
          <a:noFill/>
        </p:spPr>
        <p:txBody>
          <a:bodyPr wrap="square" lIns="0" tIns="0" rIns="0" bIns="0" anchor="t">
            <a:spAutoFit/>
          </a:bodyPr>
          <a:lstStyle/>
          <a:p>
            <a:pPr algn="l"/>
            <a:r>
              <a:rPr sz="1000" b="0" i="0">
                <a:solidFill>
                  <a:srgbClr val="6A6A6A"/>
                </a:solidFill>
                <a:latin typeface="Archivo"/>
              </a:rPr>
              <a:t>•  Appeal risk + fair use scoring</a:t>
            </a:r>
          </a:p>
        </p:txBody>
      </p:sp>
      <p:sp>
        <p:nvSpPr>
          <p:cNvPr id="32" name="TextBox 31"/>
          <p:cNvSpPr txBox="1"/>
          <p:nvPr/>
        </p:nvSpPr>
        <p:spPr>
          <a:xfrm>
            <a:off x="2148840" y="5888735"/>
            <a:ext cx="3672687" cy="201168"/>
          </a:xfrm>
          <a:prstGeom prst="rect">
            <a:avLst/>
          </a:prstGeom>
          <a:noFill/>
        </p:spPr>
        <p:txBody>
          <a:bodyPr wrap="square" lIns="0" tIns="0" rIns="0" bIns="0" anchor="t">
            <a:spAutoFit/>
          </a:bodyPr>
          <a:lstStyle/>
          <a:p>
            <a:pPr algn="l"/>
            <a:r>
              <a:rPr sz="1000" b="0" i="0">
                <a:solidFill>
                  <a:srgbClr val="6A6A6A"/>
                </a:solidFill>
                <a:latin typeface="Archivo"/>
              </a:rPr>
              <a:t>•  Briefs on Kadrey / Bartz doctrinal drift</a:t>
            </a:r>
          </a:p>
        </p:txBody>
      </p:sp>
      <p:sp>
        <p:nvSpPr>
          <p:cNvPr id="33" name="TextBox 32"/>
          <p:cNvSpPr txBox="1"/>
          <p:nvPr/>
        </p:nvSpPr>
        <p:spPr>
          <a:xfrm>
            <a:off x="2148840" y="6089903"/>
            <a:ext cx="3672687" cy="201168"/>
          </a:xfrm>
          <a:prstGeom prst="rect">
            <a:avLst/>
          </a:prstGeom>
          <a:noFill/>
        </p:spPr>
        <p:txBody>
          <a:bodyPr wrap="square" lIns="0" tIns="0" rIns="0" bIns="0" anchor="t">
            <a:spAutoFit/>
          </a:bodyPr>
          <a:lstStyle/>
          <a:p>
            <a:pPr algn="l"/>
            <a:r>
              <a:rPr sz="1000" b="0" i="0">
                <a:solidFill>
                  <a:srgbClr val="6A6A6A"/>
                </a:solidFill>
                <a:latin typeface="Archivo"/>
              </a:rPr>
              <a:t>•  Published in leading IP journals</a:t>
            </a:r>
          </a:p>
        </p:txBody>
      </p:sp>
      <p:sp>
        <p:nvSpPr>
          <p:cNvPr id="34" name="Rectangle 33"/>
          <p:cNvSpPr/>
          <p:nvPr/>
        </p:nvSpPr>
        <p:spPr>
          <a:xfrm>
            <a:off x="6141567" y="4571999"/>
            <a:ext cx="5592927" cy="1874519"/>
          </a:xfrm>
          <a:prstGeom prst="rect">
            <a:avLst/>
          </a:prstGeom>
          <a:solidFill>
            <a:srgbClr val="FFFFFF"/>
          </a:solidFill>
          <a:ln w="6350">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70167" y="4800599"/>
            <a:ext cx="1280160" cy="1463040"/>
          </a:xfrm>
          <a:prstGeom prst="rect">
            <a:avLst/>
          </a:prstGeom>
          <a:solidFill>
            <a:srgbClr val="E5E7EB"/>
          </a:solidFill>
          <a:ln w="635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70167" y="5394959"/>
            <a:ext cx="1280160" cy="274320"/>
          </a:xfrm>
          <a:prstGeom prst="rect">
            <a:avLst/>
          </a:prstGeom>
          <a:noFill/>
        </p:spPr>
        <p:txBody>
          <a:bodyPr wrap="square" lIns="0" tIns="0" rIns="0" bIns="0" anchor="t">
            <a:spAutoFit/>
          </a:bodyPr>
          <a:lstStyle/>
          <a:p>
            <a:pPr algn="ctr"/>
            <a:r>
              <a:rPr sz="900" b="1" i="0" spc="240">
                <a:solidFill>
                  <a:srgbClr val="999999"/>
                </a:solidFill>
                <a:latin typeface="Archivo"/>
              </a:rPr>
              <a:t>[ PHOTO ]</a:t>
            </a:r>
          </a:p>
        </p:txBody>
      </p:sp>
      <p:sp>
        <p:nvSpPr>
          <p:cNvPr id="37" name="TextBox 36"/>
          <p:cNvSpPr txBox="1"/>
          <p:nvPr/>
        </p:nvSpPr>
        <p:spPr>
          <a:xfrm>
            <a:off x="7833207" y="4846319"/>
            <a:ext cx="3672687" cy="169277"/>
          </a:xfrm>
          <a:prstGeom prst="rect">
            <a:avLst/>
          </a:prstGeom>
          <a:noFill/>
        </p:spPr>
        <p:txBody>
          <a:bodyPr wrap="square" lIns="0" tIns="0" rIns="0" bIns="0" anchor="t">
            <a:spAutoFit/>
          </a:bodyPr>
          <a:lstStyle/>
          <a:p>
            <a:pPr algn="l"/>
            <a:r>
              <a:rPr lang="en-US" sz="1100" b="1" i="0" spc="240" dirty="0">
                <a:solidFill>
                  <a:srgbClr val="6A6A6A"/>
                </a:solidFill>
                <a:latin typeface="Archivo"/>
              </a:rPr>
              <a:t>LITIGATION FINANCE EXPERTS</a:t>
            </a:r>
            <a:endParaRPr sz="1100" b="1" i="0" spc="240" dirty="0">
              <a:solidFill>
                <a:srgbClr val="6A6A6A"/>
              </a:solidFill>
              <a:latin typeface="Archivo"/>
            </a:endParaRPr>
          </a:p>
        </p:txBody>
      </p:sp>
      <p:sp>
        <p:nvSpPr>
          <p:cNvPr id="38" name="TextBox 37"/>
          <p:cNvSpPr txBox="1"/>
          <p:nvPr/>
        </p:nvSpPr>
        <p:spPr>
          <a:xfrm>
            <a:off x="7833207" y="5074919"/>
            <a:ext cx="3672687" cy="230832"/>
          </a:xfrm>
          <a:prstGeom prst="rect">
            <a:avLst/>
          </a:prstGeom>
          <a:noFill/>
        </p:spPr>
        <p:txBody>
          <a:bodyPr wrap="square" lIns="0" tIns="0" rIns="0" bIns="0" anchor="t">
            <a:spAutoFit/>
          </a:bodyPr>
          <a:lstStyle/>
          <a:p>
            <a:pPr algn="l"/>
            <a:r>
              <a:rPr lang="en-US" sz="1500" b="1" i="0" spc="-10" dirty="0">
                <a:solidFill>
                  <a:srgbClr val="0A0A0A"/>
                </a:solidFill>
                <a:latin typeface="Archivo"/>
              </a:rPr>
              <a:t>BACKLIT CAPITAL SOLUTIONS</a:t>
            </a:r>
            <a:endParaRPr sz="1500" b="1" i="0" spc="-10" dirty="0">
              <a:solidFill>
                <a:srgbClr val="0A0A0A"/>
              </a:solidFill>
              <a:latin typeface="Archivo"/>
            </a:endParaRPr>
          </a:p>
        </p:txBody>
      </p:sp>
      <p:sp>
        <p:nvSpPr>
          <p:cNvPr id="39" name="TextBox 38"/>
          <p:cNvSpPr txBox="1"/>
          <p:nvPr/>
        </p:nvSpPr>
        <p:spPr>
          <a:xfrm>
            <a:off x="7833207" y="5413247"/>
            <a:ext cx="3672687" cy="274320"/>
          </a:xfrm>
          <a:prstGeom prst="rect">
            <a:avLst/>
          </a:prstGeom>
          <a:noFill/>
        </p:spPr>
        <p:txBody>
          <a:bodyPr wrap="square" lIns="0" tIns="0" rIns="0" bIns="0" anchor="t">
            <a:spAutoFit/>
          </a:bodyPr>
          <a:lstStyle/>
          <a:p>
            <a:pPr algn="l"/>
            <a:r>
              <a:rPr sz="1000" b="0" i="1">
                <a:solidFill>
                  <a:srgbClr val="6A6A6A"/>
                </a:solidFill>
                <a:latin typeface="Archivo"/>
              </a:rPr>
              <a:t>Former publishing-house General Counsel</a:t>
            </a:r>
          </a:p>
        </p:txBody>
      </p:sp>
      <p:sp>
        <p:nvSpPr>
          <p:cNvPr id="40" name="TextBox 39"/>
          <p:cNvSpPr txBox="1"/>
          <p:nvPr/>
        </p:nvSpPr>
        <p:spPr>
          <a:xfrm>
            <a:off x="7833207" y="5687567"/>
            <a:ext cx="3672687" cy="201168"/>
          </a:xfrm>
          <a:prstGeom prst="rect">
            <a:avLst/>
          </a:prstGeom>
          <a:noFill/>
        </p:spPr>
        <p:txBody>
          <a:bodyPr wrap="square" lIns="0" tIns="0" rIns="0" bIns="0" anchor="t">
            <a:spAutoFit/>
          </a:bodyPr>
          <a:lstStyle/>
          <a:p>
            <a:pPr algn="l"/>
            <a:r>
              <a:rPr sz="1000" b="0" i="0">
                <a:solidFill>
                  <a:srgbClr val="6A6A6A"/>
                </a:solidFill>
                <a:latin typeface="Archivo"/>
              </a:rPr>
              <a:t>•  Reads publisher-author allocation conflicts</a:t>
            </a:r>
          </a:p>
        </p:txBody>
      </p:sp>
      <p:sp>
        <p:nvSpPr>
          <p:cNvPr id="41" name="TextBox 40"/>
          <p:cNvSpPr txBox="1"/>
          <p:nvPr/>
        </p:nvSpPr>
        <p:spPr>
          <a:xfrm>
            <a:off x="7833207" y="5888735"/>
            <a:ext cx="3672687" cy="201168"/>
          </a:xfrm>
          <a:prstGeom prst="rect">
            <a:avLst/>
          </a:prstGeom>
          <a:noFill/>
        </p:spPr>
        <p:txBody>
          <a:bodyPr wrap="square" lIns="0" tIns="0" rIns="0" bIns="0" anchor="t">
            <a:spAutoFit/>
          </a:bodyPr>
          <a:lstStyle/>
          <a:p>
            <a:pPr algn="l"/>
            <a:r>
              <a:rPr sz="1000" b="0" i="0">
                <a:solidFill>
                  <a:srgbClr val="6A6A6A"/>
                </a:solidFill>
                <a:latin typeface="Archivo"/>
              </a:rPr>
              <a:t>•  Direct contacts at top-20 publishers</a:t>
            </a:r>
          </a:p>
        </p:txBody>
      </p:sp>
      <p:sp>
        <p:nvSpPr>
          <p:cNvPr id="42" name="TextBox 41"/>
          <p:cNvSpPr txBox="1"/>
          <p:nvPr/>
        </p:nvSpPr>
        <p:spPr>
          <a:xfrm>
            <a:off x="7833207" y="6089903"/>
            <a:ext cx="3672687" cy="201168"/>
          </a:xfrm>
          <a:prstGeom prst="rect">
            <a:avLst/>
          </a:prstGeom>
          <a:noFill/>
        </p:spPr>
        <p:txBody>
          <a:bodyPr wrap="square" lIns="0" tIns="0" rIns="0" bIns="0" anchor="t">
            <a:spAutoFit/>
          </a:bodyPr>
          <a:lstStyle/>
          <a:p>
            <a:pPr algn="l"/>
            <a:r>
              <a:rPr sz="1000" b="0" i="0">
                <a:solidFill>
                  <a:srgbClr val="6A6A6A"/>
                </a:solidFill>
                <a:latin typeface="Archivo"/>
              </a:rPr>
              <a:t>•  Closing approval on &gt; $5M trades</a:t>
            </a:r>
          </a:p>
        </p:txBody>
      </p:sp>
      <p:sp>
        <p:nvSpPr>
          <p:cNvPr id="43" name="TextBox 42"/>
          <p:cNvSpPr txBox="1"/>
          <p:nvPr/>
        </p:nvSpPr>
        <p:spPr>
          <a:xfrm>
            <a:off x="457200" y="6492240"/>
            <a:ext cx="6400800" cy="228600"/>
          </a:xfrm>
          <a:prstGeom prst="rect">
            <a:avLst/>
          </a:prstGeom>
          <a:noFill/>
        </p:spPr>
        <p:txBody>
          <a:bodyPr wrap="square" lIns="0" tIns="0" rIns="0" bIns="0" anchor="t">
            <a:spAutoFit/>
          </a:bodyPr>
          <a:lstStyle/>
          <a:p>
            <a:pPr algn="l"/>
            <a:r>
              <a:rPr sz="800" b="1" i="0" spc="150">
                <a:solidFill>
                  <a:srgbClr val="6A6A6A"/>
                </a:solidFill>
                <a:latin typeface="Archivo"/>
              </a:rPr>
              <a:t>TURNPAGE  DIGITAL  MARKETS</a:t>
            </a:r>
          </a:p>
        </p:txBody>
      </p:sp>
      <p:sp>
        <p:nvSpPr>
          <p:cNvPr id="44" name="TextBox 43"/>
          <p:cNvSpPr txBox="1"/>
          <p:nvPr/>
        </p:nvSpPr>
        <p:spPr>
          <a:xfrm>
            <a:off x="10820095" y="6492240"/>
            <a:ext cx="914400" cy="228600"/>
          </a:xfrm>
          <a:prstGeom prst="rect">
            <a:avLst/>
          </a:prstGeom>
          <a:noFill/>
        </p:spPr>
        <p:txBody>
          <a:bodyPr wrap="square" lIns="0" tIns="0" rIns="0" bIns="0" anchor="t">
            <a:spAutoFit/>
          </a:bodyPr>
          <a:lstStyle/>
          <a:p>
            <a:pPr algn="r"/>
            <a:r>
              <a:rPr sz="800" b="1" i="0" spc="120">
                <a:solidFill>
                  <a:srgbClr val="6A6A6A"/>
                </a:solidFill>
                <a:latin typeface="Archivo"/>
              </a:rPr>
              <a:t>17 / 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0"/>
            <a:ext cx="11247120" cy="1828800"/>
          </a:xfrm>
          <a:prstGeom prst="rect">
            <a:avLst/>
          </a:prstGeom>
          <a:noFill/>
        </p:spPr>
        <p:txBody>
          <a:bodyPr wrap="square" lIns="0" tIns="0" rIns="0" bIns="0" anchor="t">
            <a:spAutoFit/>
          </a:bodyPr>
          <a:lstStyle/>
          <a:p>
            <a:pPr algn="ctr"/>
            <a:r>
              <a:rPr lang="en-US" sz="12000" b="1" i="1" spc="-60" dirty="0">
                <a:solidFill>
                  <a:srgbClr val="D4FF00"/>
                </a:solidFill>
                <a:latin typeface="Archivo"/>
              </a:rPr>
              <a:t>Thank you.</a:t>
            </a:r>
            <a:endParaRPr sz="12000" b="1" i="1" spc="-60" dirty="0">
              <a:solidFill>
                <a:srgbClr val="D4FF00"/>
              </a:solidFill>
              <a:latin typeface="Archivo"/>
            </a:endParaRPr>
          </a:p>
        </p:txBody>
      </p:sp>
      <p:sp>
        <p:nvSpPr>
          <p:cNvPr id="4" name="TextBox 3"/>
          <p:cNvSpPr txBox="1"/>
          <p:nvPr/>
        </p:nvSpPr>
        <p:spPr>
          <a:xfrm>
            <a:off x="457200" y="3840480"/>
            <a:ext cx="11247120" cy="548640"/>
          </a:xfrm>
          <a:prstGeom prst="rect">
            <a:avLst/>
          </a:prstGeom>
          <a:noFill/>
        </p:spPr>
        <p:txBody>
          <a:bodyPr wrap="square" lIns="0" tIns="0" rIns="0" bIns="0" anchor="t">
            <a:spAutoFit/>
          </a:bodyPr>
          <a:lstStyle/>
          <a:p>
            <a:pPr algn="ctr"/>
            <a:r>
              <a:rPr sz="2200" b="0" i="0">
                <a:solidFill>
                  <a:srgbClr val="FFFFFF"/>
                </a:solidFill>
                <a:latin typeface="Archivo"/>
              </a:rPr>
              <a:t>Anchor commitments closing through July 2026.</a:t>
            </a:r>
          </a:p>
        </p:txBody>
      </p:sp>
      <p:sp>
        <p:nvSpPr>
          <p:cNvPr id="5" name="TextBox 4"/>
          <p:cNvSpPr txBox="1"/>
          <p:nvPr/>
        </p:nvSpPr>
        <p:spPr>
          <a:xfrm>
            <a:off x="457200" y="4572000"/>
            <a:ext cx="11247120" cy="457200"/>
          </a:xfrm>
          <a:prstGeom prst="rect">
            <a:avLst/>
          </a:prstGeom>
          <a:noFill/>
        </p:spPr>
        <p:txBody>
          <a:bodyPr wrap="square" lIns="0" tIns="0" rIns="0" bIns="0" anchor="t">
            <a:spAutoFit/>
          </a:bodyPr>
          <a:lstStyle/>
          <a:p>
            <a:pPr algn="ctr"/>
            <a:r>
              <a:rPr sz="1400" b="1" i="0" spc="120">
                <a:solidFill>
                  <a:srgbClr val="FFFFFF"/>
                </a:solidFill>
                <a:latin typeface="Archivo"/>
              </a:rPr>
              <a:t>Andrew Glantz · Turnpage Digital Markets</a:t>
            </a:r>
          </a:p>
        </p:txBody>
      </p:sp>
      <p:sp>
        <p:nvSpPr>
          <p:cNvPr id="6" name="TextBox 5"/>
          <p:cNvSpPr txBox="1"/>
          <p:nvPr/>
        </p:nvSpPr>
        <p:spPr>
          <a:xfrm>
            <a:off x="457200" y="5029200"/>
            <a:ext cx="11247120" cy="457200"/>
          </a:xfrm>
          <a:prstGeom prst="rect">
            <a:avLst/>
          </a:prstGeom>
          <a:noFill/>
        </p:spPr>
        <p:txBody>
          <a:bodyPr wrap="square" lIns="0" tIns="0" rIns="0" bIns="0" anchor="t">
            <a:spAutoFit/>
          </a:bodyPr>
          <a:lstStyle/>
          <a:p>
            <a:pPr algn="ctr"/>
            <a:r>
              <a:rPr sz="1300" b="0" i="0">
                <a:solidFill>
                  <a:srgbClr val="C0C0C0"/>
                </a:solidFill>
                <a:latin typeface="Archivo"/>
              </a:rPr>
              <a:t>ag@turnpagedigital.com · +1 646 860 0068 · turnpagedigital.com</a:t>
            </a:r>
          </a:p>
        </p:txBody>
      </p:sp>
      <p:sp>
        <p:nvSpPr>
          <p:cNvPr id="7" name="TextBox 6"/>
          <p:cNvSpPr txBox="1"/>
          <p:nvPr/>
        </p:nvSpPr>
        <p:spPr>
          <a:xfrm>
            <a:off x="457200" y="5943600"/>
            <a:ext cx="11247120" cy="274320"/>
          </a:xfrm>
          <a:prstGeom prst="rect">
            <a:avLst/>
          </a:prstGeom>
          <a:noFill/>
        </p:spPr>
        <p:txBody>
          <a:bodyPr wrap="square" lIns="0" tIns="0" rIns="0" bIns="0" anchor="t">
            <a:spAutoFit/>
          </a:bodyPr>
          <a:lstStyle/>
          <a:p>
            <a:pPr algn="ctr"/>
            <a:r>
              <a:rPr sz="1100" b="1" i="0" spc="300">
                <a:solidFill>
                  <a:srgbClr val="FFFFFF"/>
                </a:solidFill>
                <a:latin typeface="Archivo"/>
              </a:rPr>
              <a:t>TURNPAGE  DIGITAL  MARKETS</a:t>
            </a:r>
          </a:p>
        </p:txBody>
      </p:sp>
      <p:sp>
        <p:nvSpPr>
          <p:cNvPr id="8" name="TextBox 7"/>
          <p:cNvSpPr txBox="1"/>
          <p:nvPr/>
        </p:nvSpPr>
        <p:spPr>
          <a:xfrm>
            <a:off x="457200" y="6355080"/>
            <a:ext cx="11247120" cy="274320"/>
          </a:xfrm>
          <a:prstGeom prst="rect">
            <a:avLst/>
          </a:prstGeom>
          <a:noFill/>
        </p:spPr>
        <p:txBody>
          <a:bodyPr wrap="square" lIns="0" tIns="0" rIns="0" bIns="0" anchor="t">
            <a:spAutoFit/>
          </a:bodyPr>
          <a:lstStyle/>
          <a:p>
            <a:pPr algn="ctr"/>
            <a:r>
              <a:rPr sz="650" b="0" i="0">
                <a:solidFill>
                  <a:srgbClr val="808080"/>
                </a:solidFill>
                <a:latin typeface="Archivo"/>
              </a:rPr>
              <a:t>THIS PRESENTATION IS CONFIDENTIAL AND PROPRIETARY. IT IS NOT AN OFFER AND IS PROVIDED FOR INFORMATIONAL PURPOSES ONLY. IT DOES NOT CONSTITUTE LEGAL OR FINANCIAL ADVICE AND SHOULD NOT BE RELIED UPON AS SUCH.</a:t>
            </a:r>
          </a:p>
        </p:txBody>
      </p:sp>
      <p:sp>
        <p:nvSpPr>
          <p:cNvPr id="9" name="TextBox 8"/>
          <p:cNvSpPr txBox="1"/>
          <p:nvPr/>
        </p:nvSpPr>
        <p:spPr>
          <a:xfrm>
            <a:off x="10820095" y="6583680"/>
            <a:ext cx="914400" cy="182880"/>
          </a:xfrm>
          <a:prstGeom prst="rect">
            <a:avLst/>
          </a:prstGeom>
          <a:noFill/>
        </p:spPr>
        <p:txBody>
          <a:bodyPr wrap="square" lIns="0" tIns="0" rIns="0" bIns="0" anchor="t">
            <a:spAutoFit/>
          </a:bodyPr>
          <a:lstStyle/>
          <a:p>
            <a:pPr algn="r"/>
            <a:r>
              <a:rPr sz="800" b="1" i="0" spc="120">
                <a:solidFill>
                  <a:srgbClr val="808080"/>
                </a:solidFill>
                <a:latin typeface="Archivo"/>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9227</TotalTime>
  <Words>2505</Words>
  <Application>Microsoft Macintosh PowerPoint</Application>
  <PresentationFormat>Widescreen</PresentationFormat>
  <Paragraphs>384</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Archivo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Andrew Glantz</cp:lastModifiedBy>
  <cp:revision>3</cp:revision>
  <dcterms:created xsi:type="dcterms:W3CDTF">2013-01-27T09:14:16Z</dcterms:created>
  <dcterms:modified xsi:type="dcterms:W3CDTF">2026-05-27T01:10:33Z</dcterms:modified>
  <cp:category/>
</cp:coreProperties>
</file>